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2286000"/>
            <a:ext cx="10972800" cy="1188720"/>
          </a:xfrm>
          <a:prstGeom prst="rect">
            <a:avLst/>
          </a:prstGeom>
          <a:noFill/>
        </p:spPr>
        <p:txBody>
          <a:bodyPr wrap="square" lIns="0" rIns="0" tIns="0" bIns="0">
            <a:spAutoFit/>
          </a:bodyPr>
          <a:lstStyle/>
          <a:p>
            <a:pPr>
              <a:lnSpc>
                <a:spcPct val="122000"/>
              </a:lnSpc>
              <a:spcBef>
                <a:spcPts val="0"/>
              </a:spcBef>
              <a:spcAft>
                <a:spcPts val="0"/>
              </a:spcAft>
            </a:pPr>
            <a:r>
              <a:rPr sz="5800" b="0" i="0">
                <a:solidFill>
                  <a:srgbClr val="102730"/>
                </a:solidFill>
                <a:latin typeface="Segoe UI"/>
              </a:rPr>
              <a:t>Strategy &amp; Roadmap</a:t>
            </a:r>
          </a:p>
        </p:txBody>
      </p:sp>
      <p:sp>
        <p:nvSpPr>
          <p:cNvPr id="5" name="TextBox 4"/>
          <p:cNvSpPr txBox="1"/>
          <p:nvPr/>
        </p:nvSpPr>
        <p:spPr>
          <a:xfrm>
            <a:off x="566928" y="3611880"/>
            <a:ext cx="10972800" cy="1005840"/>
          </a:xfrm>
          <a:prstGeom prst="rect">
            <a:avLst/>
          </a:prstGeom>
          <a:noFill/>
        </p:spPr>
        <p:txBody>
          <a:bodyPr wrap="square" lIns="0" rIns="0" tIns="0" bIns="0">
            <a:spAutoFit/>
          </a:bodyPr>
          <a:lstStyle/>
          <a:p>
            <a:pPr>
              <a:lnSpc>
                <a:spcPct val="122000"/>
              </a:lnSpc>
              <a:spcBef>
                <a:spcPts val="0"/>
              </a:spcBef>
              <a:spcAft>
                <a:spcPts val="400"/>
              </a:spcAft>
            </a:pPr>
            <a:r>
              <a:rPr sz="2400" b="1" i="0">
                <a:solidFill>
                  <a:srgbClr val="0A6B50"/>
                </a:solidFill>
                <a:latin typeface="Segoe UI"/>
              </a:rPr>
              <a:t>CASPAA School Operating System</a:t>
            </a:r>
          </a:p>
          <a:p>
            <a:pPr>
              <a:lnSpc>
                <a:spcPct val="122000"/>
              </a:lnSpc>
              <a:spcBef>
                <a:spcPts val="0"/>
              </a:spcBef>
              <a:spcAft>
                <a:spcPts val="500"/>
              </a:spcAft>
            </a:pPr>
            <a:r>
              <a:rPr sz="2200" b="0" i="0">
                <a:solidFill>
                  <a:srgbClr val="4F6167"/>
                </a:solidFill>
                <a:latin typeface="Segoe UI"/>
              </a:rPr>
              <a:t>Built new in eight weeks. What a school runs on first, then the apps.</a:t>
            </a:r>
          </a:p>
        </p:txBody>
      </p:sp>
      <p:sp>
        <p:nvSpPr>
          <p:cNvPr id="6" name="TextBox 5"/>
          <p:cNvSpPr txBox="1"/>
          <p:nvPr/>
        </p:nvSpPr>
        <p:spPr>
          <a:xfrm>
            <a:off x="566928" y="4983480"/>
            <a:ext cx="10972800" cy="457200"/>
          </a:xfrm>
          <a:prstGeom prst="rect">
            <a:avLst/>
          </a:prstGeom>
          <a:noFill/>
        </p:spPr>
        <p:txBody>
          <a:bodyPr wrap="square" lIns="0" rIns="0" tIns="0" bIns="0">
            <a:spAutoFit/>
          </a:bodyPr>
          <a:lstStyle/>
          <a:p>
            <a:pPr>
              <a:lnSpc>
                <a:spcPct val="122000"/>
              </a:lnSpc>
              <a:spcBef>
                <a:spcPts val="0"/>
              </a:spcBef>
              <a:spcAft>
                <a:spcPts val="500"/>
              </a:spcAft>
            </a:pPr>
            <a:r>
              <a:rPr sz="1400" b="0" i="1">
                <a:solidFill>
                  <a:srgbClr val="4F6167"/>
                </a:solidFill>
                <a:latin typeface="Segoe UI"/>
              </a:rPr>
              <a:t>3 August to 25 September 2026   ·   Owner: Product   ·   Draft for stakeholder review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457200"/>
            <a:ext cx="8503920" cy="731520"/>
          </a:xfrm>
          <a:prstGeom prst="rect">
            <a:avLst/>
          </a:prstGeom>
          <a:noFill/>
        </p:spPr>
        <p:txBody>
          <a:bodyPr wrap="square" lIns="0" rIns="0" tIns="0" bIns="0">
            <a:spAutoFit/>
          </a:bodyPr>
          <a:lstStyle/>
          <a:p>
            <a:pPr>
              <a:lnSpc>
                <a:spcPct val="122000"/>
              </a:lnSpc>
              <a:spcBef>
                <a:spcPts val="0"/>
              </a:spcBef>
              <a:spcAft>
                <a:spcPts val="0"/>
              </a:spcAft>
            </a:pPr>
            <a:r>
              <a:rPr sz="3600" b="0" i="0">
                <a:solidFill>
                  <a:srgbClr val="102730"/>
                </a:solidFill>
                <a:latin typeface="Segoe UI"/>
              </a:rPr>
              <a:t>Vision</a:t>
            </a:r>
          </a:p>
        </p:txBody>
      </p:sp>
      <p:sp>
        <p:nvSpPr>
          <p:cNvPr id="5" name="TextBox 4"/>
          <p:cNvSpPr txBox="1"/>
          <p:nvPr/>
        </p:nvSpPr>
        <p:spPr>
          <a:xfrm>
            <a:off x="566928" y="1275172"/>
            <a:ext cx="9509760" cy="731520"/>
          </a:xfrm>
          <a:prstGeom prst="rect">
            <a:avLst/>
          </a:prstGeom>
          <a:noFill/>
        </p:spPr>
        <p:txBody>
          <a:bodyPr wrap="square" lIns="0" rIns="0" tIns="0" bIns="0">
            <a:spAutoFit/>
          </a:bodyPr>
          <a:lstStyle/>
          <a:p>
            <a:pPr>
              <a:lnSpc>
                <a:spcPct val="125000"/>
              </a:lnSpc>
              <a:spcBef>
                <a:spcPts val="0"/>
              </a:spcBef>
              <a:spcAft>
                <a:spcPts val="500"/>
              </a:spcAft>
            </a:pPr>
            <a:r>
              <a:rPr sz="1500" b="0" i="1">
                <a:solidFill>
                  <a:srgbClr val="4F6167"/>
                </a:solidFill>
                <a:latin typeface="Segoe UI"/>
              </a:rPr>
              <a:t>Where this ends up if the strategy works.</a:t>
            </a:r>
          </a:p>
        </p:txBody>
      </p:sp>
      <p:sp>
        <p:nvSpPr>
          <p:cNvPr id="6" name="Rectangle 5"/>
          <p:cNvSpPr/>
          <p:nvPr/>
        </p:nvSpPr>
        <p:spPr>
          <a:xfrm>
            <a:off x="566928" y="2079844"/>
            <a:ext cx="11057839" cy="1188720"/>
          </a:xfrm>
          <a:prstGeom prst="rect">
            <a:avLst/>
          </a:prstGeom>
          <a:solidFill>
            <a:srgbClr val="ED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18000"/>
              </a:lnSpc>
              <a:spcBef>
                <a:spcPts val="0"/>
              </a:spcBef>
              <a:spcAft>
                <a:spcPts val="500"/>
              </a:spcAft>
            </a:pPr>
            <a:r>
              <a:rPr sz="2200" b="1" i="0">
                <a:solidFill>
                  <a:srgbClr val="102730"/>
                </a:solidFill>
                <a:latin typeface="Segoe UI"/>
              </a:rPr>
              <a:t>A school runs its whole day on CASPAA and nobody in the building keeps a parallel paper record. That is the test.</a:t>
            </a:r>
          </a:p>
        </p:txBody>
      </p:sp>
      <p:sp>
        <p:nvSpPr>
          <p:cNvPr id="7" name="Rectangle 6"/>
          <p:cNvSpPr/>
          <p:nvPr/>
        </p:nvSpPr>
        <p:spPr>
          <a:xfrm>
            <a:off x="566928" y="3524596"/>
            <a:ext cx="3533546" cy="2103120"/>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800"/>
              </a:spcAft>
            </a:pPr>
            <a:r>
              <a:rPr sz="1700" b="1" i="0">
                <a:solidFill>
                  <a:srgbClr val="0A6B50"/>
                </a:solidFill>
                <a:latin typeface="Segoe UI"/>
              </a:rPr>
              <a:t>The school</a:t>
            </a:r>
          </a:p>
          <a:p>
            <a:pPr>
              <a:lnSpc>
                <a:spcPct val="128000"/>
              </a:lnSpc>
              <a:spcBef>
                <a:spcPts val="0"/>
              </a:spcBef>
              <a:spcAft>
                <a:spcPts val="500"/>
              </a:spcAft>
            </a:pPr>
            <a:r>
              <a:rPr sz="1400" b="0" i="0">
                <a:solidFill>
                  <a:srgbClr val="28383E"/>
                </a:solidFill>
                <a:latin typeface="Segoe UI"/>
              </a:rPr>
              <a:t>Enrolment, the register, results and fees in one place. The bursar stops reconciling by hand. The head sees the collection rate without having to ask for it.</a:t>
            </a:r>
          </a:p>
        </p:txBody>
      </p:sp>
      <p:sp>
        <p:nvSpPr>
          <p:cNvPr id="8" name="Rectangle 7"/>
          <p:cNvSpPr/>
          <p:nvPr/>
        </p:nvSpPr>
        <p:spPr>
          <a:xfrm>
            <a:off x="4329074" y="3524596"/>
            <a:ext cx="3533546" cy="2103120"/>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800"/>
              </a:spcAft>
            </a:pPr>
            <a:r>
              <a:rPr sz="1700" b="1" i="0">
                <a:solidFill>
                  <a:srgbClr val="0A6B50"/>
                </a:solidFill>
                <a:latin typeface="Segoe UI"/>
              </a:rPr>
              <a:t>The parent</a:t>
            </a:r>
          </a:p>
          <a:p>
            <a:pPr>
              <a:lnSpc>
                <a:spcPct val="128000"/>
              </a:lnSpc>
              <a:spcBef>
                <a:spcPts val="0"/>
              </a:spcBef>
              <a:spcAft>
                <a:spcPts val="500"/>
              </a:spcAft>
            </a:pPr>
            <a:r>
              <a:rPr sz="1400" b="0" i="0">
                <a:solidFill>
                  <a:srgbClr val="28383E"/>
                </a:solidFill>
                <a:latin typeface="Segoe UI"/>
              </a:rPr>
              <a:t>An icon on the phone that answers both questions: what do I owe, and how is my child doing. Statement, receipt, report card, and a way to reach the teacher.</a:t>
            </a:r>
          </a:p>
        </p:txBody>
      </p:sp>
      <p:sp>
        <p:nvSpPr>
          <p:cNvPr id="9" name="Rectangle 8"/>
          <p:cNvSpPr/>
          <p:nvPr/>
        </p:nvSpPr>
        <p:spPr>
          <a:xfrm>
            <a:off x="8091220" y="3524596"/>
            <a:ext cx="3533546" cy="2103120"/>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800"/>
              </a:spcAft>
            </a:pPr>
            <a:r>
              <a:rPr sz="1700" b="1" i="0">
                <a:solidFill>
                  <a:srgbClr val="0A6B50"/>
                </a:solidFill>
                <a:latin typeface="Segoe UI"/>
              </a:rPr>
              <a:t>CASPAA</a:t>
            </a:r>
          </a:p>
          <a:p>
            <a:pPr>
              <a:lnSpc>
                <a:spcPct val="128000"/>
              </a:lnSpc>
              <a:spcBef>
                <a:spcPts val="0"/>
              </a:spcBef>
              <a:spcAft>
                <a:spcPts val="500"/>
              </a:spcAft>
            </a:pPr>
            <a:r>
              <a:rPr sz="1400" b="0" i="0">
                <a:solidFill>
                  <a:srgbClr val="28383E"/>
                </a:solidFill>
                <a:latin typeface="Segoe UI"/>
              </a:rPr>
              <a:t>A vertical operating system rather than a module vendor. Priced per student, so revenue grows with the schools we serve and not only with the number we sign.</a:t>
            </a:r>
          </a:p>
        </p:txBody>
      </p:sp>
      <p:sp>
        <p:nvSpPr>
          <p:cNvPr id="10" name="TextBox 9"/>
          <p:cNvSpPr txBox="1"/>
          <p:nvPr/>
        </p:nvSpPr>
        <p:spPr>
          <a:xfrm>
            <a:off x="566928" y="5856316"/>
            <a:ext cx="11057839" cy="457200"/>
          </a:xfrm>
          <a:prstGeom prst="rect">
            <a:avLst/>
          </a:prstGeom>
          <a:noFill/>
        </p:spPr>
        <p:txBody>
          <a:bodyPr wrap="square" lIns="0" rIns="0" tIns="0" bIns="0">
            <a:spAutoFit/>
          </a:bodyPr>
          <a:lstStyle/>
          <a:p>
            <a:pPr>
              <a:lnSpc>
                <a:spcPct val="122000"/>
              </a:lnSpc>
              <a:spcBef>
                <a:spcPts val="0"/>
              </a:spcBef>
              <a:spcAft>
                <a:spcPts val="500"/>
              </a:spcAft>
            </a:pPr>
            <a:r>
              <a:rPr sz="1400" b="1" i="0">
                <a:solidFill>
                  <a:srgbClr val="102730"/>
                </a:solidFill>
                <a:latin typeface="Segoe UI"/>
              </a:rPr>
              <a:t>Eight weeks gets us the first two steps. </a:t>
            </a:r>
            <a:r>
              <a:rPr sz="1400" b="0" i="0">
                <a:solidFill>
                  <a:srgbClr val="28383E"/>
                </a:solidFill>
                <a:latin typeface="Segoe UI"/>
              </a:rPr>
              <a:t>A school running a full term on the system, and apps in the hands of the parents, teachers and students who are never at a desk.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457200"/>
            <a:ext cx="8503920" cy="731520"/>
          </a:xfrm>
          <a:prstGeom prst="rect">
            <a:avLst/>
          </a:prstGeom>
          <a:noFill/>
        </p:spPr>
        <p:txBody>
          <a:bodyPr wrap="square" lIns="0" rIns="0" tIns="0" bIns="0">
            <a:spAutoFit/>
          </a:bodyPr>
          <a:lstStyle/>
          <a:p>
            <a:pPr>
              <a:lnSpc>
                <a:spcPct val="122000"/>
              </a:lnSpc>
              <a:spcBef>
                <a:spcPts val="0"/>
              </a:spcBef>
              <a:spcAft>
                <a:spcPts val="0"/>
              </a:spcAft>
            </a:pPr>
            <a:r>
              <a:rPr sz="3600" b="0" i="0">
                <a:solidFill>
                  <a:srgbClr val="102730"/>
                </a:solidFill>
                <a:latin typeface="Segoe UI"/>
              </a:rPr>
              <a:t>Strategy</a:t>
            </a:r>
          </a:p>
        </p:txBody>
      </p:sp>
      <p:sp>
        <p:nvSpPr>
          <p:cNvPr id="5" name="TextBox 4"/>
          <p:cNvSpPr txBox="1"/>
          <p:nvPr/>
        </p:nvSpPr>
        <p:spPr>
          <a:xfrm>
            <a:off x="566928" y="1275172"/>
            <a:ext cx="9509760" cy="731520"/>
          </a:xfrm>
          <a:prstGeom prst="rect">
            <a:avLst/>
          </a:prstGeom>
          <a:noFill/>
        </p:spPr>
        <p:txBody>
          <a:bodyPr wrap="square" lIns="0" rIns="0" tIns="0" bIns="0">
            <a:spAutoFit/>
          </a:bodyPr>
          <a:lstStyle/>
          <a:p>
            <a:pPr>
              <a:lnSpc>
                <a:spcPct val="125000"/>
              </a:lnSpc>
              <a:spcBef>
                <a:spcPts val="0"/>
              </a:spcBef>
              <a:spcAft>
                <a:spcPts val="500"/>
              </a:spcAft>
            </a:pPr>
            <a:r>
              <a:rPr sz="1500" b="0" i="1">
                <a:solidFill>
                  <a:srgbClr val="4F6167"/>
                </a:solidFill>
                <a:latin typeface="Segoe UI"/>
              </a:rPr>
              <a:t>Data, insights, beliefs, bets. This slide covers Data and Insights.</a:t>
            </a:r>
          </a:p>
        </p:txBody>
      </p:sp>
      <p:sp>
        <p:nvSpPr>
          <p:cNvPr id="6" name="Rectangle 5"/>
          <p:cNvSpPr/>
          <p:nvPr/>
        </p:nvSpPr>
        <p:spPr>
          <a:xfrm>
            <a:off x="566928" y="2079844"/>
            <a:ext cx="5346039" cy="4069080"/>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200"/>
              </a:spcAft>
            </a:pPr>
            <a:r>
              <a:rPr sz="2200" b="1" i="0">
                <a:solidFill>
                  <a:srgbClr val="10333F"/>
                </a:solidFill>
                <a:latin typeface="Segoe UI"/>
              </a:rPr>
              <a:t>Data</a:t>
            </a:r>
          </a:p>
          <a:p>
            <a:pPr>
              <a:lnSpc>
                <a:spcPct val="122000"/>
              </a:lnSpc>
              <a:spcBef>
                <a:spcPts val="0"/>
              </a:spcBef>
              <a:spcAft>
                <a:spcPts val="1200"/>
              </a:spcAft>
            </a:pPr>
            <a:r>
              <a:rPr sz="1250" b="0" i="1">
                <a:solidFill>
                  <a:srgbClr val="4F6167"/>
                </a:solidFill>
                <a:latin typeface="Segoe UI"/>
              </a:rPr>
              <a:t>What we know</a:t>
            </a:r>
          </a:p>
          <a:p>
            <a:pPr>
              <a:lnSpc>
                <a:spcPct val="125000"/>
              </a:lnSpc>
              <a:spcBef>
                <a:spcPts val="0"/>
              </a:spcBef>
              <a:spcAft>
                <a:spcPts val="900"/>
              </a:spcAft>
            </a:pPr>
            <a:r>
              <a:rPr sz="1400" b="0" i="0">
                <a:solidFill>
                  <a:srgbClr val="28383E"/>
                </a:solidFill>
                <a:latin typeface="Segoe UI"/>
              </a:rPr>
              <a:t/>
            </a:r>
            <a:r>
              <a:rPr sz="1350" b="1" i="0">
                <a:solidFill>
                  <a:srgbClr val="0E9E76"/>
                </a:solidFill>
                <a:latin typeface="Segoe UI"/>
              </a:rPr>
              <a:t>·   </a:t>
            </a:r>
            <a:r>
              <a:rPr sz="1350" b="0" i="0">
                <a:solidFill>
                  <a:srgbClr val="28383E"/>
                </a:solidFill>
                <a:latin typeface="Segoe UI"/>
              </a:rPr>
              <a:t>Schools run the day on paper registers, spreadsheets and WhatsApp. Who has paid and who owes is a question with no fast answer.</a:t>
            </a:r>
          </a:p>
          <a:p>
            <a:pPr>
              <a:lnSpc>
                <a:spcPct val="125000"/>
              </a:lnSpc>
              <a:spcBef>
                <a:spcPts val="0"/>
              </a:spcBef>
              <a:spcAft>
                <a:spcPts val="900"/>
              </a:spcAft>
            </a:pPr>
            <a:r>
              <a:rPr sz="1400" b="0" i="0">
                <a:solidFill>
                  <a:srgbClr val="28383E"/>
                </a:solidFill>
                <a:latin typeface="Segoe UI"/>
              </a:rPr>
              <a:t/>
            </a:r>
            <a:r>
              <a:rPr sz="1350" b="1" i="0">
                <a:solidFill>
                  <a:srgbClr val="0E9E76"/>
                </a:solidFill>
                <a:latin typeface="Segoe UI"/>
              </a:rPr>
              <a:t>·   </a:t>
            </a:r>
            <a:r>
              <a:rPr sz="1350" b="0" i="0">
                <a:solidFill>
                  <a:srgbClr val="28383E"/>
                </a:solidFill>
                <a:latin typeface="Segoe UI"/>
              </a:rPr>
              <a:t>Attendance, results and report cards are computed by hand, and the errors surface a term later in front of parents.</a:t>
            </a:r>
          </a:p>
          <a:p>
            <a:pPr>
              <a:lnSpc>
                <a:spcPct val="125000"/>
              </a:lnSpc>
              <a:spcBef>
                <a:spcPts val="0"/>
              </a:spcBef>
              <a:spcAft>
                <a:spcPts val="900"/>
              </a:spcAft>
            </a:pPr>
            <a:r>
              <a:rPr sz="1400" b="0" i="0">
                <a:solidFill>
                  <a:srgbClr val="28383E"/>
                </a:solidFill>
                <a:latin typeface="Segoe UI"/>
              </a:rPr>
              <a:t/>
            </a:r>
            <a:r>
              <a:rPr sz="1350" b="1" i="0">
                <a:solidFill>
                  <a:srgbClr val="0E9E76"/>
                </a:solidFill>
                <a:latin typeface="Segoe UI"/>
              </a:rPr>
              <a:t>·   </a:t>
            </a:r>
            <a:r>
              <a:rPr sz="1350" b="0" i="0">
                <a:solidFill>
                  <a:srgbClr val="28383E"/>
                </a:solidFill>
                <a:latin typeface="Segoe UI"/>
              </a:rPr>
              <a:t>The incumbent is spreadsheets and WhatsApp, not a rival product. Free, fragmented, no audit trail.</a:t>
            </a:r>
          </a:p>
          <a:p>
            <a:pPr>
              <a:lnSpc>
                <a:spcPct val="125000"/>
              </a:lnSpc>
              <a:spcBef>
                <a:spcPts val="0"/>
              </a:spcBef>
              <a:spcAft>
                <a:spcPts val="900"/>
              </a:spcAft>
            </a:pPr>
            <a:r>
              <a:rPr sz="1400" b="0" i="0">
                <a:solidFill>
                  <a:srgbClr val="28383E"/>
                </a:solidFill>
                <a:latin typeface="Segoe UI"/>
              </a:rPr>
              <a:t/>
            </a:r>
            <a:r>
              <a:rPr sz="1350" b="1" i="0">
                <a:solidFill>
                  <a:srgbClr val="0E9E76"/>
                </a:solidFill>
                <a:latin typeface="Segoe UI"/>
              </a:rPr>
              <a:t>·   </a:t>
            </a:r>
            <a:r>
              <a:rPr sz="1350" b="0" i="0">
                <a:solidFill>
                  <a:srgbClr val="28383E"/>
                </a:solidFill>
                <a:latin typeface="Segoe UI"/>
              </a:rPr>
              <a:t>Connections drop in most of the buildings we sell into. Cloud-only tools stop at the door.</a:t>
            </a:r>
          </a:p>
          <a:p>
            <a:pPr>
              <a:lnSpc>
                <a:spcPct val="125000"/>
              </a:lnSpc>
              <a:spcBef>
                <a:spcPts val="0"/>
              </a:spcBef>
              <a:spcAft>
                <a:spcPts val="900"/>
              </a:spcAft>
            </a:pPr>
            <a:r>
              <a:rPr sz="1400" b="0" i="0">
                <a:solidFill>
                  <a:srgbClr val="28383E"/>
                </a:solidFill>
                <a:latin typeface="Segoe UI"/>
              </a:rPr>
              <a:t/>
            </a:r>
            <a:r>
              <a:rPr sz="1350" b="1" i="0">
                <a:solidFill>
                  <a:srgbClr val="0E9E76"/>
                </a:solidFill>
                <a:latin typeface="Segoe UI"/>
              </a:rPr>
              <a:t>·   </a:t>
            </a:r>
            <a:r>
              <a:rPr sz="1350" b="0" i="0">
                <a:solidFill>
                  <a:srgbClr val="28383E"/>
                </a:solidFill>
                <a:latin typeface="Segoe UI"/>
              </a:rPr>
              <a:t>Tens of thousands of Nigerian private schools are digitising for the first time.</a:t>
            </a:r>
          </a:p>
        </p:txBody>
      </p:sp>
      <p:sp>
        <p:nvSpPr>
          <p:cNvPr id="7" name="Rectangle 6"/>
          <p:cNvSpPr/>
          <p:nvPr/>
        </p:nvSpPr>
        <p:spPr>
          <a:xfrm>
            <a:off x="6278727" y="2079844"/>
            <a:ext cx="5346039" cy="4069080"/>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200"/>
              </a:spcAft>
            </a:pPr>
            <a:r>
              <a:rPr sz="2200" b="1" i="0">
                <a:solidFill>
                  <a:srgbClr val="0E9E76"/>
                </a:solidFill>
                <a:latin typeface="Segoe UI"/>
              </a:rPr>
              <a:t>Insights</a:t>
            </a:r>
          </a:p>
          <a:p>
            <a:pPr>
              <a:lnSpc>
                <a:spcPct val="122000"/>
              </a:lnSpc>
              <a:spcBef>
                <a:spcPts val="0"/>
              </a:spcBef>
              <a:spcAft>
                <a:spcPts val="1200"/>
              </a:spcAft>
            </a:pPr>
            <a:r>
              <a:rPr sz="1250" b="0" i="1">
                <a:solidFill>
                  <a:srgbClr val="4F6167"/>
                </a:solidFill>
                <a:latin typeface="Segoe UI"/>
              </a:rPr>
              <a:t>What we learned</a:t>
            </a:r>
          </a:p>
          <a:p>
            <a:pPr>
              <a:lnSpc>
                <a:spcPct val="125000"/>
              </a:lnSpc>
              <a:spcBef>
                <a:spcPts val="0"/>
              </a:spcBef>
              <a:spcAft>
                <a:spcPts val="900"/>
              </a:spcAft>
            </a:pPr>
            <a:r>
              <a:rPr sz="1400" b="0" i="0">
                <a:solidFill>
                  <a:srgbClr val="28383E"/>
                </a:solidFill>
                <a:latin typeface="Segoe UI"/>
              </a:rPr>
              <a:t/>
            </a:r>
            <a:r>
              <a:rPr sz="1350" b="1" i="0">
                <a:solidFill>
                  <a:srgbClr val="0E9E76"/>
                </a:solidFill>
                <a:latin typeface="Segoe UI"/>
              </a:rPr>
              <a:t>·   </a:t>
            </a:r>
            <a:r>
              <a:rPr sz="1350" b="0" i="0">
                <a:solidFill>
                  <a:srgbClr val="28383E"/>
                </a:solidFill>
                <a:latin typeface="Segoe UI"/>
              </a:rPr>
              <a:t>Schools are not short of records. They are short of the operating loop that produces those records without hand-work. Managing records and running a school are different products.</a:t>
            </a:r>
          </a:p>
          <a:p>
            <a:pPr>
              <a:lnSpc>
                <a:spcPct val="125000"/>
              </a:lnSpc>
              <a:spcBef>
                <a:spcPts val="0"/>
              </a:spcBef>
              <a:spcAft>
                <a:spcPts val="900"/>
              </a:spcAft>
            </a:pPr>
            <a:r>
              <a:rPr sz="1400" b="0" i="0">
                <a:solidFill>
                  <a:srgbClr val="28383E"/>
                </a:solidFill>
                <a:latin typeface="Segoe UI"/>
              </a:rPr>
              <a:t/>
            </a:r>
            <a:r>
              <a:rPr sz="1350" b="1" i="0">
                <a:solidFill>
                  <a:srgbClr val="0E9E76"/>
                </a:solidFill>
                <a:latin typeface="Segoe UI"/>
              </a:rPr>
              <a:t>·   </a:t>
            </a:r>
            <a:r>
              <a:rPr sz="1350" b="0" i="0">
                <a:solidFill>
                  <a:srgbClr val="28383E"/>
                </a:solidFill>
                <a:latin typeface="Segoe UI"/>
              </a:rPr>
              <a:t>Fees is the problem a proprietor will pay to solve this term. Everything else we sell is bought on the back of it.</a:t>
            </a:r>
          </a:p>
          <a:p>
            <a:pPr>
              <a:lnSpc>
                <a:spcPct val="125000"/>
              </a:lnSpc>
              <a:spcBef>
                <a:spcPts val="0"/>
              </a:spcBef>
              <a:spcAft>
                <a:spcPts val="900"/>
              </a:spcAft>
            </a:pPr>
            <a:r>
              <a:rPr sz="1400" b="0" i="0">
                <a:solidFill>
                  <a:srgbClr val="28383E"/>
                </a:solidFill>
                <a:latin typeface="Segoe UI"/>
              </a:rPr>
              <a:t/>
            </a:r>
            <a:r>
              <a:rPr sz="1350" b="1" i="0">
                <a:solidFill>
                  <a:srgbClr val="0E9E76"/>
                </a:solidFill>
                <a:latin typeface="Segoe UI"/>
              </a:rPr>
              <a:t>·   </a:t>
            </a:r>
            <a:r>
              <a:rPr sz="1350" b="0" i="0">
                <a:solidFill>
                  <a:srgbClr val="28383E"/>
                </a:solidFill>
                <a:latin typeface="Segoe UI"/>
              </a:rPr>
              <a:t>Parents and students live on a phone; office staff live at a desk. One product shaped for both surfaces means the phone loses.</a:t>
            </a:r>
          </a:p>
          <a:p>
            <a:pPr>
              <a:lnSpc>
                <a:spcPct val="125000"/>
              </a:lnSpc>
              <a:spcBef>
                <a:spcPts val="0"/>
              </a:spcBef>
              <a:spcAft>
                <a:spcPts val="900"/>
              </a:spcAft>
            </a:pPr>
            <a:r>
              <a:rPr sz="1400" b="0" i="0">
                <a:solidFill>
                  <a:srgbClr val="28383E"/>
                </a:solidFill>
                <a:latin typeface="Segoe UI"/>
              </a:rPr>
              <a:t/>
            </a:r>
            <a:r>
              <a:rPr sz="1350" b="1" i="0">
                <a:solidFill>
                  <a:srgbClr val="0E9E76"/>
                </a:solidFill>
                <a:latin typeface="Segoe UI"/>
              </a:rPr>
              <a:t>·   </a:t>
            </a:r>
            <a:r>
              <a:rPr sz="1350" b="0" i="0">
                <a:solidFill>
                  <a:srgbClr val="28383E"/>
                </a:solidFill>
                <a:latin typeface="Segoe UI"/>
              </a:rPr>
              <a:t>Offline is a condition of the building, not a feature of the software.</a:t>
            </a:r>
          </a:p>
        </p:txBody>
      </p:sp>
      <p:sp>
        <p:nvSpPr>
          <p:cNvPr id="8" name="TextBox 7"/>
          <p:cNvSpPr txBox="1"/>
          <p:nvPr/>
        </p:nvSpPr>
        <p:spPr>
          <a:xfrm>
            <a:off x="8698687" y="6355080"/>
            <a:ext cx="2926080" cy="310896"/>
          </a:xfrm>
          <a:prstGeom prst="rect">
            <a:avLst/>
          </a:prstGeom>
          <a:noFill/>
        </p:spPr>
        <p:txBody>
          <a:bodyPr wrap="square" lIns="0" rIns="0" tIns="0" bIns="0">
            <a:spAutoFit/>
          </a:bodyPr>
          <a:lstStyle/>
          <a:p>
            <a:pPr algn="r">
              <a:lnSpc>
                <a:spcPct val="122000"/>
              </a:lnSpc>
              <a:spcBef>
                <a:spcPts val="0"/>
              </a:spcBef>
              <a:spcAft>
                <a:spcPts val="500"/>
              </a:spcAft>
            </a:pPr>
            <a:r>
              <a:rPr sz="1050" b="1" i="0">
                <a:solidFill>
                  <a:srgbClr val="4F6167"/>
                </a:solidFill>
                <a:latin typeface="Segoe UI"/>
              </a:rPr>
              <a:t>Strategy  1 of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457200"/>
            <a:ext cx="8503920" cy="731520"/>
          </a:xfrm>
          <a:prstGeom prst="rect">
            <a:avLst/>
          </a:prstGeom>
          <a:noFill/>
        </p:spPr>
        <p:txBody>
          <a:bodyPr wrap="square" lIns="0" rIns="0" tIns="0" bIns="0">
            <a:spAutoFit/>
          </a:bodyPr>
          <a:lstStyle/>
          <a:p>
            <a:pPr>
              <a:lnSpc>
                <a:spcPct val="122000"/>
              </a:lnSpc>
              <a:spcBef>
                <a:spcPts val="0"/>
              </a:spcBef>
              <a:spcAft>
                <a:spcPts val="0"/>
              </a:spcAft>
            </a:pPr>
            <a:r>
              <a:rPr sz="3600" b="0" i="0">
                <a:solidFill>
                  <a:srgbClr val="102730"/>
                </a:solidFill>
                <a:latin typeface="Segoe UI"/>
              </a:rPr>
              <a:t>Strategy</a:t>
            </a:r>
          </a:p>
        </p:txBody>
      </p:sp>
      <p:sp>
        <p:nvSpPr>
          <p:cNvPr id="5" name="TextBox 4"/>
          <p:cNvSpPr txBox="1"/>
          <p:nvPr/>
        </p:nvSpPr>
        <p:spPr>
          <a:xfrm>
            <a:off x="566928" y="1275172"/>
            <a:ext cx="9509760" cy="731520"/>
          </a:xfrm>
          <a:prstGeom prst="rect">
            <a:avLst/>
          </a:prstGeom>
          <a:noFill/>
        </p:spPr>
        <p:txBody>
          <a:bodyPr wrap="square" lIns="0" rIns="0" tIns="0" bIns="0">
            <a:spAutoFit/>
          </a:bodyPr>
          <a:lstStyle/>
          <a:p>
            <a:pPr>
              <a:lnSpc>
                <a:spcPct val="125000"/>
              </a:lnSpc>
              <a:spcBef>
                <a:spcPts val="0"/>
              </a:spcBef>
              <a:spcAft>
                <a:spcPts val="500"/>
              </a:spcAft>
            </a:pPr>
            <a:r>
              <a:rPr sz="1500" b="0" i="1">
                <a:solidFill>
                  <a:srgbClr val="4F6167"/>
                </a:solidFill>
                <a:latin typeface="Segoe UI"/>
              </a:rPr>
              <a:t>Data, insights, beliefs, bets. This slide covers Beliefs and Bets.</a:t>
            </a:r>
          </a:p>
        </p:txBody>
      </p:sp>
      <p:sp>
        <p:nvSpPr>
          <p:cNvPr id="6" name="Rectangle 5"/>
          <p:cNvSpPr/>
          <p:nvPr/>
        </p:nvSpPr>
        <p:spPr>
          <a:xfrm>
            <a:off x="566928" y="2079844"/>
            <a:ext cx="5346039" cy="4069080"/>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200"/>
              </a:spcAft>
            </a:pPr>
            <a:r>
              <a:rPr sz="2200" b="1" i="0">
                <a:solidFill>
                  <a:srgbClr val="C2622B"/>
                </a:solidFill>
                <a:latin typeface="Segoe UI"/>
              </a:rPr>
              <a:t>Beliefs</a:t>
            </a:r>
          </a:p>
          <a:p>
            <a:pPr>
              <a:lnSpc>
                <a:spcPct val="122000"/>
              </a:lnSpc>
              <a:spcBef>
                <a:spcPts val="0"/>
              </a:spcBef>
              <a:spcAft>
                <a:spcPts val="1200"/>
              </a:spcAft>
            </a:pPr>
            <a:r>
              <a:rPr sz="1250" b="0" i="1">
                <a:solidFill>
                  <a:srgbClr val="4F6167"/>
                </a:solidFill>
                <a:latin typeface="Segoe UI"/>
              </a:rPr>
              <a:t>What we think wins</a:t>
            </a:r>
          </a:p>
          <a:p>
            <a:pPr>
              <a:lnSpc>
                <a:spcPct val="125000"/>
              </a:lnSpc>
              <a:spcBef>
                <a:spcPts val="0"/>
              </a:spcBef>
              <a:spcAft>
                <a:spcPts val="900"/>
              </a:spcAft>
            </a:pPr>
            <a:r>
              <a:rPr sz="1400" b="0" i="0">
                <a:solidFill>
                  <a:srgbClr val="28383E"/>
                </a:solidFill>
                <a:latin typeface="Segoe UI"/>
              </a:rPr>
              <a:t/>
            </a:r>
            <a:r>
              <a:rPr sz="1350" b="1" i="0">
                <a:solidFill>
                  <a:srgbClr val="0E9E76"/>
                </a:solidFill>
                <a:latin typeface="Segoe UI"/>
              </a:rPr>
              <a:t>·   </a:t>
            </a:r>
            <a:r>
              <a:rPr sz="1350" b="0" i="0">
                <a:solidFill>
                  <a:srgbClr val="28383E"/>
                </a:solidFill>
                <a:latin typeface="Segoe UI"/>
              </a:rPr>
              <a:t>The operating week is the product: enrol, timetable, register, marks, invoice, receipt, message the parent. Everything else is an addition to it.</a:t>
            </a:r>
          </a:p>
          <a:p>
            <a:pPr>
              <a:lnSpc>
                <a:spcPct val="125000"/>
              </a:lnSpc>
              <a:spcBef>
                <a:spcPts val="0"/>
              </a:spcBef>
              <a:spcAft>
                <a:spcPts val="900"/>
              </a:spcAft>
            </a:pPr>
            <a:r>
              <a:rPr sz="1400" b="0" i="0">
                <a:solidFill>
                  <a:srgbClr val="28383E"/>
                </a:solidFill>
                <a:latin typeface="Segoe UI"/>
              </a:rPr>
              <a:t/>
            </a:r>
            <a:r>
              <a:rPr sz="1350" b="1" i="0">
                <a:solidFill>
                  <a:srgbClr val="0E9E76"/>
                </a:solidFill>
                <a:latin typeface="Segoe UI"/>
              </a:rPr>
              <a:t>·   </a:t>
            </a:r>
            <a:r>
              <a:rPr sz="1350" b="0" i="0">
                <a:solidFill>
                  <a:srgbClr val="28383E"/>
                </a:solidFill>
                <a:latin typeface="Segoe UI"/>
              </a:rPr>
              <a:t>Whoever runs a school's operating layer earns the payment flow on top of it. That order does not reverse.</a:t>
            </a:r>
          </a:p>
          <a:p>
            <a:pPr>
              <a:lnSpc>
                <a:spcPct val="125000"/>
              </a:lnSpc>
              <a:spcBef>
                <a:spcPts val="0"/>
              </a:spcBef>
              <a:spcAft>
                <a:spcPts val="900"/>
              </a:spcAft>
            </a:pPr>
            <a:r>
              <a:rPr sz="1400" b="0" i="0">
                <a:solidFill>
                  <a:srgbClr val="28383E"/>
                </a:solidFill>
                <a:latin typeface="Segoe UI"/>
              </a:rPr>
              <a:t/>
            </a:r>
            <a:r>
              <a:rPr sz="1350" b="1" i="0">
                <a:solidFill>
                  <a:srgbClr val="0E9E76"/>
                </a:solidFill>
                <a:latin typeface="Segoe UI"/>
              </a:rPr>
              <a:t>·   </a:t>
            </a:r>
            <a:r>
              <a:rPr sz="1350" b="0" i="0">
                <a:solidFill>
                  <a:srgbClr val="28383E"/>
                </a:solidFill>
                <a:latin typeface="Segoe UI"/>
              </a:rPr>
              <a:t>A school onboards once, and judges us on what it finds in that first week. Fewer modules working beats more modules partly built.</a:t>
            </a:r>
          </a:p>
          <a:p>
            <a:pPr>
              <a:lnSpc>
                <a:spcPct val="125000"/>
              </a:lnSpc>
              <a:spcBef>
                <a:spcPts val="0"/>
              </a:spcBef>
              <a:spcAft>
                <a:spcPts val="900"/>
              </a:spcAft>
            </a:pPr>
            <a:r>
              <a:rPr sz="1400" b="0" i="0">
                <a:solidFill>
                  <a:srgbClr val="28383E"/>
                </a:solidFill>
                <a:latin typeface="Segoe UI"/>
              </a:rPr>
              <a:t/>
            </a:r>
            <a:r>
              <a:rPr sz="1350" b="1" i="0">
                <a:solidFill>
                  <a:srgbClr val="0E9E76"/>
                </a:solidFill>
                <a:latin typeface="Segoe UI"/>
              </a:rPr>
              <a:t>·   </a:t>
            </a:r>
            <a:r>
              <a:rPr sz="1350" b="0" i="0">
                <a:solidFill>
                  <a:srgbClr val="28383E"/>
                </a:solidFill>
                <a:latin typeface="Segoe UI"/>
              </a:rPr>
              <a:t>Trust is built on the fee conversation. An itemised statement a parent can read does more for retention than any academic feature.</a:t>
            </a:r>
          </a:p>
        </p:txBody>
      </p:sp>
      <p:sp>
        <p:nvSpPr>
          <p:cNvPr id="7" name="Rectangle 6"/>
          <p:cNvSpPr/>
          <p:nvPr/>
        </p:nvSpPr>
        <p:spPr>
          <a:xfrm>
            <a:off x="6278727" y="2079844"/>
            <a:ext cx="5346039" cy="4069080"/>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200"/>
              </a:spcAft>
            </a:pPr>
            <a:r>
              <a:rPr sz="2200" b="1" i="0">
                <a:solidFill>
                  <a:srgbClr val="0A6B50"/>
                </a:solidFill>
                <a:latin typeface="Segoe UI"/>
              </a:rPr>
              <a:t>Bets</a:t>
            </a:r>
          </a:p>
          <a:p>
            <a:pPr>
              <a:lnSpc>
                <a:spcPct val="122000"/>
              </a:lnSpc>
              <a:spcBef>
                <a:spcPts val="0"/>
              </a:spcBef>
              <a:spcAft>
                <a:spcPts val="1200"/>
              </a:spcAft>
            </a:pPr>
            <a:r>
              <a:rPr sz="1250" b="0" i="1">
                <a:solidFill>
                  <a:srgbClr val="4F6167"/>
                </a:solidFill>
                <a:latin typeface="Segoe UI"/>
              </a:rPr>
              <a:t>What we are backing</a:t>
            </a:r>
          </a:p>
          <a:p>
            <a:pPr>
              <a:lnSpc>
                <a:spcPct val="125000"/>
              </a:lnSpc>
              <a:spcBef>
                <a:spcPts val="0"/>
              </a:spcBef>
              <a:spcAft>
                <a:spcPts val="900"/>
              </a:spcAft>
            </a:pPr>
            <a:r>
              <a:rPr sz="1400" b="0" i="0">
                <a:solidFill>
                  <a:srgbClr val="28383E"/>
                </a:solidFill>
                <a:latin typeface="Segoe UI"/>
              </a:rPr>
              <a:t/>
            </a:r>
            <a:r>
              <a:rPr sz="1350" b="1" i="0">
                <a:solidFill>
                  <a:srgbClr val="0E9E76"/>
                </a:solidFill>
                <a:latin typeface="Segoe UI"/>
              </a:rPr>
              <a:t>·   </a:t>
            </a:r>
            <a:r>
              <a:rPr sz="1350" b="0" i="0">
                <a:solidFill>
                  <a:srgbClr val="28383E"/>
                </a:solidFill>
                <a:latin typeface="Segoe UI"/>
              </a:rPr>
              <a:t>Build new against the specification rather than growing the prototype. The prototype proved the shape of the product; it was never the foundation.</a:t>
            </a:r>
          </a:p>
          <a:p>
            <a:pPr>
              <a:lnSpc>
                <a:spcPct val="125000"/>
              </a:lnSpc>
              <a:spcBef>
                <a:spcPts val="0"/>
              </a:spcBef>
              <a:spcAft>
                <a:spcPts val="900"/>
              </a:spcAft>
            </a:pPr>
            <a:r>
              <a:rPr sz="1400" b="0" i="0">
                <a:solidFill>
                  <a:srgbClr val="28383E"/>
                </a:solidFill>
                <a:latin typeface="Segoe UI"/>
              </a:rPr>
              <a:t/>
            </a:r>
            <a:r>
              <a:rPr sz="1350" b="1" i="0">
                <a:solidFill>
                  <a:srgbClr val="0E9E76"/>
                </a:solidFill>
                <a:latin typeface="Segoe UI"/>
              </a:rPr>
              <a:t>·   </a:t>
            </a:r>
            <a:r>
              <a:rPr sz="1350" b="0" i="0">
                <a:solidFill>
                  <a:srgbClr val="28383E"/>
                </a:solidFill>
                <a:latin typeface="Segoe UI"/>
              </a:rPr>
              <a:t>Four weeks to a product a school can run a term on, then four weeks on the apps for parents, teachers and students.</a:t>
            </a:r>
          </a:p>
          <a:p>
            <a:pPr>
              <a:lnSpc>
                <a:spcPct val="125000"/>
              </a:lnSpc>
              <a:spcBef>
                <a:spcPts val="0"/>
              </a:spcBef>
              <a:spcAft>
                <a:spcPts val="900"/>
              </a:spcAft>
            </a:pPr>
            <a:r>
              <a:rPr sz="1400" b="0" i="0">
                <a:solidFill>
                  <a:srgbClr val="28383E"/>
                </a:solidFill>
                <a:latin typeface="Segoe UI"/>
              </a:rPr>
              <a:t/>
            </a:r>
            <a:r>
              <a:rPr sz="1350" b="1" i="0">
                <a:solidFill>
                  <a:srgbClr val="0E9E76"/>
                </a:solidFill>
                <a:latin typeface="Segoe UI"/>
              </a:rPr>
              <a:t>·   </a:t>
            </a:r>
            <a:r>
              <a:rPr sz="1350" b="0" i="0">
                <a:solidFill>
                  <a:srgbClr val="28383E"/>
                </a:solidFill>
                <a:latin typeface="Segoe UI"/>
              </a:rPr>
              <a:t>One app shell across the three roles, with the interface changing by role.</a:t>
            </a:r>
          </a:p>
          <a:p>
            <a:pPr>
              <a:lnSpc>
                <a:spcPct val="125000"/>
              </a:lnSpc>
              <a:spcBef>
                <a:spcPts val="0"/>
              </a:spcBef>
              <a:spcAft>
                <a:spcPts val="900"/>
              </a:spcAft>
            </a:pPr>
            <a:r>
              <a:rPr sz="1400" b="0" i="0">
                <a:solidFill>
                  <a:srgbClr val="28383E"/>
                </a:solidFill>
                <a:latin typeface="Segoe UI"/>
              </a:rPr>
              <a:t/>
            </a:r>
            <a:r>
              <a:rPr sz="1350" b="1" i="0">
                <a:solidFill>
                  <a:srgbClr val="0E9E76"/>
                </a:solidFill>
                <a:latin typeface="Segoe UI"/>
              </a:rPr>
              <a:t>·   </a:t>
            </a:r>
            <a:r>
              <a:rPr sz="1350" b="0" i="0">
                <a:solidFill>
                  <a:srgbClr val="28383E"/>
                </a:solidFill>
                <a:latin typeface="Segoe UI"/>
              </a:rPr>
              <a:t>Put it into one pilot school at week 4 and let that school's term set the order of Phase 2.</a:t>
            </a:r>
          </a:p>
        </p:txBody>
      </p:sp>
      <p:sp>
        <p:nvSpPr>
          <p:cNvPr id="8" name="TextBox 7"/>
          <p:cNvSpPr txBox="1"/>
          <p:nvPr/>
        </p:nvSpPr>
        <p:spPr>
          <a:xfrm>
            <a:off x="8698687" y="6355080"/>
            <a:ext cx="2926080" cy="310896"/>
          </a:xfrm>
          <a:prstGeom prst="rect">
            <a:avLst/>
          </a:prstGeom>
          <a:noFill/>
        </p:spPr>
        <p:txBody>
          <a:bodyPr wrap="square" lIns="0" rIns="0" tIns="0" bIns="0">
            <a:spAutoFit/>
          </a:bodyPr>
          <a:lstStyle/>
          <a:p>
            <a:pPr algn="r">
              <a:lnSpc>
                <a:spcPct val="122000"/>
              </a:lnSpc>
              <a:spcBef>
                <a:spcPts val="0"/>
              </a:spcBef>
              <a:spcAft>
                <a:spcPts val="500"/>
              </a:spcAft>
            </a:pPr>
            <a:r>
              <a:rPr sz="1050" b="1" i="0">
                <a:solidFill>
                  <a:srgbClr val="4F6167"/>
                </a:solidFill>
                <a:latin typeface="Segoe UI"/>
              </a:rPr>
              <a:t>Strategy  2 of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457200"/>
            <a:ext cx="8503920" cy="731520"/>
          </a:xfrm>
          <a:prstGeom prst="rect">
            <a:avLst/>
          </a:prstGeom>
          <a:noFill/>
        </p:spPr>
        <p:txBody>
          <a:bodyPr wrap="square" lIns="0" rIns="0" tIns="0" bIns="0">
            <a:spAutoFit/>
          </a:bodyPr>
          <a:lstStyle/>
          <a:p>
            <a:pPr>
              <a:lnSpc>
                <a:spcPct val="122000"/>
              </a:lnSpc>
              <a:spcBef>
                <a:spcPts val="0"/>
              </a:spcBef>
              <a:spcAft>
                <a:spcPts val="0"/>
              </a:spcAft>
            </a:pPr>
            <a:r>
              <a:rPr sz="3600" b="0" i="0">
                <a:solidFill>
                  <a:srgbClr val="102730"/>
                </a:solidFill>
                <a:latin typeface="Segoe UI"/>
              </a:rPr>
              <a:t>How we chose the order</a:t>
            </a:r>
          </a:p>
        </p:txBody>
      </p:sp>
      <p:sp>
        <p:nvSpPr>
          <p:cNvPr id="5" name="TextBox 4"/>
          <p:cNvSpPr txBox="1"/>
          <p:nvPr/>
        </p:nvSpPr>
        <p:spPr>
          <a:xfrm>
            <a:off x="566928" y="1275172"/>
            <a:ext cx="9509760" cy="731520"/>
          </a:xfrm>
          <a:prstGeom prst="rect">
            <a:avLst/>
          </a:prstGeom>
          <a:noFill/>
        </p:spPr>
        <p:txBody>
          <a:bodyPr wrap="square" lIns="0" rIns="0" tIns="0" bIns="0">
            <a:spAutoFit/>
          </a:bodyPr>
          <a:lstStyle/>
          <a:p>
            <a:pPr>
              <a:lnSpc>
                <a:spcPct val="125000"/>
              </a:lnSpc>
              <a:spcBef>
                <a:spcPts val="0"/>
              </a:spcBef>
              <a:spcAft>
                <a:spcPts val="500"/>
              </a:spcAft>
            </a:pPr>
            <a:r>
              <a:rPr sz="1500" b="0" i="1">
                <a:solidFill>
                  <a:srgbClr val="4F6167"/>
                </a:solidFill>
                <a:latin typeface="Segoe UI"/>
              </a:rPr>
              <a:t>One question decides Phase 1: can a school get through a full term on it?</a:t>
            </a:r>
          </a:p>
        </p:txBody>
      </p:sp>
      <p:sp>
        <p:nvSpPr>
          <p:cNvPr id="6" name="Rectangle 5"/>
          <p:cNvSpPr/>
          <p:nvPr/>
        </p:nvSpPr>
        <p:spPr>
          <a:xfrm>
            <a:off x="566928" y="2079844"/>
            <a:ext cx="11057839" cy="640080"/>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0000"/>
              </a:lnSpc>
              <a:spcBef>
                <a:spcPts val="0"/>
              </a:spcBef>
              <a:spcAft>
                <a:spcPts val="0"/>
              </a:spcAft>
            </a:pPr>
            <a:r>
              <a:rPr sz="1400" b="0" i="0">
                <a:solidFill>
                  <a:srgbClr val="28383E"/>
                </a:solidFill>
                <a:latin typeface="Segoe UI"/>
              </a:rPr>
              <a:t/>
            </a:r>
            <a:r>
              <a:rPr sz="1500" b="1" i="0">
                <a:solidFill>
                  <a:srgbClr val="0E9E76"/>
                </a:solidFill>
                <a:latin typeface="Segoe UI"/>
              </a:rPr>
              <a:t>1.   </a:t>
            </a:r>
            <a:r>
              <a:rPr sz="1500" b="1" i="0">
                <a:solidFill>
                  <a:srgbClr val="102730"/>
                </a:solidFill>
                <a:latin typeface="Segoe UI"/>
              </a:rPr>
              <a:t>If a school cannot complete a term without it, it is Phase 1.   </a:t>
            </a:r>
            <a:r>
              <a:rPr sz="1250" b="0" i="0">
                <a:solidFill>
                  <a:srgbClr val="4F6167"/>
                </a:solidFill>
                <a:latin typeface="Segoe UI"/>
              </a:rPr>
              <a:t>Enrol, timetable, register, results, report cards, invoices, payments, tell the parents.</a:t>
            </a:r>
          </a:p>
        </p:txBody>
      </p:sp>
      <p:sp>
        <p:nvSpPr>
          <p:cNvPr id="7" name="Rectangle 6"/>
          <p:cNvSpPr/>
          <p:nvPr/>
        </p:nvSpPr>
        <p:spPr>
          <a:xfrm>
            <a:off x="566928" y="2793076"/>
            <a:ext cx="11057839" cy="640080"/>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0000"/>
              </a:lnSpc>
              <a:spcBef>
                <a:spcPts val="0"/>
              </a:spcBef>
              <a:spcAft>
                <a:spcPts val="0"/>
              </a:spcAft>
            </a:pPr>
            <a:r>
              <a:rPr sz="1400" b="0" i="0">
                <a:solidFill>
                  <a:srgbClr val="28383E"/>
                </a:solidFill>
                <a:latin typeface="Segoe UI"/>
              </a:rPr>
              <a:t/>
            </a:r>
            <a:r>
              <a:rPr sz="1500" b="1" i="0">
                <a:solidFill>
                  <a:srgbClr val="0E9E76"/>
                </a:solidFill>
                <a:latin typeface="Segoe UI"/>
              </a:rPr>
              <a:t>2.   </a:t>
            </a:r>
            <a:r>
              <a:rPr sz="1500" b="1" i="0">
                <a:solidFill>
                  <a:srgbClr val="102730"/>
                </a:solidFill>
                <a:latin typeface="Segoe UI"/>
              </a:rPr>
              <a:t>Daily beats termly, and termly beats annual.   </a:t>
            </a:r>
            <a:r>
              <a:rPr sz="1250" b="0" i="0">
                <a:solidFill>
                  <a:srgbClr val="4F6167"/>
                </a:solidFill>
                <a:latin typeface="Segoe UI"/>
              </a:rPr>
              <a:t>The register runs 190 days a year. Report cards run three times. Alumni records, once.</a:t>
            </a:r>
          </a:p>
        </p:txBody>
      </p:sp>
      <p:sp>
        <p:nvSpPr>
          <p:cNvPr id="8" name="Rectangle 7"/>
          <p:cNvSpPr/>
          <p:nvPr/>
        </p:nvSpPr>
        <p:spPr>
          <a:xfrm>
            <a:off x="566928" y="3506308"/>
            <a:ext cx="11057839" cy="640080"/>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0000"/>
              </a:lnSpc>
              <a:spcBef>
                <a:spcPts val="0"/>
              </a:spcBef>
              <a:spcAft>
                <a:spcPts val="0"/>
              </a:spcAft>
            </a:pPr>
            <a:r>
              <a:rPr sz="1400" b="0" i="0">
                <a:solidFill>
                  <a:srgbClr val="28383E"/>
                </a:solidFill>
                <a:latin typeface="Segoe UI"/>
              </a:rPr>
              <a:t/>
            </a:r>
            <a:r>
              <a:rPr sz="1500" b="1" i="0">
                <a:solidFill>
                  <a:srgbClr val="0E9E76"/>
                </a:solidFill>
                <a:latin typeface="Segoe UI"/>
              </a:rPr>
              <a:t>3.   </a:t>
            </a:r>
            <a:r>
              <a:rPr sz="1500" b="1" i="0">
                <a:solidFill>
                  <a:srgbClr val="102730"/>
                </a:solidFill>
                <a:latin typeface="Segoe UI"/>
              </a:rPr>
              <a:t>Anything that blocks money coming in outranks everything except the spine.   </a:t>
            </a:r>
            <a:r>
              <a:rPr sz="1250" b="0" i="0">
                <a:solidFill>
                  <a:srgbClr val="4F6167"/>
                </a:solidFill>
                <a:latin typeface="Segoe UI"/>
              </a:rPr>
              <a:t>Invoices and reconciliation are why the proprietor signed, and how we get paid ourselves.</a:t>
            </a:r>
          </a:p>
        </p:txBody>
      </p:sp>
      <p:sp>
        <p:nvSpPr>
          <p:cNvPr id="9" name="Rectangle 8"/>
          <p:cNvSpPr/>
          <p:nvPr/>
        </p:nvSpPr>
        <p:spPr>
          <a:xfrm>
            <a:off x="566928" y="4219540"/>
            <a:ext cx="11057839" cy="640080"/>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0000"/>
              </a:lnSpc>
              <a:spcBef>
                <a:spcPts val="0"/>
              </a:spcBef>
              <a:spcAft>
                <a:spcPts val="0"/>
              </a:spcAft>
            </a:pPr>
            <a:r>
              <a:rPr sz="1400" b="0" i="0">
                <a:solidFill>
                  <a:srgbClr val="28383E"/>
                </a:solidFill>
                <a:latin typeface="Segoe UI"/>
              </a:rPr>
              <a:t/>
            </a:r>
            <a:r>
              <a:rPr sz="1500" b="1" i="0">
                <a:solidFill>
                  <a:srgbClr val="0E9E76"/>
                </a:solidFill>
                <a:latin typeface="Segoe UI"/>
              </a:rPr>
              <a:t>4.   </a:t>
            </a:r>
            <a:r>
              <a:rPr sz="1500" b="1" i="0">
                <a:solidFill>
                  <a:srgbClr val="102730"/>
                </a:solidFill>
                <a:latin typeface="Segoe UI"/>
              </a:rPr>
              <a:t>Ship what we can finish.   </a:t>
            </a:r>
            <a:r>
              <a:rPr sz="1250" b="0" i="0">
                <a:solidFill>
                  <a:srgbClr val="4F6167"/>
                </a:solidFill>
                <a:latin typeface="Segoe UI"/>
              </a:rPr>
              <a:t>Scope comes out before the date moves. A half-built module in a live school costs more than a missing one.</a:t>
            </a:r>
          </a:p>
        </p:txBody>
      </p:sp>
      <p:sp>
        <p:nvSpPr>
          <p:cNvPr id="10" name="Rectangle 9"/>
          <p:cNvSpPr/>
          <p:nvPr/>
        </p:nvSpPr>
        <p:spPr>
          <a:xfrm>
            <a:off x="566928" y="4932772"/>
            <a:ext cx="11057839" cy="640080"/>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0000"/>
              </a:lnSpc>
              <a:spcBef>
                <a:spcPts val="0"/>
              </a:spcBef>
              <a:spcAft>
                <a:spcPts val="0"/>
              </a:spcAft>
            </a:pPr>
            <a:r>
              <a:rPr sz="1400" b="0" i="0">
                <a:solidFill>
                  <a:srgbClr val="28383E"/>
                </a:solidFill>
                <a:latin typeface="Segoe UI"/>
              </a:rPr>
              <a:t/>
            </a:r>
            <a:r>
              <a:rPr sz="1500" b="1" i="0">
                <a:solidFill>
                  <a:srgbClr val="0E9E76"/>
                </a:solidFill>
                <a:latin typeface="Segoe UI"/>
              </a:rPr>
              <a:t>5.   </a:t>
            </a:r>
            <a:r>
              <a:rPr sz="1500" b="1" i="0">
                <a:solidFill>
                  <a:srgbClr val="102730"/>
                </a:solidFill>
                <a:latin typeface="Segoe UI"/>
              </a:rPr>
              <a:t>The apps ship on a real API.   </a:t>
            </a:r>
            <a:r>
              <a:rPr sz="1250" b="0" i="0">
                <a:solidFill>
                  <a:srgbClr val="4F6167"/>
                </a:solidFill>
                <a:latin typeface="Segoe UI"/>
              </a:rPr>
              <a:t>Phase 1 delivers the API the apps consume, which is what lets app work start on solid ground in week 5.</a:t>
            </a:r>
          </a:p>
        </p:txBody>
      </p:sp>
      <p:sp>
        <p:nvSpPr>
          <p:cNvPr id="11" name="Rectangle 10"/>
          <p:cNvSpPr/>
          <p:nvPr/>
        </p:nvSpPr>
        <p:spPr>
          <a:xfrm>
            <a:off x="566928" y="5682580"/>
            <a:ext cx="11057839" cy="731520"/>
          </a:xfrm>
          <a:prstGeom prst="rect">
            <a:avLst/>
          </a:prstGeom>
          <a:solidFill>
            <a:srgbClr val="ED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4000"/>
              </a:lnSpc>
              <a:spcBef>
                <a:spcPts val="0"/>
              </a:spcBef>
              <a:spcAft>
                <a:spcPts val="500"/>
              </a:spcAft>
            </a:pPr>
            <a:r>
              <a:rPr sz="1400" b="0" i="0">
                <a:solidFill>
                  <a:srgbClr val="28383E"/>
                </a:solidFill>
                <a:latin typeface="Segoe UI"/>
              </a:rPr>
              <a:t/>
            </a:r>
            <a:r>
              <a:rPr sz="1350" b="1" i="0">
                <a:solidFill>
                  <a:srgbClr val="0A6B50"/>
                </a:solidFill>
                <a:latin typeface="Segoe UI"/>
              </a:rPr>
              <a:t>The line we hold. </a:t>
            </a:r>
            <a:r>
              <a:rPr sz="1350" b="0" i="0">
                <a:solidFill>
                  <a:srgbClr val="28383E"/>
                </a:solidFill>
                <a:latin typeface="Segoe UI"/>
              </a:rPr>
              <a:t>Phase 1 is finished when a school can complete a term on it. Everything that does not serve that moves to Phase 2, whichever plan it is sold in and however easy it would have been to add.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457200"/>
            <a:ext cx="8503920" cy="731520"/>
          </a:xfrm>
          <a:prstGeom prst="rect">
            <a:avLst/>
          </a:prstGeom>
          <a:noFill/>
        </p:spPr>
        <p:txBody>
          <a:bodyPr wrap="square" lIns="0" rIns="0" tIns="0" bIns="0">
            <a:spAutoFit/>
          </a:bodyPr>
          <a:lstStyle/>
          <a:p>
            <a:pPr>
              <a:lnSpc>
                <a:spcPct val="122000"/>
              </a:lnSpc>
              <a:spcBef>
                <a:spcPts val="0"/>
              </a:spcBef>
              <a:spcAft>
                <a:spcPts val="0"/>
              </a:spcAft>
            </a:pPr>
            <a:r>
              <a:rPr sz="3600" b="0" i="0">
                <a:solidFill>
                  <a:srgbClr val="102730"/>
                </a:solidFill>
                <a:latin typeface="Segoe UI"/>
              </a:rPr>
              <a:t>Goals</a:t>
            </a:r>
          </a:p>
        </p:txBody>
      </p:sp>
      <p:sp>
        <p:nvSpPr>
          <p:cNvPr id="5" name="TextBox 4"/>
          <p:cNvSpPr txBox="1"/>
          <p:nvPr/>
        </p:nvSpPr>
        <p:spPr>
          <a:xfrm>
            <a:off x="566928" y="1275172"/>
            <a:ext cx="9509760" cy="731520"/>
          </a:xfrm>
          <a:prstGeom prst="rect">
            <a:avLst/>
          </a:prstGeom>
          <a:noFill/>
        </p:spPr>
        <p:txBody>
          <a:bodyPr wrap="square" lIns="0" rIns="0" tIns="0" bIns="0">
            <a:spAutoFit/>
          </a:bodyPr>
          <a:lstStyle/>
          <a:p>
            <a:pPr>
              <a:lnSpc>
                <a:spcPct val="125000"/>
              </a:lnSpc>
              <a:spcBef>
                <a:spcPts val="0"/>
              </a:spcBef>
              <a:spcAft>
                <a:spcPts val="500"/>
              </a:spcAft>
            </a:pPr>
            <a:r>
              <a:rPr sz="1500" b="0" i="1">
                <a:solidFill>
                  <a:srgbClr val="4F6167"/>
                </a:solidFill>
                <a:latin typeface="Segoe UI"/>
              </a:rPr>
              <a:t>Two gates, four weeks apart. Baseline is today, 29 July 2026.</a:t>
            </a:r>
          </a:p>
        </p:txBody>
      </p:sp>
      <p:sp>
        <p:nvSpPr>
          <p:cNvPr id="6" name="Rectangle 5"/>
          <p:cNvSpPr/>
          <p:nvPr/>
        </p:nvSpPr>
        <p:spPr>
          <a:xfrm>
            <a:off x="566928" y="2079844"/>
            <a:ext cx="5346039" cy="2194560"/>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1000"/>
              </a:spcAft>
            </a:pPr>
            <a:r>
              <a:rPr sz="1600" b="1" i="0">
                <a:solidFill>
                  <a:srgbClr val="0A6B50"/>
                </a:solidFill>
                <a:latin typeface="Segoe UI"/>
              </a:rPr>
              <a:t>Gate 1 - 28 August: a school can run on it</a:t>
            </a:r>
          </a:p>
          <a:p>
            <a:pPr>
              <a:lnSpc>
                <a:spcPct val="122000"/>
              </a:lnSpc>
              <a:spcBef>
                <a:spcPts val="0"/>
              </a:spcBef>
              <a:spcAft>
                <a:spcPts val="700"/>
              </a:spcAft>
            </a:pPr>
            <a:r>
              <a:rPr sz="1400" b="0" i="0">
                <a:solidFill>
                  <a:srgbClr val="28383E"/>
                </a:solidFill>
                <a:latin typeface="Segoe UI"/>
              </a:rPr>
              <a:t/>
            </a:r>
            <a:r>
              <a:rPr sz="1350" b="1" i="0">
                <a:solidFill>
                  <a:srgbClr val="0A6B50"/>
                </a:solidFill>
                <a:latin typeface="Segoe UI"/>
              </a:rPr>
              <a:t>·  </a:t>
            </a:r>
            <a:r>
              <a:rPr sz="1350" b="0" i="0">
                <a:solidFill>
                  <a:srgbClr val="28383E"/>
                </a:solidFill>
                <a:latin typeface="Segoe UI"/>
              </a:rPr>
              <a:t>One pilot school completes a full week with no paper fallback</a:t>
            </a:r>
          </a:p>
          <a:p>
            <a:pPr>
              <a:lnSpc>
                <a:spcPct val="122000"/>
              </a:lnSpc>
              <a:spcBef>
                <a:spcPts val="0"/>
              </a:spcBef>
              <a:spcAft>
                <a:spcPts val="700"/>
              </a:spcAft>
            </a:pPr>
            <a:r>
              <a:rPr sz="1400" b="0" i="0">
                <a:solidFill>
                  <a:srgbClr val="28383E"/>
                </a:solidFill>
                <a:latin typeface="Segoe UI"/>
              </a:rPr>
              <a:t/>
            </a:r>
            <a:r>
              <a:rPr sz="1350" b="1" i="0">
                <a:solidFill>
                  <a:srgbClr val="0A6B50"/>
                </a:solidFill>
                <a:latin typeface="Segoe UI"/>
              </a:rPr>
              <a:t>·  </a:t>
            </a:r>
            <a:r>
              <a:rPr sz="1350" b="0" i="0">
                <a:solidFill>
                  <a:srgbClr val="28383E"/>
                </a:solidFill>
                <a:latin typeface="Segoe UI"/>
              </a:rPr>
              <a:t>Register taken in-app by 90% of classes, every day</a:t>
            </a:r>
          </a:p>
          <a:p>
            <a:pPr>
              <a:lnSpc>
                <a:spcPct val="122000"/>
              </a:lnSpc>
              <a:spcBef>
                <a:spcPts val="0"/>
              </a:spcBef>
              <a:spcAft>
                <a:spcPts val="700"/>
              </a:spcAft>
            </a:pPr>
            <a:r>
              <a:rPr sz="1400" b="0" i="0">
                <a:solidFill>
                  <a:srgbClr val="28383E"/>
                </a:solidFill>
                <a:latin typeface="Segoe UI"/>
              </a:rPr>
              <a:t/>
            </a:r>
            <a:r>
              <a:rPr sz="1350" b="1" i="0">
                <a:solidFill>
                  <a:srgbClr val="0A6B50"/>
                </a:solidFill>
                <a:latin typeface="Segoe UI"/>
              </a:rPr>
              <a:t>·  </a:t>
            </a:r>
            <a:r>
              <a:rPr sz="1350" b="0" i="0">
                <a:solidFill>
                  <a:srgbClr val="28383E"/>
                </a:solidFill>
                <a:latin typeface="Segoe UI"/>
              </a:rPr>
              <a:t>A real term billed, collected and reconciled above 98%</a:t>
            </a:r>
          </a:p>
          <a:p>
            <a:pPr>
              <a:lnSpc>
                <a:spcPct val="122000"/>
              </a:lnSpc>
              <a:spcBef>
                <a:spcPts val="0"/>
              </a:spcBef>
              <a:spcAft>
                <a:spcPts val="700"/>
              </a:spcAft>
            </a:pPr>
            <a:r>
              <a:rPr sz="1400" b="0" i="0">
                <a:solidFill>
                  <a:srgbClr val="28383E"/>
                </a:solidFill>
                <a:latin typeface="Segoe UI"/>
              </a:rPr>
              <a:t/>
            </a:r>
            <a:r>
              <a:rPr sz="1350" b="1" i="0">
                <a:solidFill>
                  <a:srgbClr val="0A6B50"/>
                </a:solidFill>
                <a:latin typeface="Segoe UI"/>
              </a:rPr>
              <a:t>·  </a:t>
            </a:r>
            <a:r>
              <a:rPr sz="1350" b="0" i="0">
                <a:solidFill>
                  <a:srgbClr val="28383E"/>
                </a:solidFill>
                <a:latin typeface="Segoe UI"/>
              </a:rPr>
              <a:t>Every parent reached at least once on a live channel</a:t>
            </a:r>
          </a:p>
        </p:txBody>
      </p:sp>
      <p:sp>
        <p:nvSpPr>
          <p:cNvPr id="7" name="Rectangle 6"/>
          <p:cNvSpPr/>
          <p:nvPr/>
        </p:nvSpPr>
        <p:spPr>
          <a:xfrm>
            <a:off x="6278727" y="2079844"/>
            <a:ext cx="5346039" cy="2194560"/>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1000"/>
              </a:spcAft>
            </a:pPr>
            <a:r>
              <a:rPr sz="1600" b="1" i="0">
                <a:solidFill>
                  <a:srgbClr val="3D6EA8"/>
                </a:solidFill>
                <a:latin typeface="Segoe UI"/>
              </a:rPr>
              <a:t>Gate 2 - 25 September: the apps are in hand</a:t>
            </a:r>
          </a:p>
          <a:p>
            <a:pPr>
              <a:lnSpc>
                <a:spcPct val="122000"/>
              </a:lnSpc>
              <a:spcBef>
                <a:spcPts val="0"/>
              </a:spcBef>
              <a:spcAft>
                <a:spcPts val="700"/>
              </a:spcAft>
            </a:pPr>
            <a:r>
              <a:rPr sz="1400" b="0" i="0">
                <a:solidFill>
                  <a:srgbClr val="28383E"/>
                </a:solidFill>
                <a:latin typeface="Segoe UI"/>
              </a:rPr>
              <a:t/>
            </a:r>
            <a:r>
              <a:rPr sz="1350" b="1" i="0">
                <a:solidFill>
                  <a:srgbClr val="3D6EA8"/>
                </a:solidFill>
                <a:latin typeface="Segoe UI"/>
              </a:rPr>
              <a:t>·  </a:t>
            </a:r>
            <a:r>
              <a:rPr sz="1350" b="0" i="0">
                <a:solidFill>
                  <a:srgbClr val="28383E"/>
                </a:solidFill>
                <a:latin typeface="Segoe UI"/>
              </a:rPr>
              <a:t>Parent, teacher and student apps live in both stores</a:t>
            </a:r>
          </a:p>
          <a:p>
            <a:pPr>
              <a:lnSpc>
                <a:spcPct val="122000"/>
              </a:lnSpc>
              <a:spcBef>
                <a:spcPts val="0"/>
              </a:spcBef>
              <a:spcAft>
                <a:spcPts val="700"/>
              </a:spcAft>
            </a:pPr>
            <a:r>
              <a:rPr sz="1400" b="0" i="0">
                <a:solidFill>
                  <a:srgbClr val="28383E"/>
                </a:solidFill>
                <a:latin typeface="Segoe UI"/>
              </a:rPr>
              <a:t/>
            </a:r>
            <a:r>
              <a:rPr sz="1350" b="1" i="0">
                <a:solidFill>
                  <a:srgbClr val="3D6EA8"/>
                </a:solidFill>
                <a:latin typeface="Segoe UI"/>
              </a:rPr>
              <a:t>·  </a:t>
            </a:r>
            <a:r>
              <a:rPr sz="1350" b="0" i="0">
                <a:solidFill>
                  <a:srgbClr val="28383E"/>
                </a:solidFill>
                <a:latin typeface="Segoe UI"/>
              </a:rPr>
              <a:t>Half the pilot school's parents installed and signed in</a:t>
            </a:r>
          </a:p>
          <a:p>
            <a:pPr>
              <a:lnSpc>
                <a:spcPct val="122000"/>
              </a:lnSpc>
              <a:spcBef>
                <a:spcPts val="0"/>
              </a:spcBef>
              <a:spcAft>
                <a:spcPts val="700"/>
              </a:spcAft>
            </a:pPr>
            <a:r>
              <a:rPr sz="1400" b="0" i="0">
                <a:solidFill>
                  <a:srgbClr val="28383E"/>
                </a:solidFill>
                <a:latin typeface="Segoe UI"/>
              </a:rPr>
              <a:t/>
            </a:r>
            <a:r>
              <a:rPr sz="1350" b="1" i="0">
                <a:solidFill>
                  <a:srgbClr val="3D6EA8"/>
                </a:solidFill>
                <a:latin typeface="Segoe UI"/>
              </a:rPr>
              <a:t>·  </a:t>
            </a:r>
            <a:r>
              <a:rPr sz="1350" b="0" i="0">
                <a:solidFill>
                  <a:srgbClr val="28383E"/>
                </a:solidFill>
                <a:latin typeface="Segoe UI"/>
              </a:rPr>
              <a:t>A register marked on a phone, offline, syncing later</a:t>
            </a:r>
          </a:p>
          <a:p>
            <a:pPr>
              <a:lnSpc>
                <a:spcPct val="122000"/>
              </a:lnSpc>
              <a:spcBef>
                <a:spcPts val="0"/>
              </a:spcBef>
              <a:spcAft>
                <a:spcPts val="700"/>
              </a:spcAft>
            </a:pPr>
            <a:r>
              <a:rPr sz="1400" b="0" i="0">
                <a:solidFill>
                  <a:srgbClr val="28383E"/>
                </a:solidFill>
                <a:latin typeface="Segoe UI"/>
              </a:rPr>
              <a:t/>
            </a:r>
            <a:r>
              <a:rPr sz="1350" b="1" i="0">
                <a:solidFill>
                  <a:srgbClr val="3D6EA8"/>
                </a:solidFill>
                <a:latin typeface="Segoe UI"/>
              </a:rPr>
              <a:t>·  </a:t>
            </a:r>
            <a:r>
              <a:rPr sz="1350" b="0" i="0">
                <a:solidFill>
                  <a:srgbClr val="28383E"/>
                </a:solidFill>
                <a:latin typeface="Segoe UI"/>
              </a:rPr>
              <a:t>Assessments, payroll and accounting live for the schools that want them</a:t>
            </a:r>
          </a:p>
        </p:txBody>
      </p:sp>
      <p:sp>
        <p:nvSpPr>
          <p:cNvPr id="8" name="TextBox 7"/>
          <p:cNvSpPr txBox="1"/>
          <p:nvPr/>
        </p:nvSpPr>
        <p:spPr>
          <a:xfrm>
            <a:off x="566928" y="4503004"/>
            <a:ext cx="6400800" cy="292608"/>
          </a:xfrm>
          <a:prstGeom prst="rect">
            <a:avLst/>
          </a:prstGeom>
          <a:noFill/>
        </p:spPr>
        <p:txBody>
          <a:bodyPr wrap="square" lIns="0" rIns="0" tIns="0" bIns="0">
            <a:spAutoFit/>
          </a:bodyPr>
          <a:lstStyle/>
          <a:p>
            <a:pPr>
              <a:lnSpc>
                <a:spcPct val="122000"/>
              </a:lnSpc>
              <a:spcBef>
                <a:spcPts val="0"/>
              </a:spcBef>
              <a:spcAft>
                <a:spcPts val="500"/>
              </a:spcAft>
            </a:pPr>
            <a:r>
              <a:rPr sz="1150" b="1" i="0">
                <a:solidFill>
                  <a:srgbClr val="0A6B50"/>
                </a:solidFill>
                <a:latin typeface="Segoe UI"/>
              </a:rPr>
              <a:t>THE YEAR-ONE NUMBERS THESE SERVE</a:t>
            </a:r>
          </a:p>
        </p:txBody>
      </p:sp>
      <p:sp>
        <p:nvSpPr>
          <p:cNvPr id="9" name="Rectangle 8"/>
          <p:cNvSpPr/>
          <p:nvPr/>
        </p:nvSpPr>
        <p:spPr>
          <a:xfrm>
            <a:off x="566928" y="4850476"/>
            <a:ext cx="2558719" cy="960120"/>
          </a:xfrm>
          <a:prstGeom prst="rect">
            <a:avLst/>
          </a:prstGeom>
          <a:solidFill>
            <a:srgbClr val="ED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200"/>
              </a:spcAft>
            </a:pPr>
            <a:r>
              <a:rPr sz="2800" b="1" i="0">
                <a:solidFill>
                  <a:srgbClr val="102730"/>
                </a:solidFill>
                <a:latin typeface="Segoe UI"/>
              </a:rPr>
              <a:t>60</a:t>
            </a:r>
          </a:p>
          <a:p>
            <a:pPr>
              <a:lnSpc>
                <a:spcPct val="122000"/>
              </a:lnSpc>
              <a:spcBef>
                <a:spcPts val="0"/>
              </a:spcBef>
              <a:spcAft>
                <a:spcPts val="0"/>
              </a:spcAft>
            </a:pPr>
            <a:r>
              <a:rPr sz="1300" b="0" i="0">
                <a:solidFill>
                  <a:srgbClr val="4F6167"/>
                </a:solidFill>
                <a:latin typeface="Segoe UI"/>
              </a:rPr>
              <a:t>schools onboarded</a:t>
            </a:r>
          </a:p>
        </p:txBody>
      </p:sp>
      <p:sp>
        <p:nvSpPr>
          <p:cNvPr id="10" name="Rectangle 9"/>
          <p:cNvSpPr/>
          <p:nvPr/>
        </p:nvSpPr>
        <p:spPr>
          <a:xfrm>
            <a:off x="3399967" y="4850476"/>
            <a:ext cx="2558719" cy="960120"/>
          </a:xfrm>
          <a:prstGeom prst="rect">
            <a:avLst/>
          </a:prstGeom>
          <a:solidFill>
            <a:srgbClr val="ED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200"/>
              </a:spcAft>
            </a:pPr>
            <a:r>
              <a:rPr sz="2800" b="1" i="0">
                <a:solidFill>
                  <a:srgbClr val="102730"/>
                </a:solidFill>
                <a:latin typeface="Segoe UI"/>
              </a:rPr>
              <a:t>₦1B+</a:t>
            </a:r>
          </a:p>
          <a:p>
            <a:pPr>
              <a:lnSpc>
                <a:spcPct val="122000"/>
              </a:lnSpc>
              <a:spcBef>
                <a:spcPts val="0"/>
              </a:spcBef>
              <a:spcAft>
                <a:spcPts val="0"/>
              </a:spcAft>
            </a:pPr>
            <a:r>
              <a:rPr sz="1300" b="0" i="0">
                <a:solidFill>
                  <a:srgbClr val="4F6167"/>
                </a:solidFill>
                <a:latin typeface="Segoe UI"/>
              </a:rPr>
              <a:t>payments processed</a:t>
            </a:r>
          </a:p>
        </p:txBody>
      </p:sp>
      <p:sp>
        <p:nvSpPr>
          <p:cNvPr id="11" name="Rectangle 10"/>
          <p:cNvSpPr/>
          <p:nvPr/>
        </p:nvSpPr>
        <p:spPr>
          <a:xfrm>
            <a:off x="6233007" y="4850476"/>
            <a:ext cx="2558719" cy="960120"/>
          </a:xfrm>
          <a:prstGeom prst="rect">
            <a:avLst/>
          </a:prstGeom>
          <a:solidFill>
            <a:srgbClr val="ED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200"/>
              </a:spcAft>
            </a:pPr>
            <a:r>
              <a:rPr sz="2800" b="1" i="0">
                <a:solidFill>
                  <a:srgbClr val="102730"/>
                </a:solidFill>
                <a:latin typeface="Segoe UI"/>
              </a:rPr>
              <a:t>85%</a:t>
            </a:r>
          </a:p>
          <a:p>
            <a:pPr>
              <a:lnSpc>
                <a:spcPct val="122000"/>
              </a:lnSpc>
              <a:spcBef>
                <a:spcPts val="0"/>
              </a:spcBef>
              <a:spcAft>
                <a:spcPts val="0"/>
              </a:spcAft>
            </a:pPr>
            <a:r>
              <a:rPr sz="1300" b="0" i="0">
                <a:solidFill>
                  <a:srgbClr val="4F6167"/>
                </a:solidFill>
                <a:latin typeface="Segoe UI"/>
              </a:rPr>
              <a:t>fee-collection rate</a:t>
            </a:r>
          </a:p>
        </p:txBody>
      </p:sp>
      <p:sp>
        <p:nvSpPr>
          <p:cNvPr id="12" name="Rectangle 11"/>
          <p:cNvSpPr/>
          <p:nvPr/>
        </p:nvSpPr>
        <p:spPr>
          <a:xfrm>
            <a:off x="9066047" y="4850476"/>
            <a:ext cx="2558719" cy="960120"/>
          </a:xfrm>
          <a:prstGeom prst="rect">
            <a:avLst/>
          </a:prstGeom>
          <a:solidFill>
            <a:srgbClr val="ED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200"/>
              </a:spcAft>
            </a:pPr>
            <a:r>
              <a:rPr sz="2800" b="1" i="0">
                <a:solidFill>
                  <a:srgbClr val="102730"/>
                </a:solidFill>
                <a:latin typeface="Segoe UI"/>
              </a:rPr>
              <a:t>99.9%</a:t>
            </a:r>
          </a:p>
          <a:p>
            <a:pPr>
              <a:lnSpc>
                <a:spcPct val="122000"/>
              </a:lnSpc>
              <a:spcBef>
                <a:spcPts val="0"/>
              </a:spcBef>
              <a:spcAft>
                <a:spcPts val="0"/>
              </a:spcAft>
            </a:pPr>
            <a:r>
              <a:rPr sz="1300" b="0" i="0">
                <a:solidFill>
                  <a:srgbClr val="4F6167"/>
                </a:solidFill>
                <a:latin typeface="Segoe UI"/>
              </a:rPr>
              <a:t>platform uptime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457200"/>
            <a:ext cx="8503920" cy="731520"/>
          </a:xfrm>
          <a:prstGeom prst="rect">
            <a:avLst/>
          </a:prstGeom>
          <a:noFill/>
        </p:spPr>
        <p:txBody>
          <a:bodyPr wrap="square" lIns="0" rIns="0" tIns="0" bIns="0">
            <a:spAutoFit/>
          </a:bodyPr>
          <a:lstStyle/>
          <a:p>
            <a:pPr>
              <a:lnSpc>
                <a:spcPct val="122000"/>
              </a:lnSpc>
              <a:spcBef>
                <a:spcPts val="0"/>
              </a:spcBef>
              <a:spcAft>
                <a:spcPts val="0"/>
              </a:spcAft>
            </a:pPr>
            <a:r>
              <a:rPr sz="3200" b="0" i="0">
                <a:solidFill>
                  <a:srgbClr val="102730"/>
                </a:solidFill>
                <a:latin typeface="Segoe UI"/>
              </a:rPr>
              <a:t>Roadmap Themes</a:t>
            </a:r>
          </a:p>
        </p:txBody>
      </p:sp>
      <p:sp>
        <p:nvSpPr>
          <p:cNvPr id="5" name="TextBox 4"/>
          <p:cNvSpPr txBox="1"/>
          <p:nvPr/>
        </p:nvSpPr>
        <p:spPr>
          <a:xfrm>
            <a:off x="566928" y="1208670"/>
            <a:ext cx="9509760" cy="731520"/>
          </a:xfrm>
          <a:prstGeom prst="rect">
            <a:avLst/>
          </a:prstGeom>
          <a:noFill/>
        </p:spPr>
        <p:txBody>
          <a:bodyPr wrap="square" lIns="0" rIns="0" tIns="0" bIns="0">
            <a:spAutoFit/>
          </a:bodyPr>
          <a:lstStyle/>
          <a:p>
            <a:pPr>
              <a:lnSpc>
                <a:spcPct val="125000"/>
              </a:lnSpc>
              <a:spcBef>
                <a:spcPts val="0"/>
              </a:spcBef>
              <a:spcAft>
                <a:spcPts val="500"/>
              </a:spcAft>
            </a:pPr>
            <a:r>
              <a:rPr sz="1500" b="0" i="1">
                <a:solidFill>
                  <a:srgbClr val="4F6167"/>
                </a:solidFill>
                <a:latin typeface="Segoe UI"/>
              </a:rPr>
              <a:t>Phase 1, weeks 1 to 4, is what a school runs on. Phase 2, weeks 5 to 8, is the apps and the next layer.</a:t>
            </a:r>
          </a:p>
        </p:txBody>
      </p:sp>
      <p:sp>
        <p:nvSpPr>
          <p:cNvPr id="6" name="TextBox 5"/>
          <p:cNvSpPr txBox="1"/>
          <p:nvPr/>
        </p:nvSpPr>
        <p:spPr>
          <a:xfrm>
            <a:off x="566928" y="1830462"/>
            <a:ext cx="5346039" cy="365760"/>
          </a:xfrm>
          <a:prstGeom prst="rect">
            <a:avLst/>
          </a:prstGeom>
          <a:noFill/>
        </p:spPr>
        <p:txBody>
          <a:bodyPr wrap="square" lIns="0" rIns="0" tIns="0" bIns="0">
            <a:spAutoFit/>
          </a:bodyPr>
          <a:lstStyle/>
          <a:p>
            <a:pPr>
              <a:lnSpc>
                <a:spcPct val="122000"/>
              </a:lnSpc>
              <a:spcBef>
                <a:spcPts val="0"/>
              </a:spcBef>
              <a:spcAft>
                <a:spcPts val="0"/>
              </a:spcAft>
            </a:pPr>
            <a:r>
              <a:rPr sz="2000" b="1" i="0">
                <a:solidFill>
                  <a:srgbClr val="10333F"/>
                </a:solidFill>
                <a:latin typeface="Segoe UI"/>
              </a:rPr>
              <a:t>Foundations</a:t>
            </a:r>
            <a:r>
              <a:rPr sz="1300" b="1" i="0">
                <a:solidFill>
                  <a:srgbClr val="0A6B50"/>
                </a:solidFill>
                <a:latin typeface="Segoe UI"/>
              </a:rPr>
              <a:t>   Phase 1</a:t>
            </a:r>
          </a:p>
        </p:txBody>
      </p:sp>
      <p:sp>
        <p:nvSpPr>
          <p:cNvPr id="7" name="TextBox 6"/>
          <p:cNvSpPr txBox="1"/>
          <p:nvPr/>
        </p:nvSpPr>
        <p:spPr>
          <a:xfrm>
            <a:off x="566928" y="2177934"/>
            <a:ext cx="5346039" cy="274320"/>
          </a:xfrm>
          <a:prstGeom prst="rect">
            <a:avLst/>
          </a:prstGeom>
          <a:noFill/>
        </p:spPr>
        <p:txBody>
          <a:bodyPr wrap="square" lIns="0" rIns="0" tIns="0" bIns="0">
            <a:spAutoFit/>
          </a:bodyPr>
          <a:lstStyle/>
          <a:p>
            <a:pPr>
              <a:lnSpc>
                <a:spcPct val="122000"/>
              </a:lnSpc>
              <a:spcBef>
                <a:spcPts val="0"/>
              </a:spcBef>
              <a:spcAft>
                <a:spcPts val="500"/>
              </a:spcAft>
            </a:pPr>
            <a:r>
              <a:rPr sz="1150" b="1" i="0">
                <a:solidFill>
                  <a:srgbClr val="4F6167"/>
                </a:solidFill>
                <a:latin typeface="Segoe UI"/>
              </a:rPr>
              <a:t>Backend &amp; API  ·  Login &amp; RBAC  ·  Tenancy  ·  Offline</a:t>
            </a:r>
          </a:p>
        </p:txBody>
      </p:sp>
      <p:sp>
        <p:nvSpPr>
          <p:cNvPr id="8" name="Rectangle 7"/>
          <p:cNvSpPr/>
          <p:nvPr/>
        </p:nvSpPr>
        <p:spPr>
          <a:xfrm>
            <a:off x="566928" y="2470542"/>
            <a:ext cx="5346039" cy="3657600"/>
          </a:xfrm>
          <a:prstGeom prst="rect">
            <a:avLst/>
          </a:prstGeom>
          <a:solidFill>
            <a:srgbClr val="EC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5000"/>
              </a:lnSpc>
              <a:spcBef>
                <a:spcPts val="0"/>
              </a:spcBef>
              <a:spcAft>
                <a:spcPts val="1000"/>
              </a:spcAft>
            </a:pPr>
            <a:r>
              <a:rPr sz="1300" b="0" i="0">
                <a:solidFill>
                  <a:srgbClr val="28383E"/>
                </a:solidFill>
                <a:latin typeface="Segoe UI"/>
              </a:rPr>
              <a:t>One backend, one login, hard separation between schools, and an app that keeps working when the network drops. Invisible to anyone using it, and load-bearing for every theme after it, including the apps.</a:t>
            </a:r>
          </a:p>
          <a:p>
            <a:pPr>
              <a:lnSpc>
                <a:spcPct val="125000"/>
              </a:lnSpc>
              <a:spcBef>
                <a:spcPts val="0"/>
              </a:spcBef>
              <a:spcAft>
                <a:spcPts val="800"/>
              </a:spcAft>
            </a:pPr>
            <a:r>
              <a:rPr sz="1400" b="0" i="0">
                <a:solidFill>
                  <a:srgbClr val="28383E"/>
                </a:solidFill>
                <a:latin typeface="Segoe UI"/>
              </a:rPr>
              <a:t/>
            </a:r>
            <a:r>
              <a:rPr sz="1300" b="1" i="0">
                <a:solidFill>
                  <a:srgbClr val="102730"/>
                </a:solidFill>
                <a:latin typeface="Segoe UI"/>
              </a:rPr>
              <a:t>Hypothesis. </a:t>
            </a:r>
            <a:r>
              <a:rPr sz="1300" b="0" i="1">
                <a:solidFill>
                  <a:srgbClr val="4F6167"/>
                </a:solidFill>
                <a:latin typeface="Segoe UI"/>
              </a:rPr>
              <a:t>Finish the spine inside two weeks and three squads can run in parallel for the remaining six without tripping over each other.</a:t>
            </a:r>
          </a:p>
          <a:p>
            <a:pPr>
              <a:lnSpc>
                <a:spcPct val="125000"/>
              </a:lnSpc>
              <a:spcBef>
                <a:spcPts val="0"/>
              </a:spcBef>
              <a:spcAft>
                <a:spcPts val="800"/>
              </a:spcAft>
            </a:pPr>
            <a:r>
              <a:rPr sz="1400" b="0" i="0">
                <a:solidFill>
                  <a:srgbClr val="28383E"/>
                </a:solidFill>
                <a:latin typeface="Segoe UI"/>
              </a:rPr>
              <a:t/>
            </a:r>
            <a:r>
              <a:rPr sz="1300" b="1" i="0">
                <a:solidFill>
                  <a:srgbClr val="102730"/>
                </a:solidFill>
                <a:latin typeface="Segoe UI"/>
              </a:rPr>
              <a:t>How we validate it. </a:t>
            </a:r>
            <a:r>
              <a:rPr sz="1300" b="0" i="1">
                <a:solidFill>
                  <a:srgbClr val="4F6167"/>
                </a:solidFill>
                <a:latin typeface="Segoe UI"/>
              </a:rPr>
              <a:t>Seven roles sign in to the seed school and each sees only their own data. A teacher marks a register with the laptop in flight mode and it syncs when the network returns.</a:t>
            </a:r>
          </a:p>
          <a:p>
            <a:pPr>
              <a:lnSpc>
                <a:spcPct val="125000"/>
              </a:lnSpc>
              <a:spcBef>
                <a:spcPts val="0"/>
              </a:spcBef>
              <a:spcAft>
                <a:spcPts val="300"/>
              </a:spcAft>
            </a:pPr>
            <a:r>
              <a:rPr sz="1400" b="0" i="0">
                <a:solidFill>
                  <a:srgbClr val="28383E"/>
                </a:solidFill>
                <a:latin typeface="Segoe UI"/>
              </a:rPr>
              <a:t/>
            </a:r>
            <a:r>
              <a:rPr sz="1300" b="1" i="0">
                <a:solidFill>
                  <a:srgbClr val="102730"/>
                </a:solidFill>
                <a:latin typeface="Segoe UI"/>
              </a:rPr>
              <a:t>Actions: </a:t>
            </a:r>
            <a:r>
              <a:rPr sz="1300" b="0" i="0">
                <a:solidFill>
                  <a:srgbClr val="28383E"/>
                </a:solidFill>
                <a:latin typeface="Segoe UI"/>
              </a:rPr>
              <a:t>Backend &amp; API, Login &amp; RBAC, Tenancy, Offline</a:t>
            </a:r>
          </a:p>
        </p:txBody>
      </p:sp>
      <p:sp>
        <p:nvSpPr>
          <p:cNvPr id="9" name="TextBox 8"/>
          <p:cNvSpPr txBox="1"/>
          <p:nvPr/>
        </p:nvSpPr>
        <p:spPr>
          <a:xfrm>
            <a:off x="6278727" y="1830462"/>
            <a:ext cx="5346039" cy="365760"/>
          </a:xfrm>
          <a:prstGeom prst="rect">
            <a:avLst/>
          </a:prstGeom>
          <a:noFill/>
        </p:spPr>
        <p:txBody>
          <a:bodyPr wrap="square" lIns="0" rIns="0" tIns="0" bIns="0">
            <a:spAutoFit/>
          </a:bodyPr>
          <a:lstStyle/>
          <a:p>
            <a:pPr>
              <a:lnSpc>
                <a:spcPct val="122000"/>
              </a:lnSpc>
              <a:spcBef>
                <a:spcPts val="0"/>
              </a:spcBef>
              <a:spcAft>
                <a:spcPts val="0"/>
              </a:spcAft>
            </a:pPr>
            <a:r>
              <a:rPr sz="2000" b="1" i="0">
                <a:solidFill>
                  <a:srgbClr val="0E9E76"/>
                </a:solidFill>
                <a:latin typeface="Segoe UI"/>
              </a:rPr>
              <a:t>The school day</a:t>
            </a:r>
            <a:r>
              <a:rPr sz="1300" b="1" i="0">
                <a:solidFill>
                  <a:srgbClr val="0A6B50"/>
                </a:solidFill>
                <a:latin typeface="Segoe UI"/>
              </a:rPr>
              <a:t>   Phase 1</a:t>
            </a:r>
          </a:p>
        </p:txBody>
      </p:sp>
      <p:sp>
        <p:nvSpPr>
          <p:cNvPr id="10" name="TextBox 9"/>
          <p:cNvSpPr txBox="1"/>
          <p:nvPr/>
        </p:nvSpPr>
        <p:spPr>
          <a:xfrm>
            <a:off x="6278727" y="2177934"/>
            <a:ext cx="5346039" cy="274320"/>
          </a:xfrm>
          <a:prstGeom prst="rect">
            <a:avLst/>
          </a:prstGeom>
          <a:noFill/>
        </p:spPr>
        <p:txBody>
          <a:bodyPr wrap="square" lIns="0" rIns="0" tIns="0" bIns="0">
            <a:spAutoFit/>
          </a:bodyPr>
          <a:lstStyle/>
          <a:p>
            <a:pPr>
              <a:lnSpc>
                <a:spcPct val="122000"/>
              </a:lnSpc>
              <a:spcBef>
                <a:spcPts val="0"/>
              </a:spcBef>
              <a:spcAft>
                <a:spcPts val="500"/>
              </a:spcAft>
            </a:pPr>
            <a:r>
              <a:rPr sz="1150" b="1" i="0">
                <a:solidFill>
                  <a:srgbClr val="4F6167"/>
                </a:solidFill>
                <a:latin typeface="Segoe UI"/>
              </a:rPr>
              <a:t>Students  ·  Admissions  ·  Timetable  ·  Register  ·  Results</a:t>
            </a:r>
          </a:p>
        </p:txBody>
      </p:sp>
      <p:sp>
        <p:nvSpPr>
          <p:cNvPr id="11" name="Rectangle 10"/>
          <p:cNvSpPr/>
          <p:nvPr/>
        </p:nvSpPr>
        <p:spPr>
          <a:xfrm>
            <a:off x="6278727" y="2470542"/>
            <a:ext cx="5346039" cy="3657600"/>
          </a:xfrm>
          <a:prstGeom prst="rect">
            <a:avLst/>
          </a:prstGeom>
          <a:solidFill>
            <a:srgbClr val="EC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5000"/>
              </a:lnSpc>
              <a:spcBef>
                <a:spcPts val="0"/>
              </a:spcBef>
              <a:spcAft>
                <a:spcPts val="1000"/>
              </a:spcAft>
            </a:pPr>
            <a:r>
              <a:rPr sz="1300" b="0" i="0">
                <a:solidFill>
                  <a:srgbClr val="28383E"/>
                </a:solidFill>
                <a:latin typeface="Segoe UI"/>
              </a:rPr>
              <a:t>Enrol a child, put them in a class, take the register, enter the marks, approve them, print the report card. This loop is the school's operating week, and it is what Phase 1 exists to deliver.</a:t>
            </a:r>
          </a:p>
          <a:p>
            <a:pPr>
              <a:lnSpc>
                <a:spcPct val="125000"/>
              </a:lnSpc>
              <a:spcBef>
                <a:spcPts val="0"/>
              </a:spcBef>
              <a:spcAft>
                <a:spcPts val="800"/>
              </a:spcAft>
            </a:pPr>
            <a:r>
              <a:rPr sz="1400" b="0" i="0">
                <a:solidFill>
                  <a:srgbClr val="28383E"/>
                </a:solidFill>
                <a:latin typeface="Segoe UI"/>
              </a:rPr>
              <a:t/>
            </a:r>
            <a:r>
              <a:rPr sz="1300" b="1" i="0">
                <a:solidFill>
                  <a:srgbClr val="102730"/>
                </a:solidFill>
                <a:latin typeface="Segoe UI"/>
              </a:rPr>
              <a:t>Hypothesis. </a:t>
            </a:r>
            <a:r>
              <a:rPr sz="1300" b="0" i="1">
                <a:solidFill>
                  <a:srgbClr val="4F6167"/>
                </a:solidFill>
                <a:latin typeface="Segoe UI"/>
              </a:rPr>
              <a:t>Once a teacher can finish a whole teaching day in the app, the paper copy stops being kept. That is when the data becomes good enough to bill and report from.</a:t>
            </a:r>
          </a:p>
          <a:p>
            <a:pPr>
              <a:lnSpc>
                <a:spcPct val="125000"/>
              </a:lnSpc>
              <a:spcBef>
                <a:spcPts val="0"/>
              </a:spcBef>
              <a:spcAft>
                <a:spcPts val="800"/>
              </a:spcAft>
            </a:pPr>
            <a:r>
              <a:rPr sz="1400" b="0" i="0">
                <a:solidFill>
                  <a:srgbClr val="28383E"/>
                </a:solidFill>
                <a:latin typeface="Segoe UI"/>
              </a:rPr>
              <a:t/>
            </a:r>
            <a:r>
              <a:rPr sz="1300" b="1" i="0">
                <a:solidFill>
                  <a:srgbClr val="102730"/>
                </a:solidFill>
                <a:latin typeface="Segoe UI"/>
              </a:rPr>
              <a:t>How we validate it. </a:t>
            </a:r>
            <a:r>
              <a:rPr sz="1300" b="0" i="1">
                <a:solidFill>
                  <a:srgbClr val="4F6167"/>
                </a:solidFill>
                <a:latin typeface="Segoe UI"/>
              </a:rPr>
              <a:t>One class arm runs a full week end to end. Register daily, marks entered and approved, a report card printed on the school's own template with nobody falling back to a notebook.</a:t>
            </a:r>
          </a:p>
          <a:p>
            <a:pPr>
              <a:lnSpc>
                <a:spcPct val="125000"/>
              </a:lnSpc>
              <a:spcBef>
                <a:spcPts val="0"/>
              </a:spcBef>
              <a:spcAft>
                <a:spcPts val="300"/>
              </a:spcAft>
            </a:pPr>
            <a:r>
              <a:rPr sz="1400" b="0" i="0">
                <a:solidFill>
                  <a:srgbClr val="28383E"/>
                </a:solidFill>
                <a:latin typeface="Segoe UI"/>
              </a:rPr>
              <a:t/>
            </a:r>
            <a:r>
              <a:rPr sz="1300" b="1" i="0">
                <a:solidFill>
                  <a:srgbClr val="102730"/>
                </a:solidFill>
                <a:latin typeface="Segoe UI"/>
              </a:rPr>
              <a:t>Actions: </a:t>
            </a:r>
            <a:r>
              <a:rPr sz="1300" b="0" i="0">
                <a:solidFill>
                  <a:srgbClr val="28383E"/>
                </a:solidFill>
                <a:latin typeface="Segoe UI"/>
              </a:rPr>
              <a:t>Students &amp; admissions, Classes &amp; timetable, Attendance, Results</a:t>
            </a:r>
          </a:p>
        </p:txBody>
      </p:sp>
      <p:sp>
        <p:nvSpPr>
          <p:cNvPr id="12" name="TextBox 11"/>
          <p:cNvSpPr txBox="1"/>
          <p:nvPr/>
        </p:nvSpPr>
        <p:spPr>
          <a:xfrm>
            <a:off x="8698687" y="6355080"/>
            <a:ext cx="2926080" cy="310896"/>
          </a:xfrm>
          <a:prstGeom prst="rect">
            <a:avLst/>
          </a:prstGeom>
          <a:noFill/>
        </p:spPr>
        <p:txBody>
          <a:bodyPr wrap="square" lIns="0" rIns="0" tIns="0" bIns="0">
            <a:spAutoFit/>
          </a:bodyPr>
          <a:lstStyle/>
          <a:p>
            <a:pPr algn="r">
              <a:lnSpc>
                <a:spcPct val="122000"/>
              </a:lnSpc>
              <a:spcBef>
                <a:spcPts val="0"/>
              </a:spcBef>
              <a:spcAft>
                <a:spcPts val="500"/>
              </a:spcAft>
            </a:pPr>
            <a:r>
              <a:rPr sz="1050" b="1" i="0">
                <a:solidFill>
                  <a:srgbClr val="4F6167"/>
                </a:solidFill>
                <a:latin typeface="Segoe UI"/>
              </a:rPr>
              <a:t>Roadmap Themes  1 of 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457200"/>
            <a:ext cx="8503920" cy="731520"/>
          </a:xfrm>
          <a:prstGeom prst="rect">
            <a:avLst/>
          </a:prstGeom>
          <a:noFill/>
        </p:spPr>
        <p:txBody>
          <a:bodyPr wrap="square" lIns="0" rIns="0" tIns="0" bIns="0">
            <a:spAutoFit/>
          </a:bodyPr>
          <a:lstStyle/>
          <a:p>
            <a:pPr>
              <a:lnSpc>
                <a:spcPct val="122000"/>
              </a:lnSpc>
              <a:spcBef>
                <a:spcPts val="0"/>
              </a:spcBef>
              <a:spcAft>
                <a:spcPts val="0"/>
              </a:spcAft>
            </a:pPr>
            <a:r>
              <a:rPr sz="3200" b="0" i="0">
                <a:solidFill>
                  <a:srgbClr val="102730"/>
                </a:solidFill>
                <a:latin typeface="Segoe UI"/>
              </a:rPr>
              <a:t>Roadmap Themes</a:t>
            </a:r>
          </a:p>
        </p:txBody>
      </p:sp>
      <p:sp>
        <p:nvSpPr>
          <p:cNvPr id="5" name="TextBox 4"/>
          <p:cNvSpPr txBox="1"/>
          <p:nvPr/>
        </p:nvSpPr>
        <p:spPr>
          <a:xfrm>
            <a:off x="566928" y="1208670"/>
            <a:ext cx="9509760" cy="731520"/>
          </a:xfrm>
          <a:prstGeom prst="rect">
            <a:avLst/>
          </a:prstGeom>
          <a:noFill/>
        </p:spPr>
        <p:txBody>
          <a:bodyPr wrap="square" lIns="0" rIns="0" tIns="0" bIns="0">
            <a:spAutoFit/>
          </a:bodyPr>
          <a:lstStyle/>
          <a:p>
            <a:pPr>
              <a:lnSpc>
                <a:spcPct val="125000"/>
              </a:lnSpc>
              <a:spcBef>
                <a:spcPts val="0"/>
              </a:spcBef>
              <a:spcAft>
                <a:spcPts val="500"/>
              </a:spcAft>
            </a:pPr>
            <a:r>
              <a:rPr sz="1500" b="0" i="1">
                <a:solidFill>
                  <a:srgbClr val="4F6167"/>
                </a:solidFill>
                <a:latin typeface="Segoe UI"/>
              </a:rPr>
              <a:t>Phase 1, weeks 1 to 4, is what a school runs on. Phase 2, weeks 5 to 8, is the apps and the next layer.</a:t>
            </a:r>
          </a:p>
        </p:txBody>
      </p:sp>
      <p:sp>
        <p:nvSpPr>
          <p:cNvPr id="6" name="TextBox 5"/>
          <p:cNvSpPr txBox="1"/>
          <p:nvPr/>
        </p:nvSpPr>
        <p:spPr>
          <a:xfrm>
            <a:off x="566928" y="1830462"/>
            <a:ext cx="5346039" cy="365760"/>
          </a:xfrm>
          <a:prstGeom prst="rect">
            <a:avLst/>
          </a:prstGeom>
          <a:noFill/>
        </p:spPr>
        <p:txBody>
          <a:bodyPr wrap="square" lIns="0" rIns="0" tIns="0" bIns="0">
            <a:spAutoFit/>
          </a:bodyPr>
          <a:lstStyle/>
          <a:p>
            <a:pPr>
              <a:lnSpc>
                <a:spcPct val="122000"/>
              </a:lnSpc>
              <a:spcBef>
                <a:spcPts val="0"/>
              </a:spcBef>
              <a:spcAft>
                <a:spcPts val="0"/>
              </a:spcAft>
            </a:pPr>
            <a:r>
              <a:rPr sz="2000" b="1" i="0">
                <a:solidFill>
                  <a:srgbClr val="C2622B"/>
                </a:solidFill>
                <a:latin typeface="Segoe UI"/>
              </a:rPr>
              <a:t>Fees and payments</a:t>
            </a:r>
            <a:r>
              <a:rPr sz="1300" b="1" i="0">
                <a:solidFill>
                  <a:srgbClr val="0A6B50"/>
                </a:solidFill>
                <a:latin typeface="Segoe UI"/>
              </a:rPr>
              <a:t>   Phase 1</a:t>
            </a:r>
          </a:p>
        </p:txBody>
      </p:sp>
      <p:sp>
        <p:nvSpPr>
          <p:cNvPr id="7" name="TextBox 6"/>
          <p:cNvSpPr txBox="1"/>
          <p:nvPr/>
        </p:nvSpPr>
        <p:spPr>
          <a:xfrm>
            <a:off x="566928" y="2177934"/>
            <a:ext cx="5346039" cy="274320"/>
          </a:xfrm>
          <a:prstGeom prst="rect">
            <a:avLst/>
          </a:prstGeom>
          <a:noFill/>
        </p:spPr>
        <p:txBody>
          <a:bodyPr wrap="square" lIns="0" rIns="0" tIns="0" bIns="0">
            <a:spAutoFit/>
          </a:bodyPr>
          <a:lstStyle/>
          <a:p>
            <a:pPr>
              <a:lnSpc>
                <a:spcPct val="122000"/>
              </a:lnSpc>
              <a:spcBef>
                <a:spcPts val="0"/>
              </a:spcBef>
              <a:spcAft>
                <a:spcPts val="500"/>
              </a:spcAft>
            </a:pPr>
            <a:r>
              <a:rPr sz="1150" b="1" i="0">
                <a:solidFill>
                  <a:srgbClr val="4F6167"/>
                </a:solidFill>
                <a:latin typeface="Segoe UI"/>
              </a:rPr>
              <a:t>Fee structure  ·  Invoices  ·  Ledger  ·  Payments  ·  Reconciliation</a:t>
            </a:r>
          </a:p>
        </p:txBody>
      </p:sp>
      <p:sp>
        <p:nvSpPr>
          <p:cNvPr id="8" name="Rectangle 7"/>
          <p:cNvSpPr/>
          <p:nvPr/>
        </p:nvSpPr>
        <p:spPr>
          <a:xfrm>
            <a:off x="566928" y="2470542"/>
            <a:ext cx="5346039" cy="3657600"/>
          </a:xfrm>
          <a:prstGeom prst="rect">
            <a:avLst/>
          </a:prstGeom>
          <a:solidFill>
            <a:srgbClr val="EC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5000"/>
              </a:lnSpc>
              <a:spcBef>
                <a:spcPts val="0"/>
              </a:spcBef>
              <a:spcAft>
                <a:spcPts val="1000"/>
              </a:spcAft>
            </a:pPr>
            <a:r>
              <a:rPr sz="1300" b="0" i="0">
                <a:solidFill>
                  <a:srgbClr val="28383E"/>
                </a:solidFill>
                <a:latin typeface="Segoe UI"/>
              </a:rPr>
              <a:t>The reason a proprietor signs the contract. Bill a term, show every parent an itemised statement, take the money online, and have it reconcile itself. Our own subscription billing lands here too, priced per student per term off the live roll.</a:t>
            </a:r>
          </a:p>
          <a:p>
            <a:pPr>
              <a:lnSpc>
                <a:spcPct val="125000"/>
              </a:lnSpc>
              <a:spcBef>
                <a:spcPts val="0"/>
              </a:spcBef>
              <a:spcAft>
                <a:spcPts val="800"/>
              </a:spcAft>
            </a:pPr>
            <a:r>
              <a:rPr sz="1400" b="0" i="0">
                <a:solidFill>
                  <a:srgbClr val="28383E"/>
                </a:solidFill>
                <a:latin typeface="Segoe UI"/>
              </a:rPr>
              <a:t/>
            </a:r>
            <a:r>
              <a:rPr sz="1300" b="1" i="0">
                <a:solidFill>
                  <a:srgbClr val="102730"/>
                </a:solidFill>
                <a:latin typeface="Segoe UI"/>
              </a:rPr>
              <a:t>Hypothesis. </a:t>
            </a:r>
            <a:r>
              <a:rPr sz="1300" b="0" i="1">
                <a:solidFill>
                  <a:srgbClr val="4F6167"/>
                </a:solidFill>
                <a:latin typeface="Segoe UI"/>
              </a:rPr>
              <a:t>Parents pay sooner when they can see exactly what they owe and a receipt arrives the moment the money does. Schools renew when the collection rate visibly moves.</a:t>
            </a:r>
          </a:p>
          <a:p>
            <a:pPr>
              <a:lnSpc>
                <a:spcPct val="125000"/>
              </a:lnSpc>
              <a:spcBef>
                <a:spcPts val="0"/>
              </a:spcBef>
              <a:spcAft>
                <a:spcPts val="800"/>
              </a:spcAft>
            </a:pPr>
            <a:r>
              <a:rPr sz="1400" b="0" i="0">
                <a:solidFill>
                  <a:srgbClr val="28383E"/>
                </a:solidFill>
                <a:latin typeface="Segoe UI"/>
              </a:rPr>
              <a:t/>
            </a:r>
            <a:r>
              <a:rPr sz="1300" b="1" i="0">
                <a:solidFill>
                  <a:srgbClr val="102730"/>
                </a:solidFill>
                <a:latin typeface="Segoe UI"/>
              </a:rPr>
              <a:t>How we validate it. </a:t>
            </a:r>
            <a:r>
              <a:rPr sz="1300" b="0" i="1">
                <a:solidFill>
                  <a:srgbClr val="4F6167"/>
                </a:solidFill>
                <a:latin typeface="Segoe UI"/>
              </a:rPr>
              <a:t>The pilot school bills a real term on CASPAA. Payments match automatically above 98%, statements and receipts print correctly, and the owing list agrees with the bank without a spreadsheet.</a:t>
            </a:r>
          </a:p>
          <a:p>
            <a:pPr>
              <a:lnSpc>
                <a:spcPct val="125000"/>
              </a:lnSpc>
              <a:spcBef>
                <a:spcPts val="0"/>
              </a:spcBef>
              <a:spcAft>
                <a:spcPts val="300"/>
              </a:spcAft>
            </a:pPr>
            <a:r>
              <a:rPr sz="1400" b="0" i="0">
                <a:solidFill>
                  <a:srgbClr val="28383E"/>
                </a:solidFill>
                <a:latin typeface="Segoe UI"/>
              </a:rPr>
              <a:t/>
            </a:r>
            <a:r>
              <a:rPr sz="1300" b="1" i="0">
                <a:solidFill>
                  <a:srgbClr val="102730"/>
                </a:solidFill>
                <a:latin typeface="Segoe UI"/>
              </a:rPr>
              <a:t>Actions: </a:t>
            </a:r>
            <a:r>
              <a:rPr sz="1300" b="0" i="0">
                <a:solidFill>
                  <a:srgbClr val="28383E"/>
                </a:solidFill>
                <a:latin typeface="Segoe UI"/>
              </a:rPr>
              <a:t>Fees &amp; ledger, Payments, Reconciliation, CASPAA billing</a:t>
            </a:r>
          </a:p>
        </p:txBody>
      </p:sp>
      <p:sp>
        <p:nvSpPr>
          <p:cNvPr id="9" name="TextBox 8"/>
          <p:cNvSpPr txBox="1"/>
          <p:nvPr/>
        </p:nvSpPr>
        <p:spPr>
          <a:xfrm>
            <a:off x="6278727" y="1830462"/>
            <a:ext cx="5346039" cy="365760"/>
          </a:xfrm>
          <a:prstGeom prst="rect">
            <a:avLst/>
          </a:prstGeom>
          <a:noFill/>
        </p:spPr>
        <p:txBody>
          <a:bodyPr wrap="square" lIns="0" rIns="0" tIns="0" bIns="0">
            <a:spAutoFit/>
          </a:bodyPr>
          <a:lstStyle/>
          <a:p>
            <a:pPr>
              <a:lnSpc>
                <a:spcPct val="122000"/>
              </a:lnSpc>
              <a:spcBef>
                <a:spcPts val="0"/>
              </a:spcBef>
              <a:spcAft>
                <a:spcPts val="0"/>
              </a:spcAft>
            </a:pPr>
            <a:r>
              <a:rPr sz="2000" b="1" i="0">
                <a:solidFill>
                  <a:srgbClr val="0A6B50"/>
                </a:solidFill>
                <a:latin typeface="Segoe UI"/>
              </a:rPr>
              <a:t>Reaching parents</a:t>
            </a:r>
            <a:r>
              <a:rPr sz="1300" b="1" i="0">
                <a:solidFill>
                  <a:srgbClr val="0A6B50"/>
                </a:solidFill>
                <a:latin typeface="Segoe UI"/>
              </a:rPr>
              <a:t>   Phase 1</a:t>
            </a:r>
          </a:p>
        </p:txBody>
      </p:sp>
      <p:sp>
        <p:nvSpPr>
          <p:cNvPr id="10" name="TextBox 9"/>
          <p:cNvSpPr txBox="1"/>
          <p:nvPr/>
        </p:nvSpPr>
        <p:spPr>
          <a:xfrm>
            <a:off x="6278727" y="2177934"/>
            <a:ext cx="5346039" cy="274320"/>
          </a:xfrm>
          <a:prstGeom prst="rect">
            <a:avLst/>
          </a:prstGeom>
          <a:noFill/>
        </p:spPr>
        <p:txBody>
          <a:bodyPr wrap="square" lIns="0" rIns="0" tIns="0" bIns="0">
            <a:spAutoFit/>
          </a:bodyPr>
          <a:lstStyle/>
          <a:p>
            <a:pPr>
              <a:lnSpc>
                <a:spcPct val="122000"/>
              </a:lnSpc>
              <a:spcBef>
                <a:spcPts val="0"/>
              </a:spcBef>
              <a:spcAft>
                <a:spcPts val="500"/>
              </a:spcAft>
            </a:pPr>
            <a:r>
              <a:rPr sz="1150" b="1" i="0">
                <a:solidFill>
                  <a:srgbClr val="4F6167"/>
                </a:solidFill>
                <a:latin typeface="Segoe UI"/>
              </a:rPr>
              <a:t>Parent portal  ·  Announcements  ·  Consent  ·  WhatsApp &amp; email</a:t>
            </a:r>
          </a:p>
        </p:txBody>
      </p:sp>
      <p:sp>
        <p:nvSpPr>
          <p:cNvPr id="11" name="Rectangle 10"/>
          <p:cNvSpPr/>
          <p:nvPr/>
        </p:nvSpPr>
        <p:spPr>
          <a:xfrm>
            <a:off x="6278727" y="2470542"/>
            <a:ext cx="5346039" cy="3657600"/>
          </a:xfrm>
          <a:prstGeom prst="rect">
            <a:avLst/>
          </a:prstGeom>
          <a:solidFill>
            <a:srgbClr val="EC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5000"/>
              </a:lnSpc>
              <a:spcBef>
                <a:spcPts val="0"/>
              </a:spcBef>
              <a:spcAft>
                <a:spcPts val="1000"/>
              </a:spcAft>
            </a:pPr>
            <a:r>
              <a:rPr sz="1300" b="0" i="0">
                <a:solidFill>
                  <a:srgbClr val="28383E"/>
                </a:solidFill>
                <a:latin typeface="Segoe UI"/>
              </a:rPr>
              <a:t>A school that cannot reach its parents has bought a filing cabinet. The web portal and the messaging channels come first; the phone app in Phase 2 sits on top of the same work.</a:t>
            </a:r>
          </a:p>
          <a:p>
            <a:pPr>
              <a:lnSpc>
                <a:spcPct val="125000"/>
              </a:lnSpc>
              <a:spcBef>
                <a:spcPts val="0"/>
              </a:spcBef>
              <a:spcAft>
                <a:spcPts val="800"/>
              </a:spcAft>
            </a:pPr>
            <a:r>
              <a:rPr sz="1400" b="0" i="0">
                <a:solidFill>
                  <a:srgbClr val="28383E"/>
                </a:solidFill>
                <a:latin typeface="Segoe UI"/>
              </a:rPr>
              <a:t/>
            </a:r>
            <a:r>
              <a:rPr sz="1300" b="1" i="0">
                <a:solidFill>
                  <a:srgbClr val="102730"/>
                </a:solidFill>
                <a:latin typeface="Segoe UI"/>
              </a:rPr>
              <a:t>Hypothesis. </a:t>
            </a:r>
            <a:r>
              <a:rPr sz="1300" b="0" i="1">
                <a:solidFill>
                  <a:srgbClr val="4F6167"/>
                </a:solidFill>
                <a:latin typeface="Segoe UI"/>
              </a:rPr>
              <a:t>Parents who receive absence alerts and receipts on WhatsApp open the portal without being chased, which is what makes fee reminders work later on.</a:t>
            </a:r>
          </a:p>
          <a:p>
            <a:pPr>
              <a:lnSpc>
                <a:spcPct val="125000"/>
              </a:lnSpc>
              <a:spcBef>
                <a:spcPts val="0"/>
              </a:spcBef>
              <a:spcAft>
                <a:spcPts val="800"/>
              </a:spcAft>
            </a:pPr>
            <a:r>
              <a:rPr sz="1400" b="0" i="0">
                <a:solidFill>
                  <a:srgbClr val="28383E"/>
                </a:solidFill>
                <a:latin typeface="Segoe UI"/>
              </a:rPr>
              <a:t/>
            </a:r>
            <a:r>
              <a:rPr sz="1300" b="1" i="0">
                <a:solidFill>
                  <a:srgbClr val="102730"/>
                </a:solidFill>
                <a:latin typeface="Segoe UI"/>
              </a:rPr>
              <a:t>How we validate it. </a:t>
            </a:r>
            <a:r>
              <a:rPr sz="1300" b="0" i="1">
                <a:solidFill>
                  <a:srgbClr val="4F6167"/>
                </a:solidFill>
                <a:latin typeface="Segoe UI"/>
              </a:rPr>
              <a:t>Every parent at the pilot school receives at least one live message in week 4, and consent for one real school trip is collected entirely in the app.</a:t>
            </a:r>
          </a:p>
          <a:p>
            <a:pPr>
              <a:lnSpc>
                <a:spcPct val="125000"/>
              </a:lnSpc>
              <a:spcBef>
                <a:spcPts val="0"/>
              </a:spcBef>
              <a:spcAft>
                <a:spcPts val="300"/>
              </a:spcAft>
            </a:pPr>
            <a:r>
              <a:rPr sz="1400" b="0" i="0">
                <a:solidFill>
                  <a:srgbClr val="28383E"/>
                </a:solidFill>
                <a:latin typeface="Segoe UI"/>
              </a:rPr>
              <a:t/>
            </a:r>
            <a:r>
              <a:rPr sz="1300" b="1" i="0">
                <a:solidFill>
                  <a:srgbClr val="102730"/>
                </a:solidFill>
                <a:latin typeface="Segoe UI"/>
              </a:rPr>
              <a:t>Actions: </a:t>
            </a:r>
            <a:r>
              <a:rPr sz="1300" b="0" i="0">
                <a:solidFill>
                  <a:srgbClr val="28383E"/>
                </a:solidFill>
                <a:latin typeface="Segoe UI"/>
              </a:rPr>
              <a:t>Parent portal, Announcements &amp; consent, WhatsApp &amp; email</a:t>
            </a:r>
          </a:p>
        </p:txBody>
      </p:sp>
      <p:sp>
        <p:nvSpPr>
          <p:cNvPr id="12" name="TextBox 11"/>
          <p:cNvSpPr txBox="1"/>
          <p:nvPr/>
        </p:nvSpPr>
        <p:spPr>
          <a:xfrm>
            <a:off x="8698687" y="6355080"/>
            <a:ext cx="2926080" cy="310896"/>
          </a:xfrm>
          <a:prstGeom prst="rect">
            <a:avLst/>
          </a:prstGeom>
          <a:noFill/>
        </p:spPr>
        <p:txBody>
          <a:bodyPr wrap="square" lIns="0" rIns="0" tIns="0" bIns="0">
            <a:spAutoFit/>
          </a:bodyPr>
          <a:lstStyle/>
          <a:p>
            <a:pPr algn="r">
              <a:lnSpc>
                <a:spcPct val="122000"/>
              </a:lnSpc>
              <a:spcBef>
                <a:spcPts val="0"/>
              </a:spcBef>
              <a:spcAft>
                <a:spcPts val="500"/>
              </a:spcAft>
            </a:pPr>
            <a:r>
              <a:rPr sz="1050" b="1" i="0">
                <a:solidFill>
                  <a:srgbClr val="4F6167"/>
                </a:solidFill>
                <a:latin typeface="Segoe UI"/>
              </a:rPr>
              <a:t>Roadmap Themes  2 of 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457200"/>
            <a:ext cx="8503920" cy="731520"/>
          </a:xfrm>
          <a:prstGeom prst="rect">
            <a:avLst/>
          </a:prstGeom>
          <a:noFill/>
        </p:spPr>
        <p:txBody>
          <a:bodyPr wrap="square" lIns="0" rIns="0" tIns="0" bIns="0">
            <a:spAutoFit/>
          </a:bodyPr>
          <a:lstStyle/>
          <a:p>
            <a:pPr>
              <a:lnSpc>
                <a:spcPct val="122000"/>
              </a:lnSpc>
              <a:spcBef>
                <a:spcPts val="0"/>
              </a:spcBef>
              <a:spcAft>
                <a:spcPts val="0"/>
              </a:spcAft>
            </a:pPr>
            <a:r>
              <a:rPr sz="3200" b="0" i="0">
                <a:solidFill>
                  <a:srgbClr val="102730"/>
                </a:solidFill>
                <a:latin typeface="Segoe UI"/>
              </a:rPr>
              <a:t>Roadmap Themes</a:t>
            </a:r>
          </a:p>
        </p:txBody>
      </p:sp>
      <p:sp>
        <p:nvSpPr>
          <p:cNvPr id="5" name="TextBox 4"/>
          <p:cNvSpPr txBox="1"/>
          <p:nvPr/>
        </p:nvSpPr>
        <p:spPr>
          <a:xfrm>
            <a:off x="566928" y="1208670"/>
            <a:ext cx="9509760" cy="731520"/>
          </a:xfrm>
          <a:prstGeom prst="rect">
            <a:avLst/>
          </a:prstGeom>
          <a:noFill/>
        </p:spPr>
        <p:txBody>
          <a:bodyPr wrap="square" lIns="0" rIns="0" tIns="0" bIns="0">
            <a:spAutoFit/>
          </a:bodyPr>
          <a:lstStyle/>
          <a:p>
            <a:pPr>
              <a:lnSpc>
                <a:spcPct val="125000"/>
              </a:lnSpc>
              <a:spcBef>
                <a:spcPts val="0"/>
              </a:spcBef>
              <a:spcAft>
                <a:spcPts val="500"/>
              </a:spcAft>
            </a:pPr>
            <a:r>
              <a:rPr sz="1500" b="0" i="1">
                <a:solidFill>
                  <a:srgbClr val="4F6167"/>
                </a:solidFill>
                <a:latin typeface="Segoe UI"/>
              </a:rPr>
              <a:t>Phase 1, weeks 1 to 4, is what a school runs on. Phase 2, weeks 5 to 8, is the apps and the next layer.</a:t>
            </a:r>
          </a:p>
        </p:txBody>
      </p:sp>
      <p:sp>
        <p:nvSpPr>
          <p:cNvPr id="6" name="TextBox 5"/>
          <p:cNvSpPr txBox="1"/>
          <p:nvPr/>
        </p:nvSpPr>
        <p:spPr>
          <a:xfrm>
            <a:off x="566928" y="1830462"/>
            <a:ext cx="5346039" cy="365760"/>
          </a:xfrm>
          <a:prstGeom prst="rect">
            <a:avLst/>
          </a:prstGeom>
          <a:noFill/>
        </p:spPr>
        <p:txBody>
          <a:bodyPr wrap="square" lIns="0" rIns="0" tIns="0" bIns="0">
            <a:spAutoFit/>
          </a:bodyPr>
          <a:lstStyle/>
          <a:p>
            <a:pPr>
              <a:lnSpc>
                <a:spcPct val="122000"/>
              </a:lnSpc>
              <a:spcBef>
                <a:spcPts val="0"/>
              </a:spcBef>
              <a:spcAft>
                <a:spcPts val="0"/>
              </a:spcAft>
            </a:pPr>
            <a:r>
              <a:rPr sz="2000" b="1" i="0">
                <a:solidFill>
                  <a:srgbClr val="3D6EA8"/>
                </a:solidFill>
                <a:latin typeface="Segoe UI"/>
              </a:rPr>
              <a:t>The apps</a:t>
            </a:r>
            <a:r>
              <a:rPr sz="1300" b="1" i="0">
                <a:solidFill>
                  <a:srgbClr val="3D6EA8"/>
                </a:solidFill>
                <a:latin typeface="Segoe UI"/>
              </a:rPr>
              <a:t>   Phase 2</a:t>
            </a:r>
          </a:p>
        </p:txBody>
      </p:sp>
      <p:sp>
        <p:nvSpPr>
          <p:cNvPr id="7" name="TextBox 6"/>
          <p:cNvSpPr txBox="1"/>
          <p:nvPr/>
        </p:nvSpPr>
        <p:spPr>
          <a:xfrm>
            <a:off x="566928" y="2177934"/>
            <a:ext cx="5346039" cy="274320"/>
          </a:xfrm>
          <a:prstGeom prst="rect">
            <a:avLst/>
          </a:prstGeom>
          <a:noFill/>
        </p:spPr>
        <p:txBody>
          <a:bodyPr wrap="square" lIns="0" rIns="0" tIns="0" bIns="0">
            <a:spAutoFit/>
          </a:bodyPr>
          <a:lstStyle/>
          <a:p>
            <a:pPr>
              <a:lnSpc>
                <a:spcPct val="122000"/>
              </a:lnSpc>
              <a:spcBef>
                <a:spcPts val="0"/>
              </a:spcBef>
              <a:spcAft>
                <a:spcPts val="500"/>
              </a:spcAft>
            </a:pPr>
            <a:r>
              <a:rPr sz="1150" b="1" i="0">
                <a:solidFill>
                  <a:srgbClr val="4F6167"/>
                </a:solidFill>
                <a:latin typeface="Segoe UI"/>
              </a:rPr>
              <a:t>Parent  ·  Teacher  ·  Student  ·  Store release</a:t>
            </a:r>
          </a:p>
        </p:txBody>
      </p:sp>
      <p:sp>
        <p:nvSpPr>
          <p:cNvPr id="8" name="Rectangle 7"/>
          <p:cNvSpPr/>
          <p:nvPr/>
        </p:nvSpPr>
        <p:spPr>
          <a:xfrm>
            <a:off x="566928" y="2470542"/>
            <a:ext cx="5346039" cy="3657600"/>
          </a:xfrm>
          <a:prstGeom prst="rect">
            <a:avLst/>
          </a:prstGeom>
          <a:solidFill>
            <a:srgbClr val="EC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5000"/>
              </a:lnSpc>
              <a:spcBef>
                <a:spcPts val="0"/>
              </a:spcBef>
              <a:spcAft>
                <a:spcPts val="1000"/>
              </a:spcAft>
            </a:pPr>
            <a:r>
              <a:rPr sz="1300" b="0" i="0">
                <a:solidFill>
                  <a:srgbClr val="28383E"/>
                </a:solidFill>
                <a:latin typeface="Segoe UI"/>
              </a:rPr>
              <a:t>Phones for the three roles that are not sitting at a desk. Parents, teachers and students. Admin, finance and the operations portal stay on the web, where the work is genuinely desk work.</a:t>
            </a:r>
          </a:p>
          <a:p>
            <a:pPr>
              <a:lnSpc>
                <a:spcPct val="125000"/>
              </a:lnSpc>
              <a:spcBef>
                <a:spcPts val="0"/>
              </a:spcBef>
              <a:spcAft>
                <a:spcPts val="800"/>
              </a:spcAft>
            </a:pPr>
            <a:r>
              <a:rPr sz="1400" b="0" i="0">
                <a:solidFill>
                  <a:srgbClr val="28383E"/>
                </a:solidFill>
                <a:latin typeface="Segoe UI"/>
              </a:rPr>
              <a:t/>
            </a:r>
            <a:r>
              <a:rPr sz="1300" b="1" i="0">
                <a:solidFill>
                  <a:srgbClr val="102730"/>
                </a:solidFill>
                <a:latin typeface="Segoe UI"/>
              </a:rPr>
              <a:t>Hypothesis. </a:t>
            </a:r>
            <a:r>
              <a:rPr sz="1300" b="0" i="1">
                <a:solidFill>
                  <a:srgbClr val="4F6167"/>
                </a:solidFill>
                <a:latin typeface="Segoe UI"/>
              </a:rPr>
              <a:t>Parents will not keep a browser tab for the school, but they will keep an icon. The same is true of students. For teachers it is about marking the register where the class actually is.</a:t>
            </a:r>
          </a:p>
          <a:p>
            <a:pPr>
              <a:lnSpc>
                <a:spcPct val="125000"/>
              </a:lnSpc>
              <a:spcBef>
                <a:spcPts val="0"/>
              </a:spcBef>
              <a:spcAft>
                <a:spcPts val="800"/>
              </a:spcAft>
            </a:pPr>
            <a:r>
              <a:rPr sz="1400" b="0" i="0">
                <a:solidFill>
                  <a:srgbClr val="28383E"/>
                </a:solidFill>
                <a:latin typeface="Segoe UI"/>
              </a:rPr>
              <a:t/>
            </a:r>
            <a:r>
              <a:rPr sz="1300" b="1" i="0">
                <a:solidFill>
                  <a:srgbClr val="102730"/>
                </a:solidFill>
                <a:latin typeface="Segoe UI"/>
              </a:rPr>
              <a:t>How we validate it. </a:t>
            </a:r>
            <a:r>
              <a:rPr sz="1300" b="0" i="1">
                <a:solidFill>
                  <a:srgbClr val="4F6167"/>
                </a:solidFill>
                <a:latin typeface="Segoe UI"/>
              </a:rPr>
              <a:t>Installs on real devices at the pilot school. A teacher marks a register on a phone in a classroom with no signal and it syncs later. A parent pays fees from the app without opening a browser.</a:t>
            </a:r>
          </a:p>
          <a:p>
            <a:pPr>
              <a:lnSpc>
                <a:spcPct val="125000"/>
              </a:lnSpc>
              <a:spcBef>
                <a:spcPts val="0"/>
              </a:spcBef>
              <a:spcAft>
                <a:spcPts val="300"/>
              </a:spcAft>
            </a:pPr>
            <a:r>
              <a:rPr sz="1400" b="0" i="0">
                <a:solidFill>
                  <a:srgbClr val="28383E"/>
                </a:solidFill>
                <a:latin typeface="Segoe UI"/>
              </a:rPr>
              <a:t/>
            </a:r>
            <a:r>
              <a:rPr sz="1300" b="1" i="0">
                <a:solidFill>
                  <a:srgbClr val="102730"/>
                </a:solidFill>
                <a:latin typeface="Segoe UI"/>
              </a:rPr>
              <a:t>Actions: </a:t>
            </a:r>
            <a:r>
              <a:rPr sz="1300" b="0" i="0">
                <a:solidFill>
                  <a:srgbClr val="28383E"/>
                </a:solidFill>
                <a:latin typeface="Segoe UI"/>
              </a:rPr>
              <a:t>App shell &amp; sync, Parent app, Teacher app, Student app &amp; release</a:t>
            </a:r>
          </a:p>
        </p:txBody>
      </p:sp>
      <p:sp>
        <p:nvSpPr>
          <p:cNvPr id="9" name="TextBox 8"/>
          <p:cNvSpPr txBox="1"/>
          <p:nvPr/>
        </p:nvSpPr>
        <p:spPr>
          <a:xfrm>
            <a:off x="6278727" y="1830462"/>
            <a:ext cx="5346039" cy="365760"/>
          </a:xfrm>
          <a:prstGeom prst="rect">
            <a:avLst/>
          </a:prstGeom>
          <a:noFill/>
        </p:spPr>
        <p:txBody>
          <a:bodyPr wrap="square" lIns="0" rIns="0" tIns="0" bIns="0">
            <a:spAutoFit/>
          </a:bodyPr>
          <a:lstStyle/>
          <a:p>
            <a:pPr>
              <a:lnSpc>
                <a:spcPct val="122000"/>
              </a:lnSpc>
              <a:spcBef>
                <a:spcPts val="0"/>
              </a:spcBef>
              <a:spcAft>
                <a:spcPts val="0"/>
              </a:spcAft>
            </a:pPr>
            <a:r>
              <a:rPr sz="2000" b="1" i="0">
                <a:solidFill>
                  <a:srgbClr val="7A5EA8"/>
                </a:solidFill>
                <a:latin typeface="Segoe UI"/>
              </a:rPr>
              <a:t>Teaching and learning</a:t>
            </a:r>
            <a:r>
              <a:rPr sz="1300" b="1" i="0">
                <a:solidFill>
                  <a:srgbClr val="3D6EA8"/>
                </a:solidFill>
                <a:latin typeface="Segoe UI"/>
              </a:rPr>
              <a:t>   Phase 2</a:t>
            </a:r>
          </a:p>
        </p:txBody>
      </p:sp>
      <p:sp>
        <p:nvSpPr>
          <p:cNvPr id="10" name="TextBox 9"/>
          <p:cNvSpPr txBox="1"/>
          <p:nvPr/>
        </p:nvSpPr>
        <p:spPr>
          <a:xfrm>
            <a:off x="6278727" y="2177934"/>
            <a:ext cx="5346039" cy="274320"/>
          </a:xfrm>
          <a:prstGeom prst="rect">
            <a:avLst/>
          </a:prstGeom>
          <a:noFill/>
        </p:spPr>
        <p:txBody>
          <a:bodyPr wrap="square" lIns="0" rIns="0" tIns="0" bIns="0">
            <a:spAutoFit/>
          </a:bodyPr>
          <a:lstStyle/>
          <a:p>
            <a:pPr>
              <a:lnSpc>
                <a:spcPct val="122000"/>
              </a:lnSpc>
              <a:spcBef>
                <a:spcPts val="0"/>
              </a:spcBef>
              <a:spcAft>
                <a:spcPts val="500"/>
              </a:spcAft>
            </a:pPr>
            <a:r>
              <a:rPr sz="1150" b="1" i="0">
                <a:solidFill>
                  <a:srgbClr val="4F6167"/>
                </a:solidFill>
                <a:latin typeface="Segoe UI"/>
              </a:rPr>
              <a:t>Assessments  ·  CBT  ·  Lesson plans  ·  Behaviour  ·  Alumni</a:t>
            </a:r>
          </a:p>
        </p:txBody>
      </p:sp>
      <p:sp>
        <p:nvSpPr>
          <p:cNvPr id="11" name="Rectangle 10"/>
          <p:cNvSpPr/>
          <p:nvPr/>
        </p:nvSpPr>
        <p:spPr>
          <a:xfrm>
            <a:off x="6278727" y="2470542"/>
            <a:ext cx="5346039" cy="3657600"/>
          </a:xfrm>
          <a:prstGeom prst="rect">
            <a:avLst/>
          </a:prstGeom>
          <a:solidFill>
            <a:srgbClr val="EC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5000"/>
              </a:lnSpc>
              <a:spcBef>
                <a:spcPts val="0"/>
              </a:spcBef>
              <a:spcAft>
                <a:spcPts val="1000"/>
              </a:spcAft>
            </a:pPr>
            <a:r>
              <a:rPr sz="1300" b="0" i="0">
                <a:solidFill>
                  <a:srgbClr val="28383E"/>
                </a:solidFill>
                <a:latin typeface="Segoe UI"/>
              </a:rPr>
              <a:t>What a school reaches for once the operating week is running smoothly. Frequently requested, and well placed to follow the essentials rather than compete with them.</a:t>
            </a:r>
          </a:p>
          <a:p>
            <a:pPr>
              <a:lnSpc>
                <a:spcPct val="125000"/>
              </a:lnSpc>
              <a:spcBef>
                <a:spcPts val="0"/>
              </a:spcBef>
              <a:spcAft>
                <a:spcPts val="800"/>
              </a:spcAft>
            </a:pPr>
            <a:r>
              <a:rPr sz="1400" b="0" i="0">
                <a:solidFill>
                  <a:srgbClr val="28383E"/>
                </a:solidFill>
                <a:latin typeface="Segoe UI"/>
              </a:rPr>
              <a:t/>
            </a:r>
            <a:r>
              <a:rPr sz="1300" b="1" i="0">
                <a:solidFill>
                  <a:srgbClr val="102730"/>
                </a:solidFill>
                <a:latin typeface="Segoe UI"/>
              </a:rPr>
              <a:t>Hypothesis. </a:t>
            </a:r>
            <a:r>
              <a:rPr sz="1300" b="0" i="1">
                <a:solidFill>
                  <a:srgbClr val="4F6167"/>
                </a:solidFill>
                <a:latin typeface="Segoe UI"/>
              </a:rPr>
              <a:t>Assessments are what pull students into the product daily rather than at report-card time.</a:t>
            </a:r>
          </a:p>
          <a:p>
            <a:pPr>
              <a:lnSpc>
                <a:spcPct val="125000"/>
              </a:lnSpc>
              <a:spcBef>
                <a:spcPts val="0"/>
              </a:spcBef>
              <a:spcAft>
                <a:spcPts val="800"/>
              </a:spcAft>
            </a:pPr>
            <a:r>
              <a:rPr sz="1400" b="0" i="0">
                <a:solidFill>
                  <a:srgbClr val="28383E"/>
                </a:solidFill>
                <a:latin typeface="Segoe UI"/>
              </a:rPr>
              <a:t/>
            </a:r>
            <a:r>
              <a:rPr sz="1300" b="1" i="0">
                <a:solidFill>
                  <a:srgbClr val="102730"/>
                </a:solidFill>
                <a:latin typeface="Segoe UI"/>
              </a:rPr>
              <a:t>How we validate it. </a:t>
            </a:r>
            <a:r>
              <a:rPr sz="1300" b="0" i="1">
                <a:solidFill>
                  <a:srgbClr val="4F6167"/>
                </a:solidFill>
                <a:latin typeface="Segoe UI"/>
              </a:rPr>
              <a:t>One CBT sitting runs for a real class with real marks, and the results land in the same broadsheet as everything else.</a:t>
            </a:r>
          </a:p>
          <a:p>
            <a:pPr>
              <a:lnSpc>
                <a:spcPct val="125000"/>
              </a:lnSpc>
              <a:spcBef>
                <a:spcPts val="0"/>
              </a:spcBef>
              <a:spcAft>
                <a:spcPts val="300"/>
              </a:spcAft>
            </a:pPr>
            <a:r>
              <a:rPr sz="1400" b="0" i="0">
                <a:solidFill>
                  <a:srgbClr val="28383E"/>
                </a:solidFill>
                <a:latin typeface="Segoe UI"/>
              </a:rPr>
              <a:t/>
            </a:r>
            <a:r>
              <a:rPr sz="1300" b="1" i="0">
                <a:solidFill>
                  <a:srgbClr val="102730"/>
                </a:solidFill>
                <a:latin typeface="Segoe UI"/>
              </a:rPr>
              <a:t>Actions: </a:t>
            </a:r>
            <a:r>
              <a:rPr sz="1300" b="0" i="0">
                <a:solidFill>
                  <a:srgbClr val="28383E"/>
                </a:solidFill>
                <a:latin typeface="Segoe UI"/>
              </a:rPr>
              <a:t>Assignments &amp; CBT, Lessons &amp; materials, Behaviour &amp; alumni</a:t>
            </a:r>
          </a:p>
        </p:txBody>
      </p:sp>
      <p:sp>
        <p:nvSpPr>
          <p:cNvPr id="12" name="TextBox 11"/>
          <p:cNvSpPr txBox="1"/>
          <p:nvPr/>
        </p:nvSpPr>
        <p:spPr>
          <a:xfrm>
            <a:off x="8698687" y="6355080"/>
            <a:ext cx="2926080" cy="310896"/>
          </a:xfrm>
          <a:prstGeom prst="rect">
            <a:avLst/>
          </a:prstGeom>
          <a:noFill/>
        </p:spPr>
        <p:txBody>
          <a:bodyPr wrap="square" lIns="0" rIns="0" tIns="0" bIns="0">
            <a:spAutoFit/>
          </a:bodyPr>
          <a:lstStyle/>
          <a:p>
            <a:pPr algn="r">
              <a:lnSpc>
                <a:spcPct val="122000"/>
              </a:lnSpc>
              <a:spcBef>
                <a:spcPts val="0"/>
              </a:spcBef>
              <a:spcAft>
                <a:spcPts val="500"/>
              </a:spcAft>
            </a:pPr>
            <a:r>
              <a:rPr sz="1050" b="1" i="0">
                <a:solidFill>
                  <a:srgbClr val="4F6167"/>
                </a:solidFill>
                <a:latin typeface="Segoe UI"/>
              </a:rPr>
              <a:t>Roadmap Themes  3 of 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457200"/>
            <a:ext cx="8503920" cy="731520"/>
          </a:xfrm>
          <a:prstGeom prst="rect">
            <a:avLst/>
          </a:prstGeom>
          <a:noFill/>
        </p:spPr>
        <p:txBody>
          <a:bodyPr wrap="square" lIns="0" rIns="0" tIns="0" bIns="0">
            <a:spAutoFit/>
          </a:bodyPr>
          <a:lstStyle/>
          <a:p>
            <a:pPr>
              <a:lnSpc>
                <a:spcPct val="122000"/>
              </a:lnSpc>
              <a:spcBef>
                <a:spcPts val="0"/>
              </a:spcBef>
              <a:spcAft>
                <a:spcPts val="0"/>
              </a:spcAft>
            </a:pPr>
            <a:r>
              <a:rPr sz="3200" b="0" i="0">
                <a:solidFill>
                  <a:srgbClr val="102730"/>
                </a:solidFill>
                <a:latin typeface="Segoe UI"/>
              </a:rPr>
              <a:t>Roadmap Themes</a:t>
            </a:r>
          </a:p>
        </p:txBody>
      </p:sp>
      <p:sp>
        <p:nvSpPr>
          <p:cNvPr id="5" name="TextBox 4"/>
          <p:cNvSpPr txBox="1"/>
          <p:nvPr/>
        </p:nvSpPr>
        <p:spPr>
          <a:xfrm>
            <a:off x="566928" y="1208670"/>
            <a:ext cx="9509760" cy="731520"/>
          </a:xfrm>
          <a:prstGeom prst="rect">
            <a:avLst/>
          </a:prstGeom>
          <a:noFill/>
        </p:spPr>
        <p:txBody>
          <a:bodyPr wrap="square" lIns="0" rIns="0" tIns="0" bIns="0">
            <a:spAutoFit/>
          </a:bodyPr>
          <a:lstStyle/>
          <a:p>
            <a:pPr>
              <a:lnSpc>
                <a:spcPct val="125000"/>
              </a:lnSpc>
              <a:spcBef>
                <a:spcPts val="0"/>
              </a:spcBef>
              <a:spcAft>
                <a:spcPts val="500"/>
              </a:spcAft>
            </a:pPr>
            <a:r>
              <a:rPr sz="1500" b="0" i="1">
                <a:solidFill>
                  <a:srgbClr val="4F6167"/>
                </a:solidFill>
                <a:latin typeface="Segoe UI"/>
              </a:rPr>
              <a:t>Phase 1, weeks 1 to 4, is what a school runs on. Phase 2, weeks 5 to 8, is the apps and the next layer.</a:t>
            </a:r>
          </a:p>
        </p:txBody>
      </p:sp>
      <p:sp>
        <p:nvSpPr>
          <p:cNvPr id="6" name="TextBox 5"/>
          <p:cNvSpPr txBox="1"/>
          <p:nvPr/>
        </p:nvSpPr>
        <p:spPr>
          <a:xfrm>
            <a:off x="566928" y="1830462"/>
            <a:ext cx="5346039" cy="365760"/>
          </a:xfrm>
          <a:prstGeom prst="rect">
            <a:avLst/>
          </a:prstGeom>
          <a:noFill/>
        </p:spPr>
        <p:txBody>
          <a:bodyPr wrap="square" lIns="0" rIns="0" tIns="0" bIns="0">
            <a:spAutoFit/>
          </a:bodyPr>
          <a:lstStyle/>
          <a:p>
            <a:pPr>
              <a:lnSpc>
                <a:spcPct val="122000"/>
              </a:lnSpc>
              <a:spcBef>
                <a:spcPts val="0"/>
              </a:spcBef>
              <a:spcAft>
                <a:spcPts val="0"/>
              </a:spcAft>
            </a:pPr>
            <a:r>
              <a:rPr sz="2000" b="1" i="0">
                <a:solidFill>
                  <a:srgbClr val="B88A1E"/>
                </a:solidFill>
                <a:latin typeface="Segoe UI"/>
              </a:rPr>
              <a:t>Staff, money and scale</a:t>
            </a:r>
            <a:r>
              <a:rPr sz="1300" b="1" i="0">
                <a:solidFill>
                  <a:srgbClr val="3D6EA8"/>
                </a:solidFill>
                <a:latin typeface="Segoe UI"/>
              </a:rPr>
              <a:t>   Phase 2</a:t>
            </a:r>
          </a:p>
        </p:txBody>
      </p:sp>
      <p:sp>
        <p:nvSpPr>
          <p:cNvPr id="7" name="TextBox 6"/>
          <p:cNvSpPr txBox="1"/>
          <p:nvPr/>
        </p:nvSpPr>
        <p:spPr>
          <a:xfrm>
            <a:off x="566928" y="2177934"/>
            <a:ext cx="5346039" cy="274320"/>
          </a:xfrm>
          <a:prstGeom prst="rect">
            <a:avLst/>
          </a:prstGeom>
          <a:noFill/>
        </p:spPr>
        <p:txBody>
          <a:bodyPr wrap="square" lIns="0" rIns="0" tIns="0" bIns="0">
            <a:spAutoFit/>
          </a:bodyPr>
          <a:lstStyle/>
          <a:p>
            <a:pPr>
              <a:lnSpc>
                <a:spcPct val="122000"/>
              </a:lnSpc>
              <a:spcBef>
                <a:spcPts val="0"/>
              </a:spcBef>
              <a:spcAft>
                <a:spcPts val="500"/>
              </a:spcAft>
            </a:pPr>
            <a:r>
              <a:rPr sz="1150" b="1" i="0">
                <a:solidFill>
                  <a:srgbClr val="4F6167"/>
                </a:solidFill>
                <a:latin typeface="Segoe UI"/>
              </a:rPr>
              <a:t>Payroll &amp; HR  ·  Accounting  ·  Transport  ·  Inventory  ·  Groups</a:t>
            </a:r>
          </a:p>
        </p:txBody>
      </p:sp>
      <p:sp>
        <p:nvSpPr>
          <p:cNvPr id="8" name="Rectangle 7"/>
          <p:cNvSpPr/>
          <p:nvPr/>
        </p:nvSpPr>
        <p:spPr>
          <a:xfrm>
            <a:off x="566928" y="2470542"/>
            <a:ext cx="5346039" cy="3657600"/>
          </a:xfrm>
          <a:prstGeom prst="rect">
            <a:avLst/>
          </a:prstGeom>
          <a:solidFill>
            <a:srgbClr val="EC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5000"/>
              </a:lnSpc>
              <a:spcBef>
                <a:spcPts val="0"/>
              </a:spcBef>
              <a:spcAft>
                <a:spcPts val="1000"/>
              </a:spcAft>
            </a:pPr>
            <a:r>
              <a:rPr sz="1300" b="0" i="0">
                <a:solidFill>
                  <a:srgbClr val="28383E"/>
                </a:solidFill>
                <a:latin typeface="Segoe UI"/>
              </a:rPr>
              <a:t>Back office and growth. Payroll and the accounting package are what stop a school keeping a second set of books. Multi-branch closes the plan, sized for the group owners who arrive once the single campus is proven.</a:t>
            </a:r>
          </a:p>
          <a:p>
            <a:pPr>
              <a:lnSpc>
                <a:spcPct val="125000"/>
              </a:lnSpc>
              <a:spcBef>
                <a:spcPts val="0"/>
              </a:spcBef>
              <a:spcAft>
                <a:spcPts val="800"/>
              </a:spcAft>
            </a:pPr>
            <a:r>
              <a:rPr sz="1400" b="0" i="0">
                <a:solidFill>
                  <a:srgbClr val="28383E"/>
                </a:solidFill>
                <a:latin typeface="Segoe UI"/>
              </a:rPr>
              <a:t/>
            </a:r>
            <a:r>
              <a:rPr sz="1300" b="1" i="0">
                <a:solidFill>
                  <a:srgbClr val="102730"/>
                </a:solidFill>
                <a:latin typeface="Segoe UI"/>
              </a:rPr>
              <a:t>Hypothesis. </a:t>
            </a:r>
            <a:r>
              <a:rPr sz="1300" b="0" i="1">
                <a:solidFill>
                  <a:srgbClr val="4F6167"/>
                </a:solidFill>
                <a:latin typeface="Segoe UI"/>
              </a:rPr>
              <a:t>Payroll is the strongest reason an existing school expands its usage rather than churning. Multi-branch raises the price but rarely wins the first deal.</a:t>
            </a:r>
          </a:p>
          <a:p>
            <a:pPr>
              <a:lnSpc>
                <a:spcPct val="125000"/>
              </a:lnSpc>
              <a:spcBef>
                <a:spcPts val="0"/>
              </a:spcBef>
              <a:spcAft>
                <a:spcPts val="800"/>
              </a:spcAft>
            </a:pPr>
            <a:r>
              <a:rPr sz="1400" b="0" i="0">
                <a:solidFill>
                  <a:srgbClr val="28383E"/>
                </a:solidFill>
                <a:latin typeface="Segoe UI"/>
              </a:rPr>
              <a:t/>
            </a:r>
            <a:r>
              <a:rPr sz="1300" b="1" i="0">
                <a:solidFill>
                  <a:srgbClr val="102730"/>
                </a:solidFill>
                <a:latin typeface="Segoe UI"/>
              </a:rPr>
              <a:t>How we validate it. </a:t>
            </a:r>
            <a:r>
              <a:rPr sz="1300" b="0" i="1">
                <a:solidFill>
                  <a:srgbClr val="4F6167"/>
                </a:solidFill>
                <a:latin typeface="Segoe UI"/>
              </a:rPr>
              <a:t>One payroll cycle runs end to end at the pilot school, and its accountant accepts the trial balance without re-keying it. A group owner runs two campuses from one login.</a:t>
            </a:r>
          </a:p>
          <a:p>
            <a:pPr>
              <a:lnSpc>
                <a:spcPct val="125000"/>
              </a:lnSpc>
              <a:spcBef>
                <a:spcPts val="0"/>
              </a:spcBef>
              <a:spcAft>
                <a:spcPts val="300"/>
              </a:spcAft>
            </a:pPr>
            <a:r>
              <a:rPr sz="1400" b="0" i="0">
                <a:solidFill>
                  <a:srgbClr val="28383E"/>
                </a:solidFill>
                <a:latin typeface="Segoe UI"/>
              </a:rPr>
              <a:t/>
            </a:r>
            <a:r>
              <a:rPr sz="1300" b="1" i="0">
                <a:solidFill>
                  <a:srgbClr val="102730"/>
                </a:solidFill>
                <a:latin typeface="Segoe UI"/>
              </a:rPr>
              <a:t>Actions: </a:t>
            </a:r>
            <a:r>
              <a:rPr sz="1300" b="0" i="0">
                <a:solidFill>
                  <a:srgbClr val="28383E"/>
                </a:solidFill>
                <a:latin typeface="Segoe UI"/>
              </a:rPr>
              <a:t>Payroll &amp; HR, Accounting, Transport, Operations, Multi-branch</a:t>
            </a:r>
          </a:p>
        </p:txBody>
      </p:sp>
      <p:sp>
        <p:nvSpPr>
          <p:cNvPr id="9" name="TextBox 8"/>
          <p:cNvSpPr txBox="1"/>
          <p:nvPr/>
        </p:nvSpPr>
        <p:spPr>
          <a:xfrm>
            <a:off x="8698687" y="6355080"/>
            <a:ext cx="2926080" cy="310896"/>
          </a:xfrm>
          <a:prstGeom prst="rect">
            <a:avLst/>
          </a:prstGeom>
          <a:noFill/>
        </p:spPr>
        <p:txBody>
          <a:bodyPr wrap="square" lIns="0" rIns="0" tIns="0" bIns="0">
            <a:spAutoFit/>
          </a:bodyPr>
          <a:lstStyle/>
          <a:p>
            <a:pPr algn="r">
              <a:lnSpc>
                <a:spcPct val="122000"/>
              </a:lnSpc>
              <a:spcBef>
                <a:spcPts val="0"/>
              </a:spcBef>
              <a:spcAft>
                <a:spcPts val="500"/>
              </a:spcAft>
            </a:pPr>
            <a:r>
              <a:rPr sz="1050" b="1" i="0">
                <a:solidFill>
                  <a:srgbClr val="4F6167"/>
                </a:solidFill>
                <a:latin typeface="Segoe UI"/>
              </a:rPr>
              <a:t>Roadmap Themes  4 of 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457200"/>
            <a:ext cx="7863840" cy="274320"/>
          </a:xfrm>
          <a:prstGeom prst="rect">
            <a:avLst/>
          </a:prstGeom>
          <a:noFill/>
        </p:spPr>
        <p:txBody>
          <a:bodyPr wrap="square" lIns="0" rIns="0" tIns="0" bIns="0">
            <a:spAutoFit/>
          </a:bodyPr>
          <a:lstStyle/>
          <a:p>
            <a:pPr>
              <a:lnSpc>
                <a:spcPct val="122000"/>
              </a:lnSpc>
              <a:spcBef>
                <a:spcPts val="0"/>
              </a:spcBef>
              <a:spcAft>
                <a:spcPts val="500"/>
              </a:spcAft>
            </a:pPr>
            <a:r>
              <a:rPr sz="1150" b="1" i="0">
                <a:solidFill>
                  <a:srgbClr val="0A6B50"/>
                </a:solidFill>
                <a:latin typeface="Segoe UI"/>
              </a:rPr>
              <a:t>THEME DETAILS  ·  PHASE 1</a:t>
            </a:r>
          </a:p>
        </p:txBody>
      </p:sp>
      <p:sp>
        <p:nvSpPr>
          <p:cNvPr id="5" name="TextBox 4"/>
          <p:cNvSpPr txBox="1"/>
          <p:nvPr/>
        </p:nvSpPr>
        <p:spPr>
          <a:xfrm>
            <a:off x="566928" y="768096"/>
            <a:ext cx="8503920" cy="731520"/>
          </a:xfrm>
          <a:prstGeom prst="rect">
            <a:avLst/>
          </a:prstGeom>
          <a:noFill/>
        </p:spPr>
        <p:txBody>
          <a:bodyPr wrap="square" lIns="0" rIns="0" tIns="0" bIns="0">
            <a:spAutoFit/>
          </a:bodyPr>
          <a:lstStyle/>
          <a:p>
            <a:pPr>
              <a:lnSpc>
                <a:spcPct val="122000"/>
              </a:lnSpc>
              <a:spcBef>
                <a:spcPts val="0"/>
              </a:spcBef>
              <a:spcAft>
                <a:spcPts val="0"/>
              </a:spcAft>
            </a:pPr>
            <a:r>
              <a:rPr sz="3400" b="0" i="0">
                <a:solidFill>
                  <a:srgbClr val="102730"/>
                </a:solidFill>
                <a:latin typeface="Segoe UI"/>
              </a:rPr>
              <a:t>Foundations</a:t>
            </a:r>
          </a:p>
        </p:txBody>
      </p:sp>
      <p:sp>
        <p:nvSpPr>
          <p:cNvPr id="6" name="TextBox 5"/>
          <p:cNvSpPr txBox="1"/>
          <p:nvPr/>
        </p:nvSpPr>
        <p:spPr>
          <a:xfrm>
            <a:off x="566928" y="1699121"/>
            <a:ext cx="11057839" cy="329184"/>
          </a:xfrm>
          <a:prstGeom prst="rect">
            <a:avLst/>
          </a:prstGeom>
          <a:noFill/>
        </p:spPr>
        <p:txBody>
          <a:bodyPr wrap="square" lIns="0" rIns="0" tIns="0" bIns="0">
            <a:spAutoFit/>
          </a:bodyPr>
          <a:lstStyle/>
          <a:p>
            <a:pPr>
              <a:lnSpc>
                <a:spcPct val="122000"/>
              </a:lnSpc>
              <a:spcBef>
                <a:spcPts val="0"/>
              </a:spcBef>
              <a:spcAft>
                <a:spcPts val="500"/>
              </a:spcAft>
            </a:pPr>
            <a:r>
              <a:rPr sz="1300" b="1" i="0">
                <a:solidFill>
                  <a:srgbClr val="10333F"/>
                </a:solidFill>
                <a:latin typeface="Segoe UI"/>
              </a:rPr>
              <a:t>Backend &amp; API  ·  Login &amp; RBAC  ·  Tenancy  ·  Offline</a:t>
            </a:r>
          </a:p>
        </p:txBody>
      </p:sp>
      <p:graphicFrame>
        <p:nvGraphicFramePr>
          <p:cNvPr id="7" name="Table 6"/>
          <p:cNvGraphicFramePr>
            <a:graphicFrameLocks noGrp="1"/>
          </p:cNvGraphicFramePr>
          <p:nvPr/>
        </p:nvGraphicFramePr>
        <p:xfrm>
          <a:off x="566928" y="2156321"/>
          <a:ext cx="11055096" cy="2834640"/>
        </p:xfrm>
        <a:graphic>
          <a:graphicData uri="http://schemas.openxmlformats.org/drawingml/2006/table">
            <a:tbl>
              <a:tblPr firstRow="1" bandRow="1">
                <a:tableStyleId>{5C22544A-7EE6-4342-B048-85BDC9FD1C3A}</a:tableStyleId>
              </a:tblPr>
              <a:tblGrid>
                <a:gridCol w="2651760"/>
                <a:gridCol w="2926080"/>
                <a:gridCol w="3931920"/>
                <a:gridCol w="1545336"/>
              </a:tblGrid>
              <a:tr h="708660">
                <a:tc>
                  <a:txBody>
                    <a:bodyPr/>
                    <a:lstStyle/>
                    <a:p>
                      <a:r>
                        <a:rPr sz="1300" b="1">
                          <a:solidFill>
                            <a:srgbClr val="FFFFFF"/>
                          </a:solidFill>
                          <a:latin typeface="Segoe UI"/>
                        </a:rPr>
                        <a:t>Action</a:t>
                      </a:r>
                    </a:p>
                  </a:txBody>
                  <a:tcPr anchor="ctr" marL="109728" marR="109728">
                    <a:solidFill>
                      <a:srgbClr val="102730"/>
                    </a:solidFill>
                  </a:tcPr>
                </a:tc>
                <a:tc>
                  <a:txBody>
                    <a:bodyPr/>
                    <a:lstStyle/>
                    <a:p>
                      <a:r>
                        <a:rPr sz="1300" b="1">
                          <a:solidFill>
                            <a:srgbClr val="FFFFFF"/>
                          </a:solidFill>
                          <a:latin typeface="Segoe UI"/>
                        </a:rPr>
                        <a:t>Why it matters</a:t>
                      </a:r>
                    </a:p>
                  </a:txBody>
                  <a:tcPr anchor="ctr" marL="109728" marR="109728">
                    <a:solidFill>
                      <a:srgbClr val="102730"/>
                    </a:solidFill>
                  </a:tcPr>
                </a:tc>
                <a:tc>
                  <a:txBody>
                    <a:bodyPr/>
                    <a:lstStyle/>
                    <a:p>
                      <a:r>
                        <a:rPr sz="1300" b="1">
                          <a:solidFill>
                            <a:srgbClr val="FFFFFF"/>
                          </a:solidFill>
                          <a:latin typeface="Segoe UI"/>
                        </a:rPr>
                        <a:t>Milestones (epics)</a:t>
                      </a:r>
                    </a:p>
                  </a:txBody>
                  <a:tcPr anchor="ctr" marL="109728" marR="109728">
                    <a:solidFill>
                      <a:srgbClr val="102730"/>
                    </a:solidFill>
                  </a:tcPr>
                </a:tc>
                <a:tc>
                  <a:txBody>
                    <a:bodyPr/>
                    <a:lstStyle/>
                    <a:p>
                      <a:r>
                        <a:rPr sz="1300" b="1">
                          <a:solidFill>
                            <a:srgbClr val="FFFFFF"/>
                          </a:solidFill>
                          <a:latin typeface="Segoe UI"/>
                        </a:rPr>
                        <a:t>ETA</a:t>
                      </a:r>
                    </a:p>
                  </a:txBody>
                  <a:tcPr anchor="ctr" marL="109728" marR="109728">
                    <a:solidFill>
                      <a:srgbClr val="102730"/>
                    </a:solidFill>
                  </a:tcPr>
                </a:tc>
              </a:tr>
              <a:tr h="708660">
                <a:tc>
                  <a:txBody>
                    <a:bodyPr/>
                    <a:lstStyle/>
                    <a:p>
                      <a:pPr>
                        <a:lnSpc>
                          <a:spcPct val="115000"/>
                        </a:lnSpc>
                        <a:spcAft>
                          <a:spcPts val="300"/>
                        </a:spcAft>
                      </a:pPr>
                      <a:r>
                        <a:rPr sz="1350" b="1">
                          <a:solidFill>
                            <a:srgbClr val="102730"/>
                          </a:solidFill>
                          <a:latin typeface="Segoe UI"/>
                        </a:rPr>
                        <a:t>Production backend and API</a:t>
                      </a:r>
                    </a:p>
                  </a:txBody>
                  <a:tcPr anchor="t" marL="109728" marR="109728" marT="82296" marB="82296">
                    <a:solidFill>
                      <a:srgbClr val="FFFFFF"/>
                    </a:solidFill>
                  </a:tcPr>
                </a:tc>
                <a:tc>
                  <a:txBody>
                    <a:bodyPr/>
                    <a:lstStyle/>
                    <a:p>
                      <a:pPr>
                        <a:lnSpc>
                          <a:spcPct val="115000"/>
                        </a:lnSpc>
                        <a:spcAft>
                          <a:spcPts val="300"/>
                        </a:spcAft>
                      </a:pPr>
                      <a:r>
                        <a:rPr sz="1250" i="1">
                          <a:solidFill>
                            <a:srgbClr val="4F6167"/>
                          </a:solidFill>
                          <a:latin typeface="Segoe UI"/>
                        </a:rPr>
                        <a:t>A school's data belongs on a server the apps and the web can both read.</a:t>
                      </a:r>
                    </a:p>
                  </a:txBody>
                  <a:tcPr anchor="t" marL="109728" marR="109728" marT="82296" marB="82296">
                    <a:solidFill>
                      <a:srgbClr val="FFFFFF"/>
                    </a:solidFill>
                  </a:tcPr>
                </a:tc>
                <a:tc>
                  <a:txBody>
                    <a:bodyPr/>
                    <a:lstStyle/>
                    <a:p>
                      <a:pPr>
                        <a:lnSpc>
                          <a:spcPct val="115000"/>
                        </a:lnSpc>
                        <a:spcAft>
                          <a:spcPts val="300"/>
                        </a:spcAft>
                      </a:pPr>
                      <a:r>
                        <a:rPr sz="1250" b="1" i="0">
                          <a:solidFill>
                            <a:srgbClr val="10333F"/>
                          </a:solidFill>
                          <a:latin typeface="Segoe UI"/>
                        </a:rPr>
                        <a:t>·  </a:t>
                      </a:r>
                      <a:r>
                        <a:rPr sz="1250" b="0" i="0">
                          <a:solidFill>
                            <a:srgbClr val="28383E"/>
                          </a:solidFill>
                          <a:latin typeface="Segoe UI"/>
                        </a:rPr>
                        <a:t>Data model and schema built from the PRD</a:t>
                      </a:r>
                    </a:p>
                    <a:p>
                      <a:pPr>
                        <a:lnSpc>
                          <a:spcPct val="115000"/>
                        </a:lnSpc>
                        <a:spcAft>
                          <a:spcPts val="300"/>
                        </a:spcAft>
                      </a:pPr>
                      <a:r>
                        <a:rPr sz="1250" b="1" i="0">
                          <a:solidFill>
                            <a:srgbClr val="10333F"/>
                          </a:solidFill>
                          <a:latin typeface="Segoe UI"/>
                        </a:rPr>
                        <a:t>·  </a:t>
                      </a:r>
                      <a:r>
                        <a:rPr sz="1250" b="0" i="0">
                          <a:solidFill>
                            <a:srgbClr val="28383E"/>
                          </a:solidFill>
                          <a:latin typeface="Segoe UI"/>
                        </a:rPr>
                        <a:t>REST API with a validation layer, designed for the phone apps to reuse</a:t>
                      </a:r>
                    </a:p>
                    <a:p>
                      <a:pPr>
                        <a:lnSpc>
                          <a:spcPct val="115000"/>
                        </a:lnSpc>
                        <a:spcAft>
                          <a:spcPts val="300"/>
                        </a:spcAft>
                      </a:pPr>
                      <a:r>
                        <a:rPr sz="1250" b="1" i="0">
                          <a:solidFill>
                            <a:srgbClr val="10333F"/>
                          </a:solidFill>
                          <a:latin typeface="Segoe UI"/>
                        </a:rPr>
                        <a:t>·  </a:t>
                      </a:r>
                      <a:r>
                        <a:rPr sz="1250" b="0" i="0">
                          <a:solidFill>
                            <a:srgbClr val="28383E"/>
                          </a:solidFill>
                          <a:latin typeface="Segoe UI"/>
                        </a:rPr>
                        <a:t>A pilot school's records loaded and dogfooded internally</a:t>
                      </a:r>
                    </a:p>
                  </a:txBody>
                  <a:tcPr anchor="t" marL="109728" marR="109728" marT="82296" marB="82296">
                    <a:solidFill>
                      <a:srgbClr val="FFFFFF"/>
                    </a:solidFill>
                  </a:tcPr>
                </a:tc>
                <a:tc>
                  <a:txBody>
                    <a:bodyPr/>
                    <a:lstStyle/>
                    <a:p>
                      <a:pPr>
                        <a:lnSpc>
                          <a:spcPct val="115000"/>
                        </a:lnSpc>
                        <a:spcAft>
                          <a:spcPts val="300"/>
                        </a:spcAft>
                      </a:pPr>
                      <a:r>
                        <a:rPr sz="1300" b="1" i="0">
                          <a:solidFill>
                            <a:srgbClr val="10333F"/>
                          </a:solidFill>
                          <a:latin typeface="Segoe UI"/>
                        </a:rPr>
                        <a:t>Week 1</a:t>
                      </a:r>
                    </a:p>
                    <a:p>
                      <a:pPr>
                        <a:lnSpc>
                          <a:spcPct val="115000"/>
                        </a:lnSpc>
                        <a:spcAft>
                          <a:spcPts val="300"/>
                        </a:spcAft>
                      </a:pPr>
                      <a:r>
                        <a:rPr sz="1150" b="0" i="0">
                          <a:solidFill>
                            <a:srgbClr val="4F6167"/>
                          </a:solidFill>
                          <a:latin typeface="Segoe UI"/>
                        </a:rPr>
                        <a:t>by 7 Aug</a:t>
                      </a:r>
                    </a:p>
                  </a:txBody>
                  <a:tcPr anchor="t" marL="109728" marR="109728" marT="82296" marB="82296">
                    <a:solidFill>
                      <a:srgbClr val="FFFFFF"/>
                    </a:solidFill>
                  </a:tcPr>
                </a:tc>
              </a:tr>
              <a:tr h="708660">
                <a:tc>
                  <a:txBody>
                    <a:bodyPr/>
                    <a:lstStyle/>
                    <a:p>
                      <a:pPr>
                        <a:lnSpc>
                          <a:spcPct val="115000"/>
                        </a:lnSpc>
                        <a:spcAft>
                          <a:spcPts val="300"/>
                        </a:spcAft>
                      </a:pPr>
                      <a:r>
                        <a:rPr sz="1350" b="1">
                          <a:solidFill>
                            <a:srgbClr val="102730"/>
                          </a:solidFill>
                          <a:latin typeface="Segoe UI"/>
                        </a:rPr>
                        <a:t>Unified login and RBAC</a:t>
                      </a:r>
                    </a:p>
                  </a:txBody>
                  <a:tcPr anchor="t" marL="109728" marR="109728" marT="82296" marB="82296">
                    <a:solidFill>
                      <a:srgbClr val="EDF3F1"/>
                    </a:solidFill>
                  </a:tcPr>
                </a:tc>
                <a:tc>
                  <a:txBody>
                    <a:bodyPr/>
                    <a:lstStyle/>
                    <a:p>
                      <a:pPr>
                        <a:lnSpc>
                          <a:spcPct val="115000"/>
                        </a:lnSpc>
                        <a:spcAft>
                          <a:spcPts val="300"/>
                        </a:spcAft>
                      </a:pPr>
                      <a:r>
                        <a:rPr sz="1250" i="1">
                          <a:solidFill>
                            <a:srgbClr val="4F6167"/>
                          </a:solidFill>
                          <a:latin typeface="Segoe UI"/>
                        </a:rPr>
                        <a:t>Seven roles, one front door. Get it wrong and every screen inherits the mistake.</a:t>
                      </a:r>
                    </a:p>
                  </a:txBody>
                  <a:tcPr anchor="t" marL="109728" marR="109728" marT="82296" marB="82296">
                    <a:solidFill>
                      <a:srgbClr val="EDF3F1"/>
                    </a:solidFill>
                  </a:tcPr>
                </a:tc>
                <a:tc>
                  <a:txBody>
                    <a:bodyPr/>
                    <a:lstStyle/>
                    <a:p>
                      <a:pPr>
                        <a:lnSpc>
                          <a:spcPct val="115000"/>
                        </a:lnSpc>
                        <a:spcAft>
                          <a:spcPts val="300"/>
                        </a:spcAft>
                      </a:pPr>
                      <a:r>
                        <a:rPr sz="1250" b="1" i="0">
                          <a:solidFill>
                            <a:srgbClr val="10333F"/>
                          </a:solidFill>
                          <a:latin typeface="Segoe UI"/>
                        </a:rPr>
                        <a:t>·  </a:t>
                      </a:r>
                      <a:r>
                        <a:rPr sz="1250" b="0" i="0">
                          <a:solidFill>
                            <a:srgbClr val="28383E"/>
                          </a:solidFill>
                          <a:latin typeface="Segoe UI"/>
                        </a:rPr>
                        <a:t>Role-aware routing from a single login</a:t>
                      </a:r>
                    </a:p>
                    <a:p>
                      <a:pPr>
                        <a:lnSpc>
                          <a:spcPct val="115000"/>
                        </a:lnSpc>
                        <a:spcAft>
                          <a:spcPts val="300"/>
                        </a:spcAft>
                      </a:pPr>
                      <a:r>
                        <a:rPr sz="1250" b="1" i="0">
                          <a:solidFill>
                            <a:srgbClr val="10333F"/>
                          </a:solidFill>
                          <a:latin typeface="Segoe UI"/>
                        </a:rPr>
                        <a:t>·  </a:t>
                      </a:r>
                      <a:r>
                        <a:rPr sz="1250" b="0" i="0">
                          <a:solidFill>
                            <a:srgbClr val="28383E"/>
                          </a:solidFill>
                          <a:latin typeface="Segoe UI"/>
                        </a:rPr>
                        <a:t>Permissions enforced server-side, not in the interface</a:t>
                      </a:r>
                    </a:p>
                    <a:p>
                      <a:pPr>
                        <a:lnSpc>
                          <a:spcPct val="115000"/>
                        </a:lnSpc>
                        <a:spcAft>
                          <a:spcPts val="300"/>
                        </a:spcAft>
                      </a:pPr>
                      <a:r>
                        <a:rPr sz="1250" b="1" i="0">
                          <a:solidFill>
                            <a:srgbClr val="10333F"/>
                          </a:solidFill>
                          <a:latin typeface="Segoe UI"/>
                        </a:rPr>
                        <a:t>·  </a:t>
                      </a:r>
                      <a:r>
                        <a:rPr sz="1250" b="0" i="0">
                          <a:solidFill>
                            <a:srgbClr val="28383E"/>
                          </a:solidFill>
                          <a:latin typeface="Segoe UI"/>
                        </a:rPr>
                        <a:t>Token-based sessions the apps can use later</a:t>
                      </a:r>
                    </a:p>
                  </a:txBody>
                  <a:tcPr anchor="t" marL="109728" marR="109728" marT="82296" marB="82296">
                    <a:solidFill>
                      <a:srgbClr val="EDF3F1"/>
                    </a:solidFill>
                  </a:tcPr>
                </a:tc>
                <a:tc>
                  <a:txBody>
                    <a:bodyPr/>
                    <a:lstStyle/>
                    <a:p>
                      <a:pPr>
                        <a:lnSpc>
                          <a:spcPct val="115000"/>
                        </a:lnSpc>
                        <a:spcAft>
                          <a:spcPts val="300"/>
                        </a:spcAft>
                      </a:pPr>
                      <a:r>
                        <a:rPr sz="1300" b="1" i="0">
                          <a:solidFill>
                            <a:srgbClr val="10333F"/>
                          </a:solidFill>
                          <a:latin typeface="Segoe UI"/>
                        </a:rPr>
                        <a:t>Week 1</a:t>
                      </a:r>
                    </a:p>
                    <a:p>
                      <a:pPr>
                        <a:lnSpc>
                          <a:spcPct val="115000"/>
                        </a:lnSpc>
                        <a:spcAft>
                          <a:spcPts val="300"/>
                        </a:spcAft>
                      </a:pPr>
                      <a:r>
                        <a:rPr sz="1150" b="0" i="0">
                          <a:solidFill>
                            <a:srgbClr val="4F6167"/>
                          </a:solidFill>
                          <a:latin typeface="Segoe UI"/>
                        </a:rPr>
                        <a:t>by 7 Aug</a:t>
                      </a:r>
                    </a:p>
                  </a:txBody>
                  <a:tcPr anchor="t" marL="109728" marR="109728" marT="82296" marB="82296">
                    <a:solidFill>
                      <a:srgbClr val="EDF3F1"/>
                    </a:solidFill>
                  </a:tcPr>
                </a:tc>
              </a:tr>
              <a:tr h="708660">
                <a:tc>
                  <a:txBody>
                    <a:bodyPr/>
                    <a:lstStyle/>
                    <a:p>
                      <a:pPr>
                        <a:lnSpc>
                          <a:spcPct val="115000"/>
                        </a:lnSpc>
                        <a:spcAft>
                          <a:spcPts val="300"/>
                        </a:spcAft>
                      </a:pPr>
                      <a:r>
                        <a:rPr sz="1350" b="1">
                          <a:solidFill>
                            <a:srgbClr val="102730"/>
                          </a:solidFill>
                          <a:latin typeface="Segoe UI"/>
                        </a:rPr>
                        <a:t>Tenant isolation</a:t>
                      </a:r>
                    </a:p>
                  </a:txBody>
                  <a:tcPr anchor="t" marL="109728" marR="109728" marT="82296" marB="82296">
                    <a:solidFill>
                      <a:srgbClr val="FFFFFF"/>
                    </a:solidFill>
                  </a:tcPr>
                </a:tc>
                <a:tc>
                  <a:txBody>
                    <a:bodyPr/>
                    <a:lstStyle/>
                    <a:p>
                      <a:pPr>
                        <a:lnSpc>
                          <a:spcPct val="115000"/>
                        </a:lnSpc>
                        <a:spcAft>
                          <a:spcPts val="300"/>
                        </a:spcAft>
                      </a:pPr>
                      <a:r>
                        <a:rPr sz="1250" i="1">
                          <a:solidFill>
                            <a:srgbClr val="4F6167"/>
                          </a:solidFill>
                          <a:latin typeface="Segoe UI"/>
                        </a:rPr>
                        <a:t>Complete separation between schools is the assurance every proprietor asks for first.</a:t>
                      </a:r>
                    </a:p>
                  </a:txBody>
                  <a:tcPr anchor="t" marL="109728" marR="109728" marT="82296" marB="82296">
                    <a:solidFill>
                      <a:srgbClr val="FFFFFF"/>
                    </a:solidFill>
                  </a:tcPr>
                </a:tc>
                <a:tc>
                  <a:txBody>
                    <a:bodyPr/>
                    <a:lstStyle/>
                    <a:p>
                      <a:pPr>
                        <a:lnSpc>
                          <a:spcPct val="115000"/>
                        </a:lnSpc>
                        <a:spcAft>
                          <a:spcPts val="300"/>
                        </a:spcAft>
                      </a:pPr>
                      <a:r>
                        <a:rPr sz="1250" b="1" i="0">
                          <a:solidFill>
                            <a:srgbClr val="10333F"/>
                          </a:solidFill>
                          <a:latin typeface="Segoe UI"/>
                        </a:rPr>
                        <a:t>·  </a:t>
                      </a:r>
                      <a:r>
                        <a:rPr sz="1250" b="0" i="0">
                          <a:solidFill>
                            <a:srgbClr val="28383E"/>
                          </a:solidFill>
                          <a:latin typeface="Segoe UI"/>
                        </a:rPr>
                        <a:t>School scoping enforced on every read and write</a:t>
                      </a:r>
                    </a:p>
                    <a:p>
                      <a:pPr>
                        <a:lnSpc>
                          <a:spcPct val="115000"/>
                        </a:lnSpc>
                        <a:spcAft>
                          <a:spcPts val="300"/>
                        </a:spcAft>
                      </a:pPr>
                      <a:r>
                        <a:rPr sz="1250" b="1" i="0">
                          <a:solidFill>
                            <a:srgbClr val="10333F"/>
                          </a:solidFill>
                          <a:latin typeface="Segoe UI"/>
                        </a:rPr>
                        <a:t>·  </a:t>
                      </a:r>
                      <a:r>
                        <a:rPr sz="1250" b="0" i="0">
                          <a:solidFill>
                            <a:srgbClr val="28383E"/>
                          </a:solidFill>
                          <a:latin typeface="Segoe UI"/>
                        </a:rPr>
                        <a:t>Automated isolation tests in the build</a:t>
                      </a:r>
                    </a:p>
                  </a:txBody>
                  <a:tcPr anchor="t" marL="109728" marR="109728" marT="82296" marB="82296">
                    <a:solidFill>
                      <a:srgbClr val="FFFFFF"/>
                    </a:solidFill>
                  </a:tcPr>
                </a:tc>
                <a:tc>
                  <a:txBody>
                    <a:bodyPr/>
                    <a:lstStyle/>
                    <a:p>
                      <a:pPr>
                        <a:lnSpc>
                          <a:spcPct val="115000"/>
                        </a:lnSpc>
                        <a:spcAft>
                          <a:spcPts val="300"/>
                        </a:spcAft>
                      </a:pPr>
                      <a:r>
                        <a:rPr sz="1300" b="1" i="0">
                          <a:solidFill>
                            <a:srgbClr val="10333F"/>
                          </a:solidFill>
                          <a:latin typeface="Segoe UI"/>
                        </a:rPr>
                        <a:t>Weeks 1-2</a:t>
                      </a:r>
                    </a:p>
                    <a:p>
                      <a:pPr>
                        <a:lnSpc>
                          <a:spcPct val="115000"/>
                        </a:lnSpc>
                        <a:spcAft>
                          <a:spcPts val="300"/>
                        </a:spcAft>
                      </a:pPr>
                      <a:r>
                        <a:rPr sz="1150" b="0" i="0">
                          <a:solidFill>
                            <a:srgbClr val="4F6167"/>
                          </a:solidFill>
                          <a:latin typeface="Segoe UI"/>
                        </a:rPr>
                        <a:t>by 14 Aug</a:t>
                      </a:r>
                    </a:p>
                  </a:txBody>
                  <a:tcPr anchor="t" marL="109728" marR="109728" marT="82296" marB="82296">
                    <a:solidFill>
                      <a:srgbClr val="FFFFFF"/>
                    </a:solidFill>
                  </a:tcPr>
                </a:tc>
              </a:tr>
            </a:tbl>
          </a:graphicData>
        </a:graphic>
      </p:graphicFrame>
      <p:sp>
        <p:nvSpPr>
          <p:cNvPr id="8" name="TextBox 7"/>
          <p:cNvSpPr txBox="1"/>
          <p:nvPr/>
        </p:nvSpPr>
        <p:spPr>
          <a:xfrm>
            <a:off x="566928" y="6355080"/>
            <a:ext cx="8131759" cy="310896"/>
          </a:xfrm>
          <a:prstGeom prst="rect">
            <a:avLst/>
          </a:prstGeom>
          <a:noFill/>
        </p:spPr>
        <p:txBody>
          <a:bodyPr wrap="square" lIns="0" rIns="0" tIns="0" bIns="0">
            <a:spAutoFit/>
          </a:bodyPr>
          <a:lstStyle/>
          <a:p>
            <a:pPr>
              <a:lnSpc>
                <a:spcPct val="122000"/>
              </a:lnSpc>
              <a:spcBef>
                <a:spcPts val="0"/>
              </a:spcBef>
              <a:spcAft>
                <a:spcPts val="500"/>
              </a:spcAft>
            </a:pPr>
            <a:r>
              <a:rPr sz="1050" b="0" i="1">
                <a:solidFill>
                  <a:srgbClr val="4F6167"/>
                </a:solidFill>
                <a:latin typeface="Segoe UI"/>
              </a:rPr>
              <a:t>Done means tenant-scoped, role-correct, all states handled, responsive, audited, offline-tolerant, acceptance criteria signed off.</a:t>
            </a:r>
          </a:p>
        </p:txBody>
      </p:sp>
      <p:sp>
        <p:nvSpPr>
          <p:cNvPr id="9" name="TextBox 8"/>
          <p:cNvSpPr txBox="1"/>
          <p:nvPr/>
        </p:nvSpPr>
        <p:spPr>
          <a:xfrm>
            <a:off x="8698687" y="6355080"/>
            <a:ext cx="2926080" cy="310896"/>
          </a:xfrm>
          <a:prstGeom prst="rect">
            <a:avLst/>
          </a:prstGeom>
          <a:noFill/>
        </p:spPr>
        <p:txBody>
          <a:bodyPr wrap="square" lIns="0" rIns="0" tIns="0" bIns="0">
            <a:spAutoFit/>
          </a:bodyPr>
          <a:lstStyle/>
          <a:p>
            <a:pPr algn="r">
              <a:lnSpc>
                <a:spcPct val="122000"/>
              </a:lnSpc>
              <a:spcBef>
                <a:spcPts val="0"/>
              </a:spcBef>
              <a:spcAft>
                <a:spcPts val="500"/>
              </a:spcAft>
            </a:pPr>
            <a:r>
              <a:rPr sz="1050" b="1" i="0">
                <a:solidFill>
                  <a:srgbClr val="4F6167"/>
                </a:solidFill>
                <a:latin typeface="Segoe UI"/>
              </a:rPr>
              <a:t>Foundations  1 of 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457200"/>
            <a:ext cx="7863840" cy="274320"/>
          </a:xfrm>
          <a:prstGeom prst="rect">
            <a:avLst/>
          </a:prstGeom>
          <a:noFill/>
        </p:spPr>
        <p:txBody>
          <a:bodyPr wrap="square" lIns="0" rIns="0" tIns="0" bIns="0">
            <a:spAutoFit/>
          </a:bodyPr>
          <a:lstStyle/>
          <a:p>
            <a:pPr>
              <a:lnSpc>
                <a:spcPct val="122000"/>
              </a:lnSpc>
              <a:spcBef>
                <a:spcPts val="0"/>
              </a:spcBef>
              <a:spcAft>
                <a:spcPts val="500"/>
              </a:spcAft>
            </a:pPr>
            <a:r>
              <a:rPr sz="1150" b="1" i="0">
                <a:solidFill>
                  <a:srgbClr val="0A6B50"/>
                </a:solidFill>
                <a:latin typeface="Segoe UI"/>
              </a:rPr>
              <a:t>THEME DETAILS  ·  PHASE 1</a:t>
            </a:r>
          </a:p>
        </p:txBody>
      </p:sp>
      <p:sp>
        <p:nvSpPr>
          <p:cNvPr id="5" name="TextBox 4"/>
          <p:cNvSpPr txBox="1"/>
          <p:nvPr/>
        </p:nvSpPr>
        <p:spPr>
          <a:xfrm>
            <a:off x="566928" y="768096"/>
            <a:ext cx="8503920" cy="731520"/>
          </a:xfrm>
          <a:prstGeom prst="rect">
            <a:avLst/>
          </a:prstGeom>
          <a:noFill/>
        </p:spPr>
        <p:txBody>
          <a:bodyPr wrap="square" lIns="0" rIns="0" tIns="0" bIns="0">
            <a:spAutoFit/>
          </a:bodyPr>
          <a:lstStyle/>
          <a:p>
            <a:pPr>
              <a:lnSpc>
                <a:spcPct val="122000"/>
              </a:lnSpc>
              <a:spcBef>
                <a:spcPts val="0"/>
              </a:spcBef>
              <a:spcAft>
                <a:spcPts val="0"/>
              </a:spcAft>
            </a:pPr>
            <a:r>
              <a:rPr sz="3400" b="0" i="0">
                <a:solidFill>
                  <a:srgbClr val="102730"/>
                </a:solidFill>
                <a:latin typeface="Segoe UI"/>
              </a:rPr>
              <a:t>Foundations</a:t>
            </a:r>
          </a:p>
        </p:txBody>
      </p:sp>
      <p:sp>
        <p:nvSpPr>
          <p:cNvPr id="6" name="TextBox 5"/>
          <p:cNvSpPr txBox="1"/>
          <p:nvPr/>
        </p:nvSpPr>
        <p:spPr>
          <a:xfrm>
            <a:off x="566928" y="1699121"/>
            <a:ext cx="11057839" cy="329184"/>
          </a:xfrm>
          <a:prstGeom prst="rect">
            <a:avLst/>
          </a:prstGeom>
          <a:noFill/>
        </p:spPr>
        <p:txBody>
          <a:bodyPr wrap="square" lIns="0" rIns="0" tIns="0" bIns="0">
            <a:spAutoFit/>
          </a:bodyPr>
          <a:lstStyle/>
          <a:p>
            <a:pPr>
              <a:lnSpc>
                <a:spcPct val="122000"/>
              </a:lnSpc>
              <a:spcBef>
                <a:spcPts val="0"/>
              </a:spcBef>
              <a:spcAft>
                <a:spcPts val="500"/>
              </a:spcAft>
            </a:pPr>
            <a:r>
              <a:rPr sz="1300" b="1" i="0">
                <a:solidFill>
                  <a:srgbClr val="10333F"/>
                </a:solidFill>
                <a:latin typeface="Segoe UI"/>
              </a:rPr>
              <a:t>Backend &amp; API  ·  Login &amp; RBAC  ·  Tenancy  ·  Offline</a:t>
            </a:r>
          </a:p>
        </p:txBody>
      </p:sp>
      <p:graphicFrame>
        <p:nvGraphicFramePr>
          <p:cNvPr id="7" name="Table 6"/>
          <p:cNvGraphicFramePr>
            <a:graphicFrameLocks noGrp="1"/>
          </p:cNvGraphicFramePr>
          <p:nvPr/>
        </p:nvGraphicFramePr>
        <p:xfrm>
          <a:off x="566928" y="2156321"/>
          <a:ext cx="11055096" cy="2834640"/>
        </p:xfrm>
        <a:graphic>
          <a:graphicData uri="http://schemas.openxmlformats.org/drawingml/2006/table">
            <a:tbl>
              <a:tblPr firstRow="1" bandRow="1">
                <a:tableStyleId>{5C22544A-7EE6-4342-B048-85BDC9FD1C3A}</a:tableStyleId>
              </a:tblPr>
              <a:tblGrid>
                <a:gridCol w="2651760"/>
                <a:gridCol w="2926080"/>
                <a:gridCol w="3931920"/>
                <a:gridCol w="1545336"/>
              </a:tblGrid>
              <a:tr h="1417320">
                <a:tc>
                  <a:txBody>
                    <a:bodyPr/>
                    <a:lstStyle/>
                    <a:p>
                      <a:r>
                        <a:rPr sz="1300" b="1">
                          <a:solidFill>
                            <a:srgbClr val="FFFFFF"/>
                          </a:solidFill>
                          <a:latin typeface="Segoe UI"/>
                        </a:rPr>
                        <a:t>Action</a:t>
                      </a:r>
                    </a:p>
                  </a:txBody>
                  <a:tcPr anchor="ctr" marL="109728" marR="109728">
                    <a:solidFill>
                      <a:srgbClr val="102730"/>
                    </a:solidFill>
                  </a:tcPr>
                </a:tc>
                <a:tc>
                  <a:txBody>
                    <a:bodyPr/>
                    <a:lstStyle/>
                    <a:p>
                      <a:r>
                        <a:rPr sz="1300" b="1">
                          <a:solidFill>
                            <a:srgbClr val="FFFFFF"/>
                          </a:solidFill>
                          <a:latin typeface="Segoe UI"/>
                        </a:rPr>
                        <a:t>Why it matters</a:t>
                      </a:r>
                    </a:p>
                  </a:txBody>
                  <a:tcPr anchor="ctr" marL="109728" marR="109728">
                    <a:solidFill>
                      <a:srgbClr val="102730"/>
                    </a:solidFill>
                  </a:tcPr>
                </a:tc>
                <a:tc>
                  <a:txBody>
                    <a:bodyPr/>
                    <a:lstStyle/>
                    <a:p>
                      <a:r>
                        <a:rPr sz="1300" b="1">
                          <a:solidFill>
                            <a:srgbClr val="FFFFFF"/>
                          </a:solidFill>
                          <a:latin typeface="Segoe UI"/>
                        </a:rPr>
                        <a:t>Milestones (epics)</a:t>
                      </a:r>
                    </a:p>
                  </a:txBody>
                  <a:tcPr anchor="ctr" marL="109728" marR="109728">
                    <a:solidFill>
                      <a:srgbClr val="102730"/>
                    </a:solidFill>
                  </a:tcPr>
                </a:tc>
                <a:tc>
                  <a:txBody>
                    <a:bodyPr/>
                    <a:lstStyle/>
                    <a:p>
                      <a:r>
                        <a:rPr sz="1300" b="1">
                          <a:solidFill>
                            <a:srgbClr val="FFFFFF"/>
                          </a:solidFill>
                          <a:latin typeface="Segoe UI"/>
                        </a:rPr>
                        <a:t>ETA</a:t>
                      </a:r>
                    </a:p>
                  </a:txBody>
                  <a:tcPr anchor="ctr" marL="109728" marR="109728">
                    <a:solidFill>
                      <a:srgbClr val="102730"/>
                    </a:solidFill>
                  </a:tcPr>
                </a:tc>
              </a:tr>
              <a:tr h="1417320">
                <a:tc>
                  <a:txBody>
                    <a:bodyPr/>
                    <a:lstStyle/>
                    <a:p>
                      <a:pPr>
                        <a:lnSpc>
                          <a:spcPct val="115000"/>
                        </a:lnSpc>
                        <a:spcAft>
                          <a:spcPts val="300"/>
                        </a:spcAft>
                      </a:pPr>
                      <a:r>
                        <a:rPr sz="1350" b="1">
                          <a:solidFill>
                            <a:srgbClr val="102730"/>
                          </a:solidFill>
                          <a:latin typeface="Segoe UI"/>
                        </a:rPr>
                        <a:t>Offline-first behaviour</a:t>
                      </a:r>
                    </a:p>
                  </a:txBody>
                  <a:tcPr anchor="t" marL="109728" marR="109728" marT="82296" marB="82296">
                    <a:solidFill>
                      <a:srgbClr val="FFFFFF"/>
                    </a:solidFill>
                  </a:tcPr>
                </a:tc>
                <a:tc>
                  <a:txBody>
                    <a:bodyPr/>
                    <a:lstStyle/>
                    <a:p>
                      <a:pPr>
                        <a:lnSpc>
                          <a:spcPct val="115000"/>
                        </a:lnSpc>
                        <a:spcAft>
                          <a:spcPts val="300"/>
                        </a:spcAft>
                      </a:pPr>
                      <a:r>
                        <a:rPr sz="1250" i="1">
                          <a:solidFill>
                            <a:srgbClr val="4F6167"/>
                          </a:solidFill>
                          <a:latin typeface="Segoe UI"/>
                        </a:rPr>
                        <a:t>Registers get marked in classrooms with no signal, so the app has to work without one.</a:t>
                      </a:r>
                    </a:p>
                  </a:txBody>
                  <a:tcPr anchor="t" marL="109728" marR="109728" marT="82296" marB="82296">
                    <a:solidFill>
                      <a:srgbClr val="FFFFFF"/>
                    </a:solidFill>
                  </a:tcPr>
                </a:tc>
                <a:tc>
                  <a:txBody>
                    <a:bodyPr/>
                    <a:lstStyle/>
                    <a:p>
                      <a:pPr>
                        <a:lnSpc>
                          <a:spcPct val="115000"/>
                        </a:lnSpc>
                        <a:spcAft>
                          <a:spcPts val="300"/>
                        </a:spcAft>
                      </a:pPr>
                      <a:r>
                        <a:rPr sz="1250" b="1" i="0">
                          <a:solidFill>
                            <a:srgbClr val="10333F"/>
                          </a:solidFill>
                          <a:latin typeface="Segoe UI"/>
                        </a:rPr>
                        <a:t>·  </a:t>
                      </a:r>
                      <a:r>
                        <a:rPr sz="1250" b="0" i="0">
                          <a:solidFill>
                            <a:srgbClr val="28383E"/>
                          </a:solidFill>
                          <a:latin typeface="Segoe UI"/>
                        </a:rPr>
                        <a:t>Installable app, offline reads</a:t>
                      </a:r>
                    </a:p>
                    <a:p>
                      <a:pPr>
                        <a:lnSpc>
                          <a:spcPct val="115000"/>
                        </a:lnSpc>
                        <a:spcAft>
                          <a:spcPts val="300"/>
                        </a:spcAft>
                      </a:pPr>
                      <a:r>
                        <a:rPr sz="1250" b="1" i="0">
                          <a:solidFill>
                            <a:srgbClr val="10333F"/>
                          </a:solidFill>
                          <a:latin typeface="Segoe UI"/>
                        </a:rPr>
                        <a:t>·  </a:t>
                      </a:r>
                      <a:r>
                        <a:rPr sz="1250" b="0" i="0">
                          <a:solidFill>
                            <a:srgbClr val="28383E"/>
                          </a:solidFill>
                          <a:latin typeface="Segoe UI"/>
                        </a:rPr>
                        <a:t>Register and results queue, then sync on reconnect</a:t>
                      </a:r>
                    </a:p>
                  </a:txBody>
                  <a:tcPr anchor="t" marL="109728" marR="109728" marT="82296" marB="82296">
                    <a:solidFill>
                      <a:srgbClr val="FFFFFF"/>
                    </a:solidFill>
                  </a:tcPr>
                </a:tc>
                <a:tc>
                  <a:txBody>
                    <a:bodyPr/>
                    <a:lstStyle/>
                    <a:p>
                      <a:pPr>
                        <a:lnSpc>
                          <a:spcPct val="115000"/>
                        </a:lnSpc>
                        <a:spcAft>
                          <a:spcPts val="300"/>
                        </a:spcAft>
                      </a:pPr>
                      <a:r>
                        <a:rPr sz="1300" b="1" i="0">
                          <a:solidFill>
                            <a:srgbClr val="10333F"/>
                          </a:solidFill>
                          <a:latin typeface="Segoe UI"/>
                        </a:rPr>
                        <a:t>Week 2</a:t>
                      </a:r>
                    </a:p>
                    <a:p>
                      <a:pPr>
                        <a:lnSpc>
                          <a:spcPct val="115000"/>
                        </a:lnSpc>
                        <a:spcAft>
                          <a:spcPts val="300"/>
                        </a:spcAft>
                      </a:pPr>
                      <a:r>
                        <a:rPr sz="1150" b="0" i="0">
                          <a:solidFill>
                            <a:srgbClr val="4F6167"/>
                          </a:solidFill>
                          <a:latin typeface="Segoe UI"/>
                        </a:rPr>
                        <a:t>by 14 Aug</a:t>
                      </a:r>
                    </a:p>
                  </a:txBody>
                  <a:tcPr anchor="t" marL="109728" marR="109728" marT="82296" marB="82296">
                    <a:solidFill>
                      <a:srgbClr val="FFFFFF"/>
                    </a:solidFill>
                  </a:tcPr>
                </a:tc>
              </a:tr>
            </a:tbl>
          </a:graphicData>
        </a:graphic>
      </p:graphicFrame>
      <p:sp>
        <p:nvSpPr>
          <p:cNvPr id="8" name="TextBox 7"/>
          <p:cNvSpPr txBox="1"/>
          <p:nvPr/>
        </p:nvSpPr>
        <p:spPr>
          <a:xfrm>
            <a:off x="566928" y="6355080"/>
            <a:ext cx="8131759" cy="310896"/>
          </a:xfrm>
          <a:prstGeom prst="rect">
            <a:avLst/>
          </a:prstGeom>
          <a:noFill/>
        </p:spPr>
        <p:txBody>
          <a:bodyPr wrap="square" lIns="0" rIns="0" tIns="0" bIns="0">
            <a:spAutoFit/>
          </a:bodyPr>
          <a:lstStyle/>
          <a:p>
            <a:pPr>
              <a:lnSpc>
                <a:spcPct val="122000"/>
              </a:lnSpc>
              <a:spcBef>
                <a:spcPts val="0"/>
              </a:spcBef>
              <a:spcAft>
                <a:spcPts val="500"/>
              </a:spcAft>
            </a:pPr>
            <a:r>
              <a:rPr sz="1050" b="0" i="1">
                <a:solidFill>
                  <a:srgbClr val="4F6167"/>
                </a:solidFill>
                <a:latin typeface="Segoe UI"/>
              </a:rPr>
              <a:t>Done means tenant-scoped, role-correct, all states handled, responsive, audited, offline-tolerant, acceptance criteria signed off.</a:t>
            </a:r>
          </a:p>
        </p:txBody>
      </p:sp>
      <p:sp>
        <p:nvSpPr>
          <p:cNvPr id="9" name="TextBox 8"/>
          <p:cNvSpPr txBox="1"/>
          <p:nvPr/>
        </p:nvSpPr>
        <p:spPr>
          <a:xfrm>
            <a:off x="8698687" y="6355080"/>
            <a:ext cx="2926080" cy="310896"/>
          </a:xfrm>
          <a:prstGeom prst="rect">
            <a:avLst/>
          </a:prstGeom>
          <a:noFill/>
        </p:spPr>
        <p:txBody>
          <a:bodyPr wrap="square" lIns="0" rIns="0" tIns="0" bIns="0">
            <a:spAutoFit/>
          </a:bodyPr>
          <a:lstStyle/>
          <a:p>
            <a:pPr algn="r">
              <a:lnSpc>
                <a:spcPct val="122000"/>
              </a:lnSpc>
              <a:spcBef>
                <a:spcPts val="0"/>
              </a:spcBef>
              <a:spcAft>
                <a:spcPts val="500"/>
              </a:spcAft>
            </a:pPr>
            <a:r>
              <a:rPr sz="1050" b="1" i="0">
                <a:solidFill>
                  <a:srgbClr val="4F6167"/>
                </a:solidFill>
                <a:latin typeface="Segoe UI"/>
              </a:rPr>
              <a:t>Foundations  2 of 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457200"/>
            <a:ext cx="7863840" cy="274320"/>
          </a:xfrm>
          <a:prstGeom prst="rect">
            <a:avLst/>
          </a:prstGeom>
          <a:noFill/>
        </p:spPr>
        <p:txBody>
          <a:bodyPr wrap="square" lIns="0" rIns="0" tIns="0" bIns="0">
            <a:spAutoFit/>
          </a:bodyPr>
          <a:lstStyle/>
          <a:p>
            <a:pPr>
              <a:lnSpc>
                <a:spcPct val="122000"/>
              </a:lnSpc>
              <a:spcBef>
                <a:spcPts val="0"/>
              </a:spcBef>
              <a:spcAft>
                <a:spcPts val="500"/>
              </a:spcAft>
            </a:pPr>
            <a:r>
              <a:rPr sz="1150" b="1" i="0">
                <a:solidFill>
                  <a:srgbClr val="0A6B50"/>
                </a:solidFill>
                <a:latin typeface="Segoe UI"/>
              </a:rPr>
              <a:t>THEME DETAILS  ·  PHASE 1</a:t>
            </a:r>
          </a:p>
        </p:txBody>
      </p:sp>
      <p:sp>
        <p:nvSpPr>
          <p:cNvPr id="5" name="TextBox 4"/>
          <p:cNvSpPr txBox="1"/>
          <p:nvPr/>
        </p:nvSpPr>
        <p:spPr>
          <a:xfrm>
            <a:off x="566928" y="768096"/>
            <a:ext cx="8503920" cy="731520"/>
          </a:xfrm>
          <a:prstGeom prst="rect">
            <a:avLst/>
          </a:prstGeom>
          <a:noFill/>
        </p:spPr>
        <p:txBody>
          <a:bodyPr wrap="square" lIns="0" rIns="0" tIns="0" bIns="0">
            <a:spAutoFit/>
          </a:bodyPr>
          <a:lstStyle/>
          <a:p>
            <a:pPr>
              <a:lnSpc>
                <a:spcPct val="122000"/>
              </a:lnSpc>
              <a:spcBef>
                <a:spcPts val="0"/>
              </a:spcBef>
              <a:spcAft>
                <a:spcPts val="0"/>
              </a:spcAft>
            </a:pPr>
            <a:r>
              <a:rPr sz="3400" b="0" i="0">
                <a:solidFill>
                  <a:srgbClr val="102730"/>
                </a:solidFill>
                <a:latin typeface="Segoe UI"/>
              </a:rPr>
              <a:t>The school day</a:t>
            </a:r>
          </a:p>
        </p:txBody>
      </p:sp>
      <p:sp>
        <p:nvSpPr>
          <p:cNvPr id="6" name="TextBox 5"/>
          <p:cNvSpPr txBox="1"/>
          <p:nvPr/>
        </p:nvSpPr>
        <p:spPr>
          <a:xfrm>
            <a:off x="566928" y="1699121"/>
            <a:ext cx="11057839" cy="329184"/>
          </a:xfrm>
          <a:prstGeom prst="rect">
            <a:avLst/>
          </a:prstGeom>
          <a:noFill/>
        </p:spPr>
        <p:txBody>
          <a:bodyPr wrap="square" lIns="0" rIns="0" tIns="0" bIns="0">
            <a:spAutoFit/>
          </a:bodyPr>
          <a:lstStyle/>
          <a:p>
            <a:pPr>
              <a:lnSpc>
                <a:spcPct val="122000"/>
              </a:lnSpc>
              <a:spcBef>
                <a:spcPts val="0"/>
              </a:spcBef>
              <a:spcAft>
                <a:spcPts val="500"/>
              </a:spcAft>
            </a:pPr>
            <a:r>
              <a:rPr sz="1300" b="1" i="0">
                <a:solidFill>
                  <a:srgbClr val="0E9E76"/>
                </a:solidFill>
                <a:latin typeface="Segoe UI"/>
              </a:rPr>
              <a:t>Students  ·  Admissions  ·  Timetable  ·  Register  ·  Results</a:t>
            </a:r>
          </a:p>
        </p:txBody>
      </p:sp>
      <p:graphicFrame>
        <p:nvGraphicFramePr>
          <p:cNvPr id="7" name="Table 6"/>
          <p:cNvGraphicFramePr>
            <a:graphicFrameLocks noGrp="1"/>
          </p:cNvGraphicFramePr>
          <p:nvPr/>
        </p:nvGraphicFramePr>
        <p:xfrm>
          <a:off x="566928" y="2156321"/>
          <a:ext cx="11055096" cy="2834640"/>
        </p:xfrm>
        <a:graphic>
          <a:graphicData uri="http://schemas.openxmlformats.org/drawingml/2006/table">
            <a:tbl>
              <a:tblPr firstRow="1" bandRow="1">
                <a:tableStyleId>{5C22544A-7EE6-4342-B048-85BDC9FD1C3A}</a:tableStyleId>
              </a:tblPr>
              <a:tblGrid>
                <a:gridCol w="2651760"/>
                <a:gridCol w="2926080"/>
                <a:gridCol w="3931920"/>
                <a:gridCol w="1545336"/>
              </a:tblGrid>
              <a:tr h="708660">
                <a:tc>
                  <a:txBody>
                    <a:bodyPr/>
                    <a:lstStyle/>
                    <a:p>
                      <a:r>
                        <a:rPr sz="1300" b="1">
                          <a:solidFill>
                            <a:srgbClr val="FFFFFF"/>
                          </a:solidFill>
                          <a:latin typeface="Segoe UI"/>
                        </a:rPr>
                        <a:t>Action</a:t>
                      </a:r>
                    </a:p>
                  </a:txBody>
                  <a:tcPr anchor="ctr" marL="109728" marR="109728">
                    <a:solidFill>
                      <a:srgbClr val="102730"/>
                    </a:solidFill>
                  </a:tcPr>
                </a:tc>
                <a:tc>
                  <a:txBody>
                    <a:bodyPr/>
                    <a:lstStyle/>
                    <a:p>
                      <a:r>
                        <a:rPr sz="1300" b="1">
                          <a:solidFill>
                            <a:srgbClr val="FFFFFF"/>
                          </a:solidFill>
                          <a:latin typeface="Segoe UI"/>
                        </a:rPr>
                        <a:t>Why it matters</a:t>
                      </a:r>
                    </a:p>
                  </a:txBody>
                  <a:tcPr anchor="ctr" marL="109728" marR="109728">
                    <a:solidFill>
                      <a:srgbClr val="102730"/>
                    </a:solidFill>
                  </a:tcPr>
                </a:tc>
                <a:tc>
                  <a:txBody>
                    <a:bodyPr/>
                    <a:lstStyle/>
                    <a:p>
                      <a:r>
                        <a:rPr sz="1300" b="1">
                          <a:solidFill>
                            <a:srgbClr val="FFFFFF"/>
                          </a:solidFill>
                          <a:latin typeface="Segoe UI"/>
                        </a:rPr>
                        <a:t>Milestones (epics)</a:t>
                      </a:r>
                    </a:p>
                  </a:txBody>
                  <a:tcPr anchor="ctr" marL="109728" marR="109728">
                    <a:solidFill>
                      <a:srgbClr val="102730"/>
                    </a:solidFill>
                  </a:tcPr>
                </a:tc>
                <a:tc>
                  <a:txBody>
                    <a:bodyPr/>
                    <a:lstStyle/>
                    <a:p>
                      <a:r>
                        <a:rPr sz="1300" b="1">
                          <a:solidFill>
                            <a:srgbClr val="FFFFFF"/>
                          </a:solidFill>
                          <a:latin typeface="Segoe UI"/>
                        </a:rPr>
                        <a:t>ETA</a:t>
                      </a:r>
                    </a:p>
                  </a:txBody>
                  <a:tcPr anchor="ctr" marL="109728" marR="109728">
                    <a:solidFill>
                      <a:srgbClr val="102730"/>
                    </a:solidFill>
                  </a:tcPr>
                </a:tc>
              </a:tr>
              <a:tr h="708660">
                <a:tc>
                  <a:txBody>
                    <a:bodyPr/>
                    <a:lstStyle/>
                    <a:p>
                      <a:pPr>
                        <a:lnSpc>
                          <a:spcPct val="115000"/>
                        </a:lnSpc>
                        <a:spcAft>
                          <a:spcPts val="300"/>
                        </a:spcAft>
                      </a:pPr>
                      <a:r>
                        <a:rPr sz="1350" b="1">
                          <a:solidFill>
                            <a:srgbClr val="102730"/>
                          </a:solidFill>
                          <a:latin typeface="Segoe UI"/>
                        </a:rPr>
                        <a:t>Students and admissions</a:t>
                      </a:r>
                    </a:p>
                  </a:txBody>
                  <a:tcPr anchor="t" marL="109728" marR="109728" marT="82296" marB="82296">
                    <a:solidFill>
                      <a:srgbClr val="FFFFFF"/>
                    </a:solidFill>
                  </a:tcPr>
                </a:tc>
                <a:tc>
                  <a:txBody>
                    <a:bodyPr/>
                    <a:lstStyle/>
                    <a:p>
                      <a:pPr>
                        <a:lnSpc>
                          <a:spcPct val="115000"/>
                        </a:lnSpc>
                        <a:spcAft>
                          <a:spcPts val="300"/>
                        </a:spcAft>
                      </a:pPr>
                      <a:r>
                        <a:rPr sz="1250" i="1">
                          <a:solidFill>
                            <a:srgbClr val="4F6167"/>
                          </a:solidFill>
                          <a:latin typeface="Segoe UI"/>
                        </a:rPr>
                        <a:t>Every other module reads the student record, so it is the first thing built.</a:t>
                      </a:r>
                    </a:p>
                  </a:txBody>
                  <a:tcPr anchor="t" marL="109728" marR="109728" marT="82296" marB="82296">
                    <a:solidFill>
                      <a:srgbClr val="FFFFFF"/>
                    </a:solidFill>
                  </a:tcPr>
                </a:tc>
                <a:tc>
                  <a:txBody>
                    <a:bodyPr/>
                    <a:lstStyle/>
                    <a:p>
                      <a:pPr>
                        <a:lnSpc>
                          <a:spcPct val="115000"/>
                        </a:lnSpc>
                        <a:spcAft>
                          <a:spcPts val="300"/>
                        </a:spcAft>
                      </a:pPr>
                      <a:r>
                        <a:rPr sz="1250" b="1" i="0">
                          <a:solidFill>
                            <a:srgbClr val="0E9E76"/>
                          </a:solidFill>
                          <a:latin typeface="Segoe UI"/>
                        </a:rPr>
                        <a:t>·  </a:t>
                      </a:r>
                      <a:r>
                        <a:rPr sz="1250" b="0" i="0">
                          <a:solidFill>
                            <a:srgbClr val="28383E"/>
                          </a:solidFill>
                          <a:latin typeface="Segoe UI"/>
                        </a:rPr>
                        <a:t>Enrolment, bulk CSV import, online applications</a:t>
                      </a:r>
                    </a:p>
                    <a:p>
                      <a:pPr>
                        <a:lnSpc>
                          <a:spcPct val="115000"/>
                        </a:lnSpc>
                        <a:spcAft>
                          <a:spcPts val="300"/>
                        </a:spcAft>
                      </a:pPr>
                      <a:r>
                        <a:rPr sz="1250" b="1" i="0">
                          <a:solidFill>
                            <a:srgbClr val="0E9E76"/>
                          </a:solidFill>
                          <a:latin typeface="Segoe UI"/>
                        </a:rPr>
                        <a:t>·  </a:t>
                      </a:r>
                      <a:r>
                        <a:rPr sz="1250" b="0" i="0">
                          <a:solidFill>
                            <a:srgbClr val="28383E"/>
                          </a:solidFill>
                          <a:latin typeface="Segoe UI"/>
                        </a:rPr>
                        <a:t>Promotion between classes and sessions</a:t>
                      </a:r>
                    </a:p>
                  </a:txBody>
                  <a:tcPr anchor="t" marL="109728" marR="109728" marT="82296" marB="82296">
                    <a:solidFill>
                      <a:srgbClr val="FFFFFF"/>
                    </a:solidFill>
                  </a:tcPr>
                </a:tc>
                <a:tc>
                  <a:txBody>
                    <a:bodyPr/>
                    <a:lstStyle/>
                    <a:p>
                      <a:pPr>
                        <a:lnSpc>
                          <a:spcPct val="115000"/>
                        </a:lnSpc>
                        <a:spcAft>
                          <a:spcPts val="300"/>
                        </a:spcAft>
                      </a:pPr>
                      <a:r>
                        <a:rPr sz="1300" b="1" i="0">
                          <a:solidFill>
                            <a:srgbClr val="0E9E76"/>
                          </a:solidFill>
                          <a:latin typeface="Segoe UI"/>
                        </a:rPr>
                        <a:t>Weeks 1-2</a:t>
                      </a:r>
                    </a:p>
                    <a:p>
                      <a:pPr>
                        <a:lnSpc>
                          <a:spcPct val="115000"/>
                        </a:lnSpc>
                        <a:spcAft>
                          <a:spcPts val="300"/>
                        </a:spcAft>
                      </a:pPr>
                      <a:r>
                        <a:rPr sz="1150" b="0" i="0">
                          <a:solidFill>
                            <a:srgbClr val="4F6167"/>
                          </a:solidFill>
                          <a:latin typeface="Segoe UI"/>
                        </a:rPr>
                        <a:t>by 14 Aug</a:t>
                      </a:r>
                    </a:p>
                  </a:txBody>
                  <a:tcPr anchor="t" marL="109728" marR="109728" marT="82296" marB="82296">
                    <a:solidFill>
                      <a:srgbClr val="FFFFFF"/>
                    </a:solidFill>
                  </a:tcPr>
                </a:tc>
              </a:tr>
              <a:tr h="708660">
                <a:tc>
                  <a:txBody>
                    <a:bodyPr/>
                    <a:lstStyle/>
                    <a:p>
                      <a:pPr>
                        <a:lnSpc>
                          <a:spcPct val="115000"/>
                        </a:lnSpc>
                        <a:spcAft>
                          <a:spcPts val="300"/>
                        </a:spcAft>
                      </a:pPr>
                      <a:r>
                        <a:rPr sz="1350" b="1">
                          <a:solidFill>
                            <a:srgbClr val="102730"/>
                          </a:solidFill>
                          <a:latin typeface="Segoe UI"/>
                        </a:rPr>
                        <a:t>Sessions, classes and timetable</a:t>
                      </a:r>
                    </a:p>
                  </a:txBody>
                  <a:tcPr anchor="t" marL="109728" marR="109728" marT="82296" marB="82296">
                    <a:solidFill>
                      <a:srgbClr val="EDF3F1"/>
                    </a:solidFill>
                  </a:tcPr>
                </a:tc>
                <a:tc>
                  <a:txBody>
                    <a:bodyPr/>
                    <a:lstStyle/>
                    <a:p>
                      <a:pPr>
                        <a:lnSpc>
                          <a:spcPct val="115000"/>
                        </a:lnSpc>
                        <a:spcAft>
                          <a:spcPts val="300"/>
                        </a:spcAft>
                      </a:pPr>
                      <a:r>
                        <a:rPr sz="1250" i="1">
                          <a:solidFill>
                            <a:srgbClr val="4F6167"/>
                          </a:solidFill>
                          <a:latin typeface="Segoe UI"/>
                        </a:rPr>
                        <a:t>Terms and class arms are what the register, the results and the fees all hang off.</a:t>
                      </a:r>
                    </a:p>
                  </a:txBody>
                  <a:tcPr anchor="t" marL="109728" marR="109728" marT="82296" marB="82296">
                    <a:solidFill>
                      <a:srgbClr val="EDF3F1"/>
                    </a:solidFill>
                  </a:tcPr>
                </a:tc>
                <a:tc>
                  <a:txBody>
                    <a:bodyPr/>
                    <a:lstStyle/>
                    <a:p>
                      <a:pPr>
                        <a:lnSpc>
                          <a:spcPct val="115000"/>
                        </a:lnSpc>
                        <a:spcAft>
                          <a:spcPts val="300"/>
                        </a:spcAft>
                      </a:pPr>
                      <a:r>
                        <a:rPr sz="1250" b="1" i="0">
                          <a:solidFill>
                            <a:srgbClr val="0E9E76"/>
                          </a:solidFill>
                          <a:latin typeface="Segoe UI"/>
                        </a:rPr>
                        <a:t>·  </a:t>
                      </a:r>
                      <a:r>
                        <a:rPr sz="1250" b="0" i="0">
                          <a:solidFill>
                            <a:srgbClr val="28383E"/>
                          </a:solidFill>
                          <a:latin typeface="Segoe UI"/>
                        </a:rPr>
                        <a:t>Sessions, terms and class arms</a:t>
                      </a:r>
                    </a:p>
                    <a:p>
                      <a:pPr>
                        <a:lnSpc>
                          <a:spcPct val="115000"/>
                        </a:lnSpc>
                        <a:spcAft>
                          <a:spcPts val="300"/>
                        </a:spcAft>
                      </a:pPr>
                      <a:r>
                        <a:rPr sz="1250" b="1" i="0">
                          <a:solidFill>
                            <a:srgbClr val="0E9E76"/>
                          </a:solidFill>
                          <a:latin typeface="Segoe UI"/>
                        </a:rPr>
                        <a:t>·  </a:t>
                      </a:r>
                      <a:r>
                        <a:rPr sz="1250" b="0" i="0">
                          <a:solidFill>
                            <a:srgbClr val="28383E"/>
                          </a:solidFill>
                          <a:latin typeface="Segoe UI"/>
                        </a:rPr>
                        <a:t>Timetable with clash detection</a:t>
                      </a:r>
                    </a:p>
                    <a:p>
                      <a:pPr>
                        <a:lnSpc>
                          <a:spcPct val="115000"/>
                        </a:lnSpc>
                        <a:spcAft>
                          <a:spcPts val="300"/>
                        </a:spcAft>
                      </a:pPr>
                      <a:r>
                        <a:rPr sz="1250" b="1" i="0">
                          <a:solidFill>
                            <a:srgbClr val="0E9E76"/>
                          </a:solidFill>
                          <a:latin typeface="Segoe UI"/>
                        </a:rPr>
                        <a:t>·  </a:t>
                      </a:r>
                      <a:r>
                        <a:rPr sz="1250" b="0" i="0">
                          <a:solidFill>
                            <a:srgbClr val="28383E"/>
                          </a:solidFill>
                          <a:latin typeface="Segoe UI"/>
                        </a:rPr>
                        <a:t>Subject and teacher assignment</a:t>
                      </a:r>
                    </a:p>
                  </a:txBody>
                  <a:tcPr anchor="t" marL="109728" marR="109728" marT="82296" marB="82296">
                    <a:solidFill>
                      <a:srgbClr val="EDF3F1"/>
                    </a:solidFill>
                  </a:tcPr>
                </a:tc>
                <a:tc>
                  <a:txBody>
                    <a:bodyPr/>
                    <a:lstStyle/>
                    <a:p>
                      <a:pPr>
                        <a:lnSpc>
                          <a:spcPct val="115000"/>
                        </a:lnSpc>
                        <a:spcAft>
                          <a:spcPts val="300"/>
                        </a:spcAft>
                      </a:pPr>
                      <a:r>
                        <a:rPr sz="1300" b="1" i="0">
                          <a:solidFill>
                            <a:srgbClr val="0E9E76"/>
                          </a:solidFill>
                          <a:latin typeface="Segoe UI"/>
                        </a:rPr>
                        <a:t>Week 2</a:t>
                      </a:r>
                    </a:p>
                    <a:p>
                      <a:pPr>
                        <a:lnSpc>
                          <a:spcPct val="115000"/>
                        </a:lnSpc>
                        <a:spcAft>
                          <a:spcPts val="300"/>
                        </a:spcAft>
                      </a:pPr>
                      <a:r>
                        <a:rPr sz="1150" b="0" i="0">
                          <a:solidFill>
                            <a:srgbClr val="4F6167"/>
                          </a:solidFill>
                          <a:latin typeface="Segoe UI"/>
                        </a:rPr>
                        <a:t>by 14 Aug</a:t>
                      </a:r>
                    </a:p>
                  </a:txBody>
                  <a:tcPr anchor="t" marL="109728" marR="109728" marT="82296" marB="82296">
                    <a:solidFill>
                      <a:srgbClr val="EDF3F1"/>
                    </a:solidFill>
                  </a:tcPr>
                </a:tc>
              </a:tr>
              <a:tr h="708660">
                <a:tc>
                  <a:txBody>
                    <a:bodyPr/>
                    <a:lstStyle/>
                    <a:p>
                      <a:pPr>
                        <a:lnSpc>
                          <a:spcPct val="115000"/>
                        </a:lnSpc>
                        <a:spcAft>
                          <a:spcPts val="300"/>
                        </a:spcAft>
                      </a:pPr>
                      <a:r>
                        <a:rPr sz="1350" b="1">
                          <a:solidFill>
                            <a:srgbClr val="102730"/>
                          </a:solidFill>
                          <a:latin typeface="Segoe UI"/>
                        </a:rPr>
                        <a:t>Attendance register</a:t>
                      </a:r>
                    </a:p>
                  </a:txBody>
                  <a:tcPr anchor="t" marL="109728" marR="109728" marT="82296" marB="82296">
                    <a:solidFill>
                      <a:srgbClr val="FFFFFF"/>
                    </a:solidFill>
                  </a:tcPr>
                </a:tc>
                <a:tc>
                  <a:txBody>
                    <a:bodyPr/>
                    <a:lstStyle/>
                    <a:p>
                      <a:pPr>
                        <a:lnSpc>
                          <a:spcPct val="115000"/>
                        </a:lnSpc>
                        <a:spcAft>
                          <a:spcPts val="300"/>
                        </a:spcAft>
                      </a:pPr>
                      <a:r>
                        <a:rPr sz="1250" i="1">
                          <a:solidFill>
                            <a:srgbClr val="4F6167"/>
                          </a:solidFill>
                          <a:latin typeface="Segoe UI"/>
                        </a:rPr>
                        <a:t>Marked 190 days a year, which makes it the most-used screen in the product.</a:t>
                      </a:r>
                    </a:p>
                  </a:txBody>
                  <a:tcPr anchor="t" marL="109728" marR="109728" marT="82296" marB="82296">
                    <a:solidFill>
                      <a:srgbClr val="FFFFFF"/>
                    </a:solidFill>
                  </a:tcPr>
                </a:tc>
                <a:tc>
                  <a:txBody>
                    <a:bodyPr/>
                    <a:lstStyle/>
                    <a:p>
                      <a:pPr>
                        <a:lnSpc>
                          <a:spcPct val="115000"/>
                        </a:lnSpc>
                        <a:spcAft>
                          <a:spcPts val="300"/>
                        </a:spcAft>
                      </a:pPr>
                      <a:r>
                        <a:rPr sz="1250" b="1" i="0">
                          <a:solidFill>
                            <a:srgbClr val="0E9E76"/>
                          </a:solidFill>
                          <a:latin typeface="Segoe UI"/>
                        </a:rPr>
                        <a:t>·  </a:t>
                      </a:r>
                      <a:r>
                        <a:rPr sz="1250" b="0" i="0">
                          <a:solidFill>
                            <a:srgbClr val="28383E"/>
                          </a:solidFill>
                          <a:latin typeface="Segoe UI"/>
                        </a:rPr>
                        <a:t>Daily class register that works offline</a:t>
                      </a:r>
                    </a:p>
                    <a:p>
                      <a:pPr>
                        <a:lnSpc>
                          <a:spcPct val="115000"/>
                        </a:lnSpc>
                        <a:spcAft>
                          <a:spcPts val="300"/>
                        </a:spcAft>
                      </a:pPr>
                      <a:r>
                        <a:rPr sz="1250" b="1" i="0">
                          <a:solidFill>
                            <a:srgbClr val="0E9E76"/>
                          </a:solidFill>
                          <a:latin typeface="Segoe UI"/>
                        </a:rPr>
                        <a:t>·  </a:t>
                      </a:r>
                      <a:r>
                        <a:rPr sz="1250" b="0" i="0">
                          <a:solidFill>
                            <a:srgbClr val="28383E"/>
                          </a:solidFill>
                          <a:latin typeface="Segoe UI"/>
                        </a:rPr>
                        <a:t>Clock-in and clock-out student register</a:t>
                      </a:r>
                    </a:p>
                    <a:p>
                      <a:pPr>
                        <a:lnSpc>
                          <a:spcPct val="115000"/>
                        </a:lnSpc>
                        <a:spcAft>
                          <a:spcPts val="300"/>
                        </a:spcAft>
                      </a:pPr>
                      <a:r>
                        <a:rPr sz="1250" b="1" i="0">
                          <a:solidFill>
                            <a:srgbClr val="0E9E76"/>
                          </a:solidFill>
                          <a:latin typeface="Segoe UI"/>
                        </a:rPr>
                        <a:t>·  </a:t>
                      </a:r>
                      <a:r>
                        <a:rPr sz="1250" b="0" i="0">
                          <a:solidFill>
                            <a:srgbClr val="28383E"/>
                          </a:solidFill>
                          <a:latin typeface="Segoe UI"/>
                        </a:rPr>
                        <a:t>Automatic parent alert on an unexplained absence</a:t>
                      </a:r>
                    </a:p>
                  </a:txBody>
                  <a:tcPr anchor="t" marL="109728" marR="109728" marT="82296" marB="82296">
                    <a:solidFill>
                      <a:srgbClr val="FFFFFF"/>
                    </a:solidFill>
                  </a:tcPr>
                </a:tc>
                <a:tc>
                  <a:txBody>
                    <a:bodyPr/>
                    <a:lstStyle/>
                    <a:p>
                      <a:pPr>
                        <a:lnSpc>
                          <a:spcPct val="115000"/>
                        </a:lnSpc>
                        <a:spcAft>
                          <a:spcPts val="300"/>
                        </a:spcAft>
                      </a:pPr>
                      <a:r>
                        <a:rPr sz="1300" b="1" i="0">
                          <a:solidFill>
                            <a:srgbClr val="0E9E76"/>
                          </a:solidFill>
                          <a:latin typeface="Segoe UI"/>
                        </a:rPr>
                        <a:t>Weeks 2-3</a:t>
                      </a:r>
                    </a:p>
                    <a:p>
                      <a:pPr>
                        <a:lnSpc>
                          <a:spcPct val="115000"/>
                        </a:lnSpc>
                        <a:spcAft>
                          <a:spcPts val="300"/>
                        </a:spcAft>
                      </a:pPr>
                      <a:r>
                        <a:rPr sz="1150" b="0" i="0">
                          <a:solidFill>
                            <a:srgbClr val="4F6167"/>
                          </a:solidFill>
                          <a:latin typeface="Segoe UI"/>
                        </a:rPr>
                        <a:t>by 21 Aug</a:t>
                      </a:r>
                    </a:p>
                  </a:txBody>
                  <a:tcPr anchor="t" marL="109728" marR="109728" marT="82296" marB="82296">
                    <a:solidFill>
                      <a:srgbClr val="FFFFFF"/>
                    </a:solidFill>
                  </a:tcPr>
                </a:tc>
              </a:tr>
            </a:tbl>
          </a:graphicData>
        </a:graphic>
      </p:graphicFrame>
      <p:sp>
        <p:nvSpPr>
          <p:cNvPr id="8" name="TextBox 7"/>
          <p:cNvSpPr txBox="1"/>
          <p:nvPr/>
        </p:nvSpPr>
        <p:spPr>
          <a:xfrm>
            <a:off x="566928" y="6355080"/>
            <a:ext cx="8131759" cy="310896"/>
          </a:xfrm>
          <a:prstGeom prst="rect">
            <a:avLst/>
          </a:prstGeom>
          <a:noFill/>
        </p:spPr>
        <p:txBody>
          <a:bodyPr wrap="square" lIns="0" rIns="0" tIns="0" bIns="0">
            <a:spAutoFit/>
          </a:bodyPr>
          <a:lstStyle/>
          <a:p>
            <a:pPr>
              <a:lnSpc>
                <a:spcPct val="122000"/>
              </a:lnSpc>
              <a:spcBef>
                <a:spcPts val="0"/>
              </a:spcBef>
              <a:spcAft>
                <a:spcPts val="500"/>
              </a:spcAft>
            </a:pPr>
            <a:r>
              <a:rPr sz="1050" b="0" i="1">
                <a:solidFill>
                  <a:srgbClr val="4F6167"/>
                </a:solidFill>
                <a:latin typeface="Segoe UI"/>
              </a:rPr>
              <a:t>Done means tenant-scoped, role-correct, all states handled, responsive, audited, offline-tolerant, acceptance criteria signed off.</a:t>
            </a:r>
          </a:p>
        </p:txBody>
      </p:sp>
      <p:sp>
        <p:nvSpPr>
          <p:cNvPr id="9" name="TextBox 8"/>
          <p:cNvSpPr txBox="1"/>
          <p:nvPr/>
        </p:nvSpPr>
        <p:spPr>
          <a:xfrm>
            <a:off x="8698687" y="6355080"/>
            <a:ext cx="2926080" cy="310896"/>
          </a:xfrm>
          <a:prstGeom prst="rect">
            <a:avLst/>
          </a:prstGeom>
          <a:noFill/>
        </p:spPr>
        <p:txBody>
          <a:bodyPr wrap="square" lIns="0" rIns="0" tIns="0" bIns="0">
            <a:spAutoFit/>
          </a:bodyPr>
          <a:lstStyle/>
          <a:p>
            <a:pPr algn="r">
              <a:lnSpc>
                <a:spcPct val="122000"/>
              </a:lnSpc>
              <a:spcBef>
                <a:spcPts val="0"/>
              </a:spcBef>
              <a:spcAft>
                <a:spcPts val="500"/>
              </a:spcAft>
            </a:pPr>
            <a:r>
              <a:rPr sz="1050" b="1" i="0">
                <a:solidFill>
                  <a:srgbClr val="4F6167"/>
                </a:solidFill>
                <a:latin typeface="Segoe UI"/>
              </a:rPr>
              <a:t>The school day  1 of 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457200"/>
            <a:ext cx="7863840" cy="274320"/>
          </a:xfrm>
          <a:prstGeom prst="rect">
            <a:avLst/>
          </a:prstGeom>
          <a:noFill/>
        </p:spPr>
        <p:txBody>
          <a:bodyPr wrap="square" lIns="0" rIns="0" tIns="0" bIns="0">
            <a:spAutoFit/>
          </a:bodyPr>
          <a:lstStyle/>
          <a:p>
            <a:pPr>
              <a:lnSpc>
                <a:spcPct val="122000"/>
              </a:lnSpc>
              <a:spcBef>
                <a:spcPts val="0"/>
              </a:spcBef>
              <a:spcAft>
                <a:spcPts val="500"/>
              </a:spcAft>
            </a:pPr>
            <a:r>
              <a:rPr sz="1150" b="1" i="0">
                <a:solidFill>
                  <a:srgbClr val="0A6B50"/>
                </a:solidFill>
                <a:latin typeface="Segoe UI"/>
              </a:rPr>
              <a:t>THEME DETAILS  ·  PHASE 1</a:t>
            </a:r>
          </a:p>
        </p:txBody>
      </p:sp>
      <p:sp>
        <p:nvSpPr>
          <p:cNvPr id="5" name="TextBox 4"/>
          <p:cNvSpPr txBox="1"/>
          <p:nvPr/>
        </p:nvSpPr>
        <p:spPr>
          <a:xfrm>
            <a:off x="566928" y="768096"/>
            <a:ext cx="8503920" cy="731520"/>
          </a:xfrm>
          <a:prstGeom prst="rect">
            <a:avLst/>
          </a:prstGeom>
          <a:noFill/>
        </p:spPr>
        <p:txBody>
          <a:bodyPr wrap="square" lIns="0" rIns="0" tIns="0" bIns="0">
            <a:spAutoFit/>
          </a:bodyPr>
          <a:lstStyle/>
          <a:p>
            <a:pPr>
              <a:lnSpc>
                <a:spcPct val="122000"/>
              </a:lnSpc>
              <a:spcBef>
                <a:spcPts val="0"/>
              </a:spcBef>
              <a:spcAft>
                <a:spcPts val="0"/>
              </a:spcAft>
            </a:pPr>
            <a:r>
              <a:rPr sz="3400" b="0" i="0">
                <a:solidFill>
                  <a:srgbClr val="102730"/>
                </a:solidFill>
                <a:latin typeface="Segoe UI"/>
              </a:rPr>
              <a:t>The school day</a:t>
            </a:r>
          </a:p>
        </p:txBody>
      </p:sp>
      <p:sp>
        <p:nvSpPr>
          <p:cNvPr id="6" name="TextBox 5"/>
          <p:cNvSpPr txBox="1"/>
          <p:nvPr/>
        </p:nvSpPr>
        <p:spPr>
          <a:xfrm>
            <a:off x="566928" y="1699121"/>
            <a:ext cx="11057839" cy="329184"/>
          </a:xfrm>
          <a:prstGeom prst="rect">
            <a:avLst/>
          </a:prstGeom>
          <a:noFill/>
        </p:spPr>
        <p:txBody>
          <a:bodyPr wrap="square" lIns="0" rIns="0" tIns="0" bIns="0">
            <a:spAutoFit/>
          </a:bodyPr>
          <a:lstStyle/>
          <a:p>
            <a:pPr>
              <a:lnSpc>
                <a:spcPct val="122000"/>
              </a:lnSpc>
              <a:spcBef>
                <a:spcPts val="0"/>
              </a:spcBef>
              <a:spcAft>
                <a:spcPts val="500"/>
              </a:spcAft>
            </a:pPr>
            <a:r>
              <a:rPr sz="1300" b="1" i="0">
                <a:solidFill>
                  <a:srgbClr val="0E9E76"/>
                </a:solidFill>
                <a:latin typeface="Segoe UI"/>
              </a:rPr>
              <a:t>Students  ·  Admissions  ·  Timetable  ·  Register  ·  Results</a:t>
            </a:r>
          </a:p>
        </p:txBody>
      </p:sp>
      <p:graphicFrame>
        <p:nvGraphicFramePr>
          <p:cNvPr id="7" name="Table 6"/>
          <p:cNvGraphicFramePr>
            <a:graphicFrameLocks noGrp="1"/>
          </p:cNvGraphicFramePr>
          <p:nvPr/>
        </p:nvGraphicFramePr>
        <p:xfrm>
          <a:off x="566928" y="2156321"/>
          <a:ext cx="11055096" cy="2834640"/>
        </p:xfrm>
        <a:graphic>
          <a:graphicData uri="http://schemas.openxmlformats.org/drawingml/2006/table">
            <a:tbl>
              <a:tblPr firstRow="1" bandRow="1">
                <a:tableStyleId>{5C22544A-7EE6-4342-B048-85BDC9FD1C3A}</a:tableStyleId>
              </a:tblPr>
              <a:tblGrid>
                <a:gridCol w="2651760"/>
                <a:gridCol w="2926080"/>
                <a:gridCol w="3931920"/>
                <a:gridCol w="1545336"/>
              </a:tblGrid>
              <a:tr h="1417320">
                <a:tc>
                  <a:txBody>
                    <a:bodyPr/>
                    <a:lstStyle/>
                    <a:p>
                      <a:r>
                        <a:rPr sz="1300" b="1">
                          <a:solidFill>
                            <a:srgbClr val="FFFFFF"/>
                          </a:solidFill>
                          <a:latin typeface="Segoe UI"/>
                        </a:rPr>
                        <a:t>Action</a:t>
                      </a:r>
                    </a:p>
                  </a:txBody>
                  <a:tcPr anchor="ctr" marL="109728" marR="109728">
                    <a:solidFill>
                      <a:srgbClr val="102730"/>
                    </a:solidFill>
                  </a:tcPr>
                </a:tc>
                <a:tc>
                  <a:txBody>
                    <a:bodyPr/>
                    <a:lstStyle/>
                    <a:p>
                      <a:r>
                        <a:rPr sz="1300" b="1">
                          <a:solidFill>
                            <a:srgbClr val="FFFFFF"/>
                          </a:solidFill>
                          <a:latin typeface="Segoe UI"/>
                        </a:rPr>
                        <a:t>Why it matters</a:t>
                      </a:r>
                    </a:p>
                  </a:txBody>
                  <a:tcPr anchor="ctr" marL="109728" marR="109728">
                    <a:solidFill>
                      <a:srgbClr val="102730"/>
                    </a:solidFill>
                  </a:tcPr>
                </a:tc>
                <a:tc>
                  <a:txBody>
                    <a:bodyPr/>
                    <a:lstStyle/>
                    <a:p>
                      <a:r>
                        <a:rPr sz="1300" b="1">
                          <a:solidFill>
                            <a:srgbClr val="FFFFFF"/>
                          </a:solidFill>
                          <a:latin typeface="Segoe UI"/>
                        </a:rPr>
                        <a:t>Milestones (epics)</a:t>
                      </a:r>
                    </a:p>
                  </a:txBody>
                  <a:tcPr anchor="ctr" marL="109728" marR="109728">
                    <a:solidFill>
                      <a:srgbClr val="102730"/>
                    </a:solidFill>
                  </a:tcPr>
                </a:tc>
                <a:tc>
                  <a:txBody>
                    <a:bodyPr/>
                    <a:lstStyle/>
                    <a:p>
                      <a:r>
                        <a:rPr sz="1300" b="1">
                          <a:solidFill>
                            <a:srgbClr val="FFFFFF"/>
                          </a:solidFill>
                          <a:latin typeface="Segoe UI"/>
                        </a:rPr>
                        <a:t>ETA</a:t>
                      </a:r>
                    </a:p>
                  </a:txBody>
                  <a:tcPr anchor="ctr" marL="109728" marR="109728">
                    <a:solidFill>
                      <a:srgbClr val="102730"/>
                    </a:solidFill>
                  </a:tcPr>
                </a:tc>
              </a:tr>
              <a:tr h="1417320">
                <a:tc>
                  <a:txBody>
                    <a:bodyPr/>
                    <a:lstStyle/>
                    <a:p>
                      <a:pPr>
                        <a:lnSpc>
                          <a:spcPct val="115000"/>
                        </a:lnSpc>
                        <a:spcAft>
                          <a:spcPts val="300"/>
                        </a:spcAft>
                      </a:pPr>
                      <a:r>
                        <a:rPr sz="1350" b="1">
                          <a:solidFill>
                            <a:srgbClr val="102730"/>
                          </a:solidFill>
                          <a:latin typeface="Segoe UI"/>
                        </a:rPr>
                        <a:t>Results and report cards</a:t>
                      </a:r>
                    </a:p>
                  </a:txBody>
                  <a:tcPr anchor="t" marL="109728" marR="109728" marT="82296" marB="82296">
                    <a:solidFill>
                      <a:srgbClr val="FFFFFF"/>
                    </a:solidFill>
                  </a:tcPr>
                </a:tc>
                <a:tc>
                  <a:txBody>
                    <a:bodyPr/>
                    <a:lstStyle/>
                    <a:p>
                      <a:pPr>
                        <a:lnSpc>
                          <a:spcPct val="115000"/>
                        </a:lnSpc>
                        <a:spcAft>
                          <a:spcPts val="300"/>
                        </a:spcAft>
                      </a:pPr>
                      <a:r>
                        <a:rPr sz="1250" i="1">
                          <a:solidFill>
                            <a:srgbClr val="4F6167"/>
                          </a:solidFill>
                          <a:latin typeface="Segoe UI"/>
                        </a:rPr>
                        <a:t>Termly, but it is the document a school is judged on by every parent at once.</a:t>
                      </a:r>
                    </a:p>
                  </a:txBody>
                  <a:tcPr anchor="t" marL="109728" marR="109728" marT="82296" marB="82296">
                    <a:solidFill>
                      <a:srgbClr val="FFFFFF"/>
                    </a:solidFill>
                  </a:tcPr>
                </a:tc>
                <a:tc>
                  <a:txBody>
                    <a:bodyPr/>
                    <a:lstStyle/>
                    <a:p>
                      <a:pPr>
                        <a:lnSpc>
                          <a:spcPct val="115000"/>
                        </a:lnSpc>
                        <a:spcAft>
                          <a:spcPts val="300"/>
                        </a:spcAft>
                      </a:pPr>
                      <a:r>
                        <a:rPr sz="1250" b="1" i="0">
                          <a:solidFill>
                            <a:srgbClr val="0E9E76"/>
                          </a:solidFill>
                          <a:latin typeface="Segoe UI"/>
                        </a:rPr>
                        <a:t>·  </a:t>
                      </a:r>
                      <a:r>
                        <a:rPr sz="1250" b="0" i="0">
                          <a:solidFill>
                            <a:srgbClr val="28383E"/>
                          </a:solidFill>
                          <a:latin typeface="Segoe UI"/>
                        </a:rPr>
                        <a:t>Teacher entry, admin approval gate, broadsheet</a:t>
                      </a:r>
                    </a:p>
                    <a:p>
                      <a:pPr>
                        <a:lnSpc>
                          <a:spcPct val="115000"/>
                        </a:lnSpc>
                        <a:spcAft>
                          <a:spcPts val="300"/>
                        </a:spcAft>
                      </a:pPr>
                      <a:r>
                        <a:rPr sz="1250" b="1" i="0">
                          <a:solidFill>
                            <a:srgbClr val="0E9E76"/>
                          </a:solidFill>
                          <a:latin typeface="Segoe UI"/>
                        </a:rPr>
                        <a:t>·  </a:t>
                      </a:r>
                      <a:r>
                        <a:rPr sz="1250" b="0" i="0">
                          <a:solidFill>
                            <a:srgbClr val="28383E"/>
                          </a:solidFill>
                          <a:latin typeface="Segoe UI"/>
                        </a:rPr>
                        <a:t>Printable report cards carrying the school's branding</a:t>
                      </a:r>
                    </a:p>
                  </a:txBody>
                  <a:tcPr anchor="t" marL="109728" marR="109728" marT="82296" marB="82296">
                    <a:solidFill>
                      <a:srgbClr val="FFFFFF"/>
                    </a:solidFill>
                  </a:tcPr>
                </a:tc>
                <a:tc>
                  <a:txBody>
                    <a:bodyPr/>
                    <a:lstStyle/>
                    <a:p>
                      <a:pPr>
                        <a:lnSpc>
                          <a:spcPct val="115000"/>
                        </a:lnSpc>
                        <a:spcAft>
                          <a:spcPts val="300"/>
                        </a:spcAft>
                      </a:pPr>
                      <a:r>
                        <a:rPr sz="1300" b="1" i="0">
                          <a:solidFill>
                            <a:srgbClr val="0E9E76"/>
                          </a:solidFill>
                          <a:latin typeface="Segoe UI"/>
                        </a:rPr>
                        <a:t>Weeks 3-4</a:t>
                      </a:r>
                    </a:p>
                    <a:p>
                      <a:pPr>
                        <a:lnSpc>
                          <a:spcPct val="115000"/>
                        </a:lnSpc>
                        <a:spcAft>
                          <a:spcPts val="300"/>
                        </a:spcAft>
                      </a:pPr>
                      <a:r>
                        <a:rPr sz="1150" b="0" i="0">
                          <a:solidFill>
                            <a:srgbClr val="4F6167"/>
                          </a:solidFill>
                          <a:latin typeface="Segoe UI"/>
                        </a:rPr>
                        <a:t>by 28 Aug</a:t>
                      </a:r>
                    </a:p>
                  </a:txBody>
                  <a:tcPr anchor="t" marL="109728" marR="109728" marT="82296" marB="82296">
                    <a:solidFill>
                      <a:srgbClr val="FFFFFF"/>
                    </a:solidFill>
                  </a:tcPr>
                </a:tc>
              </a:tr>
            </a:tbl>
          </a:graphicData>
        </a:graphic>
      </p:graphicFrame>
      <p:sp>
        <p:nvSpPr>
          <p:cNvPr id="8" name="TextBox 7"/>
          <p:cNvSpPr txBox="1"/>
          <p:nvPr/>
        </p:nvSpPr>
        <p:spPr>
          <a:xfrm>
            <a:off x="566928" y="6355080"/>
            <a:ext cx="8131759" cy="310896"/>
          </a:xfrm>
          <a:prstGeom prst="rect">
            <a:avLst/>
          </a:prstGeom>
          <a:noFill/>
        </p:spPr>
        <p:txBody>
          <a:bodyPr wrap="square" lIns="0" rIns="0" tIns="0" bIns="0">
            <a:spAutoFit/>
          </a:bodyPr>
          <a:lstStyle/>
          <a:p>
            <a:pPr>
              <a:lnSpc>
                <a:spcPct val="122000"/>
              </a:lnSpc>
              <a:spcBef>
                <a:spcPts val="0"/>
              </a:spcBef>
              <a:spcAft>
                <a:spcPts val="500"/>
              </a:spcAft>
            </a:pPr>
            <a:r>
              <a:rPr sz="1050" b="0" i="1">
                <a:solidFill>
                  <a:srgbClr val="4F6167"/>
                </a:solidFill>
                <a:latin typeface="Segoe UI"/>
              </a:rPr>
              <a:t>Done means tenant-scoped, role-correct, all states handled, responsive, audited, offline-tolerant, acceptance criteria signed off.</a:t>
            </a:r>
          </a:p>
        </p:txBody>
      </p:sp>
      <p:sp>
        <p:nvSpPr>
          <p:cNvPr id="9" name="TextBox 8"/>
          <p:cNvSpPr txBox="1"/>
          <p:nvPr/>
        </p:nvSpPr>
        <p:spPr>
          <a:xfrm>
            <a:off x="8698687" y="6355080"/>
            <a:ext cx="2926080" cy="310896"/>
          </a:xfrm>
          <a:prstGeom prst="rect">
            <a:avLst/>
          </a:prstGeom>
          <a:noFill/>
        </p:spPr>
        <p:txBody>
          <a:bodyPr wrap="square" lIns="0" rIns="0" tIns="0" bIns="0">
            <a:spAutoFit/>
          </a:bodyPr>
          <a:lstStyle/>
          <a:p>
            <a:pPr algn="r">
              <a:lnSpc>
                <a:spcPct val="122000"/>
              </a:lnSpc>
              <a:spcBef>
                <a:spcPts val="0"/>
              </a:spcBef>
              <a:spcAft>
                <a:spcPts val="500"/>
              </a:spcAft>
            </a:pPr>
            <a:r>
              <a:rPr sz="1050" b="1" i="0">
                <a:solidFill>
                  <a:srgbClr val="4F6167"/>
                </a:solidFill>
                <a:latin typeface="Segoe UI"/>
              </a:rPr>
              <a:t>The school day  2 of 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457200"/>
            <a:ext cx="7863840" cy="274320"/>
          </a:xfrm>
          <a:prstGeom prst="rect">
            <a:avLst/>
          </a:prstGeom>
          <a:noFill/>
        </p:spPr>
        <p:txBody>
          <a:bodyPr wrap="square" lIns="0" rIns="0" tIns="0" bIns="0">
            <a:spAutoFit/>
          </a:bodyPr>
          <a:lstStyle/>
          <a:p>
            <a:pPr>
              <a:lnSpc>
                <a:spcPct val="122000"/>
              </a:lnSpc>
              <a:spcBef>
                <a:spcPts val="0"/>
              </a:spcBef>
              <a:spcAft>
                <a:spcPts val="500"/>
              </a:spcAft>
            </a:pPr>
            <a:r>
              <a:rPr sz="1150" b="1" i="0">
                <a:solidFill>
                  <a:srgbClr val="0A6B50"/>
                </a:solidFill>
                <a:latin typeface="Segoe UI"/>
              </a:rPr>
              <a:t>THEME DETAILS  ·  PHASE 1</a:t>
            </a:r>
          </a:p>
        </p:txBody>
      </p:sp>
      <p:sp>
        <p:nvSpPr>
          <p:cNvPr id="5" name="TextBox 4"/>
          <p:cNvSpPr txBox="1"/>
          <p:nvPr/>
        </p:nvSpPr>
        <p:spPr>
          <a:xfrm>
            <a:off x="566928" y="768096"/>
            <a:ext cx="8503920" cy="731520"/>
          </a:xfrm>
          <a:prstGeom prst="rect">
            <a:avLst/>
          </a:prstGeom>
          <a:noFill/>
        </p:spPr>
        <p:txBody>
          <a:bodyPr wrap="square" lIns="0" rIns="0" tIns="0" bIns="0">
            <a:spAutoFit/>
          </a:bodyPr>
          <a:lstStyle/>
          <a:p>
            <a:pPr>
              <a:lnSpc>
                <a:spcPct val="122000"/>
              </a:lnSpc>
              <a:spcBef>
                <a:spcPts val="0"/>
              </a:spcBef>
              <a:spcAft>
                <a:spcPts val="0"/>
              </a:spcAft>
            </a:pPr>
            <a:r>
              <a:rPr sz="3400" b="0" i="0">
                <a:solidFill>
                  <a:srgbClr val="102730"/>
                </a:solidFill>
                <a:latin typeface="Segoe UI"/>
              </a:rPr>
              <a:t>Fees and payments</a:t>
            </a:r>
          </a:p>
        </p:txBody>
      </p:sp>
      <p:sp>
        <p:nvSpPr>
          <p:cNvPr id="6" name="TextBox 5"/>
          <p:cNvSpPr txBox="1"/>
          <p:nvPr/>
        </p:nvSpPr>
        <p:spPr>
          <a:xfrm>
            <a:off x="566928" y="1699121"/>
            <a:ext cx="11057839" cy="329184"/>
          </a:xfrm>
          <a:prstGeom prst="rect">
            <a:avLst/>
          </a:prstGeom>
          <a:noFill/>
        </p:spPr>
        <p:txBody>
          <a:bodyPr wrap="square" lIns="0" rIns="0" tIns="0" bIns="0">
            <a:spAutoFit/>
          </a:bodyPr>
          <a:lstStyle/>
          <a:p>
            <a:pPr>
              <a:lnSpc>
                <a:spcPct val="122000"/>
              </a:lnSpc>
              <a:spcBef>
                <a:spcPts val="0"/>
              </a:spcBef>
              <a:spcAft>
                <a:spcPts val="500"/>
              </a:spcAft>
            </a:pPr>
            <a:r>
              <a:rPr sz="1300" b="1" i="0">
                <a:solidFill>
                  <a:srgbClr val="C2622B"/>
                </a:solidFill>
                <a:latin typeface="Segoe UI"/>
              </a:rPr>
              <a:t>Fee structure  ·  Invoices  ·  Ledger  ·  Payments  ·  Reconciliation</a:t>
            </a:r>
          </a:p>
        </p:txBody>
      </p:sp>
      <p:graphicFrame>
        <p:nvGraphicFramePr>
          <p:cNvPr id="7" name="Table 6"/>
          <p:cNvGraphicFramePr>
            <a:graphicFrameLocks noGrp="1"/>
          </p:cNvGraphicFramePr>
          <p:nvPr/>
        </p:nvGraphicFramePr>
        <p:xfrm>
          <a:off x="566928" y="2156321"/>
          <a:ext cx="11055096" cy="2834640"/>
        </p:xfrm>
        <a:graphic>
          <a:graphicData uri="http://schemas.openxmlformats.org/drawingml/2006/table">
            <a:tbl>
              <a:tblPr firstRow="1" bandRow="1">
                <a:tableStyleId>{5C22544A-7EE6-4342-B048-85BDC9FD1C3A}</a:tableStyleId>
              </a:tblPr>
              <a:tblGrid>
                <a:gridCol w="2651760"/>
                <a:gridCol w="2926080"/>
                <a:gridCol w="3931920"/>
                <a:gridCol w="1545336"/>
              </a:tblGrid>
              <a:tr h="708660">
                <a:tc>
                  <a:txBody>
                    <a:bodyPr/>
                    <a:lstStyle/>
                    <a:p>
                      <a:r>
                        <a:rPr sz="1300" b="1">
                          <a:solidFill>
                            <a:srgbClr val="FFFFFF"/>
                          </a:solidFill>
                          <a:latin typeface="Segoe UI"/>
                        </a:rPr>
                        <a:t>Action</a:t>
                      </a:r>
                    </a:p>
                  </a:txBody>
                  <a:tcPr anchor="ctr" marL="109728" marR="109728">
                    <a:solidFill>
                      <a:srgbClr val="102730"/>
                    </a:solidFill>
                  </a:tcPr>
                </a:tc>
                <a:tc>
                  <a:txBody>
                    <a:bodyPr/>
                    <a:lstStyle/>
                    <a:p>
                      <a:r>
                        <a:rPr sz="1300" b="1">
                          <a:solidFill>
                            <a:srgbClr val="FFFFFF"/>
                          </a:solidFill>
                          <a:latin typeface="Segoe UI"/>
                        </a:rPr>
                        <a:t>Why it matters</a:t>
                      </a:r>
                    </a:p>
                  </a:txBody>
                  <a:tcPr anchor="ctr" marL="109728" marR="109728">
                    <a:solidFill>
                      <a:srgbClr val="102730"/>
                    </a:solidFill>
                  </a:tcPr>
                </a:tc>
                <a:tc>
                  <a:txBody>
                    <a:bodyPr/>
                    <a:lstStyle/>
                    <a:p>
                      <a:r>
                        <a:rPr sz="1300" b="1">
                          <a:solidFill>
                            <a:srgbClr val="FFFFFF"/>
                          </a:solidFill>
                          <a:latin typeface="Segoe UI"/>
                        </a:rPr>
                        <a:t>Milestones (epics)</a:t>
                      </a:r>
                    </a:p>
                  </a:txBody>
                  <a:tcPr anchor="ctr" marL="109728" marR="109728">
                    <a:solidFill>
                      <a:srgbClr val="102730"/>
                    </a:solidFill>
                  </a:tcPr>
                </a:tc>
                <a:tc>
                  <a:txBody>
                    <a:bodyPr/>
                    <a:lstStyle/>
                    <a:p>
                      <a:r>
                        <a:rPr sz="1300" b="1">
                          <a:solidFill>
                            <a:srgbClr val="FFFFFF"/>
                          </a:solidFill>
                          <a:latin typeface="Segoe UI"/>
                        </a:rPr>
                        <a:t>ETA</a:t>
                      </a:r>
                    </a:p>
                  </a:txBody>
                  <a:tcPr anchor="ctr" marL="109728" marR="109728">
                    <a:solidFill>
                      <a:srgbClr val="102730"/>
                    </a:solidFill>
                  </a:tcPr>
                </a:tc>
              </a:tr>
              <a:tr h="708660">
                <a:tc>
                  <a:txBody>
                    <a:bodyPr/>
                    <a:lstStyle/>
                    <a:p>
                      <a:pPr>
                        <a:lnSpc>
                          <a:spcPct val="115000"/>
                        </a:lnSpc>
                        <a:spcAft>
                          <a:spcPts val="300"/>
                        </a:spcAft>
                      </a:pPr>
                      <a:r>
                        <a:rPr sz="1350" b="1">
                          <a:solidFill>
                            <a:srgbClr val="102730"/>
                          </a:solidFill>
                          <a:latin typeface="Segoe UI"/>
                        </a:rPr>
                        <a:t>Fee structure, invoices and the student ledger</a:t>
                      </a:r>
                    </a:p>
                  </a:txBody>
                  <a:tcPr anchor="t" marL="109728" marR="109728" marT="82296" marB="82296">
                    <a:solidFill>
                      <a:srgbClr val="FFFFFF"/>
                    </a:solidFill>
                  </a:tcPr>
                </a:tc>
                <a:tc>
                  <a:txBody>
                    <a:bodyPr/>
                    <a:lstStyle/>
                    <a:p>
                      <a:pPr>
                        <a:lnSpc>
                          <a:spcPct val="115000"/>
                        </a:lnSpc>
                        <a:spcAft>
                          <a:spcPts val="300"/>
                        </a:spcAft>
                      </a:pPr>
                      <a:r>
                        <a:rPr sz="1250" i="1">
                          <a:solidFill>
                            <a:srgbClr val="4F6167"/>
                          </a:solidFill>
                          <a:latin typeface="Segoe UI"/>
                        </a:rPr>
                        <a:t>The itemised statement of account is the one feature parents ask for by name.</a:t>
                      </a:r>
                    </a:p>
                  </a:txBody>
                  <a:tcPr anchor="t" marL="109728" marR="109728" marT="82296" marB="82296">
                    <a:solidFill>
                      <a:srgbClr val="FFFFFF"/>
                    </a:solidFill>
                  </a:tcPr>
                </a:tc>
                <a:tc>
                  <a:txBody>
                    <a:bodyPr/>
                    <a:lstStyle/>
                    <a:p>
                      <a:pPr>
                        <a:lnSpc>
                          <a:spcPct val="115000"/>
                        </a:lnSpc>
                        <a:spcAft>
                          <a:spcPts val="300"/>
                        </a:spcAft>
                      </a:pPr>
                      <a:r>
                        <a:rPr sz="1250" b="1" i="0">
                          <a:solidFill>
                            <a:srgbClr val="C2622B"/>
                          </a:solidFill>
                          <a:latin typeface="Segoe UI"/>
                        </a:rPr>
                        <a:t>·  </a:t>
                      </a:r>
                      <a:r>
                        <a:rPr sz="1250" b="0" i="0">
                          <a:solidFill>
                            <a:srgbClr val="28383E"/>
                          </a:solidFill>
                          <a:latin typeface="Segoe UI"/>
                        </a:rPr>
                        <a:t>Fee structure and invoice generation per term</a:t>
                      </a:r>
                    </a:p>
                    <a:p>
                      <a:pPr>
                        <a:lnSpc>
                          <a:spcPct val="115000"/>
                        </a:lnSpc>
                        <a:spcAft>
                          <a:spcPts val="300"/>
                        </a:spcAft>
                      </a:pPr>
                      <a:r>
                        <a:rPr sz="1250" b="1" i="0">
                          <a:solidFill>
                            <a:srgbClr val="C2622B"/>
                          </a:solidFill>
                          <a:latin typeface="Segoe UI"/>
                        </a:rPr>
                        <a:t>·  </a:t>
                      </a:r>
                      <a:r>
                        <a:rPr sz="1250" b="0" i="0">
                          <a:solidFill>
                            <a:srgbClr val="28383E"/>
                          </a:solidFill>
                          <a:latin typeface="Segoe UI"/>
                        </a:rPr>
                        <a:t>Itemised statement with the discount breakdown</a:t>
                      </a:r>
                    </a:p>
                    <a:p>
                      <a:pPr>
                        <a:lnSpc>
                          <a:spcPct val="115000"/>
                        </a:lnSpc>
                        <a:spcAft>
                          <a:spcPts val="300"/>
                        </a:spcAft>
                      </a:pPr>
                      <a:r>
                        <a:rPr sz="1250" b="1" i="0">
                          <a:solidFill>
                            <a:srgbClr val="C2622B"/>
                          </a:solidFill>
                          <a:latin typeface="Segoe UI"/>
                        </a:rPr>
                        <a:t>·  </a:t>
                      </a:r>
                      <a:r>
                        <a:rPr sz="1250" b="0" i="0">
                          <a:solidFill>
                            <a:srgbClr val="28383E"/>
                          </a:solidFill>
                          <a:latin typeface="Segoe UI"/>
                        </a:rPr>
                        <a:t>Owing and part-paid filters, advance credit</a:t>
                      </a:r>
                    </a:p>
                  </a:txBody>
                  <a:tcPr anchor="t" marL="109728" marR="109728" marT="82296" marB="82296">
                    <a:solidFill>
                      <a:srgbClr val="FFFFFF"/>
                    </a:solidFill>
                  </a:tcPr>
                </a:tc>
                <a:tc>
                  <a:txBody>
                    <a:bodyPr/>
                    <a:lstStyle/>
                    <a:p>
                      <a:pPr>
                        <a:lnSpc>
                          <a:spcPct val="115000"/>
                        </a:lnSpc>
                        <a:spcAft>
                          <a:spcPts val="300"/>
                        </a:spcAft>
                      </a:pPr>
                      <a:r>
                        <a:rPr sz="1300" b="1" i="0">
                          <a:solidFill>
                            <a:srgbClr val="C2622B"/>
                          </a:solidFill>
                          <a:latin typeface="Segoe UI"/>
                        </a:rPr>
                        <a:t>Weeks 2-3</a:t>
                      </a:r>
                    </a:p>
                    <a:p>
                      <a:pPr>
                        <a:lnSpc>
                          <a:spcPct val="115000"/>
                        </a:lnSpc>
                        <a:spcAft>
                          <a:spcPts val="300"/>
                        </a:spcAft>
                      </a:pPr>
                      <a:r>
                        <a:rPr sz="1150" b="0" i="0">
                          <a:solidFill>
                            <a:srgbClr val="4F6167"/>
                          </a:solidFill>
                          <a:latin typeface="Segoe UI"/>
                        </a:rPr>
                        <a:t>by 21 Aug</a:t>
                      </a:r>
                    </a:p>
                  </a:txBody>
                  <a:tcPr anchor="t" marL="109728" marR="109728" marT="82296" marB="82296">
                    <a:solidFill>
                      <a:srgbClr val="FFFFFF"/>
                    </a:solidFill>
                  </a:tcPr>
                </a:tc>
              </a:tr>
              <a:tr h="708660">
                <a:tc>
                  <a:txBody>
                    <a:bodyPr/>
                    <a:lstStyle/>
                    <a:p>
                      <a:pPr>
                        <a:lnSpc>
                          <a:spcPct val="115000"/>
                        </a:lnSpc>
                        <a:spcAft>
                          <a:spcPts val="300"/>
                        </a:spcAft>
                      </a:pPr>
                      <a:r>
                        <a:rPr sz="1350" b="1">
                          <a:solidFill>
                            <a:srgbClr val="102730"/>
                          </a:solidFill>
                          <a:latin typeface="Segoe UI"/>
                        </a:rPr>
                        <a:t>Online payments and receipts</a:t>
                      </a:r>
                    </a:p>
                  </a:txBody>
                  <a:tcPr anchor="t" marL="109728" marR="109728" marT="82296" marB="82296">
                    <a:solidFill>
                      <a:srgbClr val="EDF3F1"/>
                    </a:solidFill>
                  </a:tcPr>
                </a:tc>
                <a:tc>
                  <a:txBody>
                    <a:bodyPr/>
                    <a:lstStyle/>
                    <a:p>
                      <a:pPr>
                        <a:lnSpc>
                          <a:spcPct val="115000"/>
                        </a:lnSpc>
                        <a:spcAft>
                          <a:spcPts val="300"/>
                        </a:spcAft>
                      </a:pPr>
                      <a:r>
                        <a:rPr sz="1250" i="1">
                          <a:solidFill>
                            <a:srgbClr val="4F6167"/>
                          </a:solidFill>
                          <a:latin typeface="Segoe UI"/>
                        </a:rPr>
                        <a:t>Card, transfer and USSD with an instant receipt is what turns billed into collected.</a:t>
                      </a:r>
                    </a:p>
                  </a:txBody>
                  <a:tcPr anchor="t" marL="109728" marR="109728" marT="82296" marB="82296">
                    <a:solidFill>
                      <a:srgbClr val="EDF3F1"/>
                    </a:solidFill>
                  </a:tcPr>
                </a:tc>
                <a:tc>
                  <a:txBody>
                    <a:bodyPr/>
                    <a:lstStyle/>
                    <a:p>
                      <a:pPr>
                        <a:lnSpc>
                          <a:spcPct val="115000"/>
                        </a:lnSpc>
                        <a:spcAft>
                          <a:spcPts val="300"/>
                        </a:spcAft>
                      </a:pPr>
                      <a:r>
                        <a:rPr sz="1250" b="1" i="0">
                          <a:solidFill>
                            <a:srgbClr val="C2622B"/>
                          </a:solidFill>
                          <a:latin typeface="Segoe UI"/>
                        </a:rPr>
                        <a:t>·  </a:t>
                      </a:r>
                      <a:r>
                        <a:rPr sz="1250" b="0" i="0">
                          <a:solidFill>
                            <a:srgbClr val="28383E"/>
                          </a:solidFill>
                          <a:latin typeface="Segoe UI"/>
                        </a:rPr>
                        <a:t>Paystack card, bank transfer and USSD</a:t>
                      </a:r>
                    </a:p>
                    <a:p>
                      <a:pPr>
                        <a:lnSpc>
                          <a:spcPct val="115000"/>
                        </a:lnSpc>
                        <a:spcAft>
                          <a:spcPts val="300"/>
                        </a:spcAft>
                      </a:pPr>
                      <a:r>
                        <a:rPr sz="1250" b="1" i="0">
                          <a:solidFill>
                            <a:srgbClr val="C2622B"/>
                          </a:solidFill>
                          <a:latin typeface="Segoe UI"/>
                        </a:rPr>
                        <a:t>·  </a:t>
                      </a:r>
                      <a:r>
                        <a:rPr sz="1250" b="0" i="0">
                          <a:solidFill>
                            <a:srgbClr val="28383E"/>
                          </a:solidFill>
                          <a:latin typeface="Segoe UI"/>
                        </a:rPr>
                        <a:t>Webhooks and real-time receipts</a:t>
                      </a:r>
                    </a:p>
                  </a:txBody>
                  <a:tcPr anchor="t" marL="109728" marR="109728" marT="82296" marB="82296">
                    <a:solidFill>
                      <a:srgbClr val="EDF3F1"/>
                    </a:solidFill>
                  </a:tcPr>
                </a:tc>
                <a:tc>
                  <a:txBody>
                    <a:bodyPr/>
                    <a:lstStyle/>
                    <a:p>
                      <a:pPr>
                        <a:lnSpc>
                          <a:spcPct val="115000"/>
                        </a:lnSpc>
                        <a:spcAft>
                          <a:spcPts val="300"/>
                        </a:spcAft>
                      </a:pPr>
                      <a:r>
                        <a:rPr sz="1300" b="1" i="0">
                          <a:solidFill>
                            <a:srgbClr val="C2622B"/>
                          </a:solidFill>
                          <a:latin typeface="Segoe UI"/>
                        </a:rPr>
                        <a:t>Weeks 3-4</a:t>
                      </a:r>
                    </a:p>
                    <a:p>
                      <a:pPr>
                        <a:lnSpc>
                          <a:spcPct val="115000"/>
                        </a:lnSpc>
                        <a:spcAft>
                          <a:spcPts val="300"/>
                        </a:spcAft>
                      </a:pPr>
                      <a:r>
                        <a:rPr sz="1150" b="0" i="0">
                          <a:solidFill>
                            <a:srgbClr val="4F6167"/>
                          </a:solidFill>
                          <a:latin typeface="Segoe UI"/>
                        </a:rPr>
                        <a:t>by 28 Aug</a:t>
                      </a:r>
                    </a:p>
                  </a:txBody>
                  <a:tcPr anchor="t" marL="109728" marR="109728" marT="82296" marB="82296">
                    <a:solidFill>
                      <a:srgbClr val="EDF3F1"/>
                    </a:solidFill>
                  </a:tcPr>
                </a:tc>
              </a:tr>
              <a:tr h="708660">
                <a:tc>
                  <a:txBody>
                    <a:bodyPr/>
                    <a:lstStyle/>
                    <a:p>
                      <a:pPr>
                        <a:lnSpc>
                          <a:spcPct val="115000"/>
                        </a:lnSpc>
                        <a:spcAft>
                          <a:spcPts val="300"/>
                        </a:spcAft>
                      </a:pPr>
                      <a:r>
                        <a:rPr sz="1350" b="1">
                          <a:solidFill>
                            <a:srgbClr val="102730"/>
                          </a:solidFill>
                          <a:latin typeface="Segoe UI"/>
                        </a:rPr>
                        <a:t>Reconciliation and financial reports</a:t>
                      </a:r>
                    </a:p>
                  </a:txBody>
                  <a:tcPr anchor="t" marL="109728" marR="109728" marT="82296" marB="82296">
                    <a:solidFill>
                      <a:srgbClr val="FFFFFF"/>
                    </a:solidFill>
                  </a:tcPr>
                </a:tc>
                <a:tc>
                  <a:txBody>
                    <a:bodyPr/>
                    <a:lstStyle/>
                    <a:p>
                      <a:pPr>
                        <a:lnSpc>
                          <a:spcPct val="115000"/>
                        </a:lnSpc>
                        <a:spcAft>
                          <a:spcPts val="300"/>
                        </a:spcAft>
                      </a:pPr>
                      <a:r>
                        <a:rPr sz="1250" i="1">
                          <a:solidFill>
                            <a:srgbClr val="4F6167"/>
                          </a:solidFill>
                          <a:latin typeface="Segoe UI"/>
                        </a:rPr>
                        <a:t>Owners decide on billed against collected. Bursars judge us on the match rate.</a:t>
                      </a:r>
                    </a:p>
                  </a:txBody>
                  <a:tcPr anchor="t" marL="109728" marR="109728" marT="82296" marB="82296">
                    <a:solidFill>
                      <a:srgbClr val="FFFFFF"/>
                    </a:solidFill>
                  </a:tcPr>
                </a:tc>
                <a:tc>
                  <a:txBody>
                    <a:bodyPr/>
                    <a:lstStyle/>
                    <a:p>
                      <a:pPr>
                        <a:lnSpc>
                          <a:spcPct val="115000"/>
                        </a:lnSpc>
                        <a:spcAft>
                          <a:spcPts val="300"/>
                        </a:spcAft>
                      </a:pPr>
                      <a:r>
                        <a:rPr sz="1250" b="1" i="0">
                          <a:solidFill>
                            <a:srgbClr val="C2622B"/>
                          </a:solidFill>
                          <a:latin typeface="Segoe UI"/>
                        </a:rPr>
                        <a:t>·  </a:t>
                      </a:r>
                      <a:r>
                        <a:rPr sz="1250" b="0" i="0">
                          <a:solidFill>
                            <a:srgbClr val="28383E"/>
                          </a:solidFill>
                          <a:latin typeface="Segoe UI"/>
                        </a:rPr>
                        <a:t>Automatic bank reconciliation above 98%</a:t>
                      </a:r>
                    </a:p>
                    <a:p>
                      <a:pPr>
                        <a:lnSpc>
                          <a:spcPct val="115000"/>
                        </a:lnSpc>
                        <a:spcAft>
                          <a:spcPts val="300"/>
                        </a:spcAft>
                      </a:pPr>
                      <a:r>
                        <a:rPr sz="1250" b="1" i="0">
                          <a:solidFill>
                            <a:srgbClr val="C2622B"/>
                          </a:solidFill>
                          <a:latin typeface="Segoe UI"/>
                        </a:rPr>
                        <a:t>·  </a:t>
                      </a:r>
                      <a:r>
                        <a:rPr sz="1250" b="0" i="0">
                          <a:solidFill>
                            <a:srgbClr val="28383E"/>
                          </a:solidFill>
                          <a:latin typeface="Segoe UI"/>
                        </a:rPr>
                        <a:t>Billed, collected and outstanding by class and term</a:t>
                      </a:r>
                    </a:p>
                  </a:txBody>
                  <a:tcPr anchor="t" marL="109728" marR="109728" marT="82296" marB="82296">
                    <a:solidFill>
                      <a:srgbClr val="FFFFFF"/>
                    </a:solidFill>
                  </a:tcPr>
                </a:tc>
                <a:tc>
                  <a:txBody>
                    <a:bodyPr/>
                    <a:lstStyle/>
                    <a:p>
                      <a:pPr>
                        <a:lnSpc>
                          <a:spcPct val="115000"/>
                        </a:lnSpc>
                        <a:spcAft>
                          <a:spcPts val="300"/>
                        </a:spcAft>
                      </a:pPr>
                      <a:r>
                        <a:rPr sz="1300" b="1" i="0">
                          <a:solidFill>
                            <a:srgbClr val="C2622B"/>
                          </a:solidFill>
                          <a:latin typeface="Segoe UI"/>
                        </a:rPr>
                        <a:t>Week 4</a:t>
                      </a:r>
                    </a:p>
                    <a:p>
                      <a:pPr>
                        <a:lnSpc>
                          <a:spcPct val="115000"/>
                        </a:lnSpc>
                        <a:spcAft>
                          <a:spcPts val="300"/>
                        </a:spcAft>
                      </a:pPr>
                      <a:r>
                        <a:rPr sz="1150" b="0" i="0">
                          <a:solidFill>
                            <a:srgbClr val="4F6167"/>
                          </a:solidFill>
                          <a:latin typeface="Segoe UI"/>
                        </a:rPr>
                        <a:t>by 28 Aug</a:t>
                      </a:r>
                    </a:p>
                  </a:txBody>
                  <a:tcPr anchor="t" marL="109728" marR="109728" marT="82296" marB="82296">
                    <a:solidFill>
                      <a:srgbClr val="FFFFFF"/>
                    </a:solidFill>
                  </a:tcPr>
                </a:tc>
              </a:tr>
            </a:tbl>
          </a:graphicData>
        </a:graphic>
      </p:graphicFrame>
      <p:sp>
        <p:nvSpPr>
          <p:cNvPr id="8" name="TextBox 7"/>
          <p:cNvSpPr txBox="1"/>
          <p:nvPr/>
        </p:nvSpPr>
        <p:spPr>
          <a:xfrm>
            <a:off x="566928" y="6355080"/>
            <a:ext cx="8131759" cy="310896"/>
          </a:xfrm>
          <a:prstGeom prst="rect">
            <a:avLst/>
          </a:prstGeom>
          <a:noFill/>
        </p:spPr>
        <p:txBody>
          <a:bodyPr wrap="square" lIns="0" rIns="0" tIns="0" bIns="0">
            <a:spAutoFit/>
          </a:bodyPr>
          <a:lstStyle/>
          <a:p>
            <a:pPr>
              <a:lnSpc>
                <a:spcPct val="122000"/>
              </a:lnSpc>
              <a:spcBef>
                <a:spcPts val="0"/>
              </a:spcBef>
              <a:spcAft>
                <a:spcPts val="500"/>
              </a:spcAft>
            </a:pPr>
            <a:r>
              <a:rPr sz="1050" b="0" i="1">
                <a:solidFill>
                  <a:srgbClr val="4F6167"/>
                </a:solidFill>
                <a:latin typeface="Segoe UI"/>
              </a:rPr>
              <a:t>Done means tenant-scoped, role-correct, all states handled, responsive, audited, offline-tolerant, acceptance criteria signed off.</a:t>
            </a:r>
          </a:p>
        </p:txBody>
      </p:sp>
      <p:sp>
        <p:nvSpPr>
          <p:cNvPr id="9" name="TextBox 8"/>
          <p:cNvSpPr txBox="1"/>
          <p:nvPr/>
        </p:nvSpPr>
        <p:spPr>
          <a:xfrm>
            <a:off x="8698687" y="6355080"/>
            <a:ext cx="2926080" cy="310896"/>
          </a:xfrm>
          <a:prstGeom prst="rect">
            <a:avLst/>
          </a:prstGeom>
          <a:noFill/>
        </p:spPr>
        <p:txBody>
          <a:bodyPr wrap="square" lIns="0" rIns="0" tIns="0" bIns="0">
            <a:spAutoFit/>
          </a:bodyPr>
          <a:lstStyle/>
          <a:p>
            <a:pPr algn="r">
              <a:lnSpc>
                <a:spcPct val="122000"/>
              </a:lnSpc>
              <a:spcBef>
                <a:spcPts val="0"/>
              </a:spcBef>
              <a:spcAft>
                <a:spcPts val="500"/>
              </a:spcAft>
            </a:pPr>
            <a:r>
              <a:rPr sz="1050" b="1" i="0">
                <a:solidFill>
                  <a:srgbClr val="4F6167"/>
                </a:solidFill>
                <a:latin typeface="Segoe UI"/>
              </a:rPr>
              <a:t>Fees and payments  1 of 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457200"/>
            <a:ext cx="7863840" cy="274320"/>
          </a:xfrm>
          <a:prstGeom prst="rect">
            <a:avLst/>
          </a:prstGeom>
          <a:noFill/>
        </p:spPr>
        <p:txBody>
          <a:bodyPr wrap="square" lIns="0" rIns="0" tIns="0" bIns="0">
            <a:spAutoFit/>
          </a:bodyPr>
          <a:lstStyle/>
          <a:p>
            <a:pPr>
              <a:lnSpc>
                <a:spcPct val="122000"/>
              </a:lnSpc>
              <a:spcBef>
                <a:spcPts val="0"/>
              </a:spcBef>
              <a:spcAft>
                <a:spcPts val="500"/>
              </a:spcAft>
            </a:pPr>
            <a:r>
              <a:rPr sz="1150" b="1" i="0">
                <a:solidFill>
                  <a:srgbClr val="0A6B50"/>
                </a:solidFill>
                <a:latin typeface="Segoe UI"/>
              </a:rPr>
              <a:t>THEME DETAILS  ·  PHASE 1</a:t>
            </a:r>
          </a:p>
        </p:txBody>
      </p:sp>
      <p:sp>
        <p:nvSpPr>
          <p:cNvPr id="5" name="TextBox 4"/>
          <p:cNvSpPr txBox="1"/>
          <p:nvPr/>
        </p:nvSpPr>
        <p:spPr>
          <a:xfrm>
            <a:off x="566928" y="768096"/>
            <a:ext cx="8503920" cy="731520"/>
          </a:xfrm>
          <a:prstGeom prst="rect">
            <a:avLst/>
          </a:prstGeom>
          <a:noFill/>
        </p:spPr>
        <p:txBody>
          <a:bodyPr wrap="square" lIns="0" rIns="0" tIns="0" bIns="0">
            <a:spAutoFit/>
          </a:bodyPr>
          <a:lstStyle/>
          <a:p>
            <a:pPr>
              <a:lnSpc>
                <a:spcPct val="122000"/>
              </a:lnSpc>
              <a:spcBef>
                <a:spcPts val="0"/>
              </a:spcBef>
              <a:spcAft>
                <a:spcPts val="0"/>
              </a:spcAft>
            </a:pPr>
            <a:r>
              <a:rPr sz="3400" b="0" i="0">
                <a:solidFill>
                  <a:srgbClr val="102730"/>
                </a:solidFill>
                <a:latin typeface="Segoe UI"/>
              </a:rPr>
              <a:t>Fees and payments</a:t>
            </a:r>
          </a:p>
        </p:txBody>
      </p:sp>
      <p:sp>
        <p:nvSpPr>
          <p:cNvPr id="6" name="TextBox 5"/>
          <p:cNvSpPr txBox="1"/>
          <p:nvPr/>
        </p:nvSpPr>
        <p:spPr>
          <a:xfrm>
            <a:off x="566928" y="1699121"/>
            <a:ext cx="11057839" cy="329184"/>
          </a:xfrm>
          <a:prstGeom prst="rect">
            <a:avLst/>
          </a:prstGeom>
          <a:noFill/>
        </p:spPr>
        <p:txBody>
          <a:bodyPr wrap="square" lIns="0" rIns="0" tIns="0" bIns="0">
            <a:spAutoFit/>
          </a:bodyPr>
          <a:lstStyle/>
          <a:p>
            <a:pPr>
              <a:lnSpc>
                <a:spcPct val="122000"/>
              </a:lnSpc>
              <a:spcBef>
                <a:spcPts val="0"/>
              </a:spcBef>
              <a:spcAft>
                <a:spcPts val="500"/>
              </a:spcAft>
            </a:pPr>
            <a:r>
              <a:rPr sz="1300" b="1" i="0">
                <a:solidFill>
                  <a:srgbClr val="C2622B"/>
                </a:solidFill>
                <a:latin typeface="Segoe UI"/>
              </a:rPr>
              <a:t>Fee structure  ·  Invoices  ·  Ledger  ·  Payments  ·  Reconciliation</a:t>
            </a:r>
          </a:p>
        </p:txBody>
      </p:sp>
      <p:graphicFrame>
        <p:nvGraphicFramePr>
          <p:cNvPr id="7" name="Table 6"/>
          <p:cNvGraphicFramePr>
            <a:graphicFrameLocks noGrp="1"/>
          </p:cNvGraphicFramePr>
          <p:nvPr/>
        </p:nvGraphicFramePr>
        <p:xfrm>
          <a:off x="566928" y="2156321"/>
          <a:ext cx="11055096" cy="2834640"/>
        </p:xfrm>
        <a:graphic>
          <a:graphicData uri="http://schemas.openxmlformats.org/drawingml/2006/table">
            <a:tbl>
              <a:tblPr firstRow="1" bandRow="1">
                <a:tableStyleId>{5C22544A-7EE6-4342-B048-85BDC9FD1C3A}</a:tableStyleId>
              </a:tblPr>
              <a:tblGrid>
                <a:gridCol w="2651760"/>
                <a:gridCol w="2926080"/>
                <a:gridCol w="3931920"/>
                <a:gridCol w="1545336"/>
              </a:tblGrid>
              <a:tr h="1417320">
                <a:tc>
                  <a:txBody>
                    <a:bodyPr/>
                    <a:lstStyle/>
                    <a:p>
                      <a:r>
                        <a:rPr sz="1300" b="1">
                          <a:solidFill>
                            <a:srgbClr val="FFFFFF"/>
                          </a:solidFill>
                          <a:latin typeface="Segoe UI"/>
                        </a:rPr>
                        <a:t>Action</a:t>
                      </a:r>
                    </a:p>
                  </a:txBody>
                  <a:tcPr anchor="ctr" marL="109728" marR="109728">
                    <a:solidFill>
                      <a:srgbClr val="102730"/>
                    </a:solidFill>
                  </a:tcPr>
                </a:tc>
                <a:tc>
                  <a:txBody>
                    <a:bodyPr/>
                    <a:lstStyle/>
                    <a:p>
                      <a:r>
                        <a:rPr sz="1300" b="1">
                          <a:solidFill>
                            <a:srgbClr val="FFFFFF"/>
                          </a:solidFill>
                          <a:latin typeface="Segoe UI"/>
                        </a:rPr>
                        <a:t>Why it matters</a:t>
                      </a:r>
                    </a:p>
                  </a:txBody>
                  <a:tcPr anchor="ctr" marL="109728" marR="109728">
                    <a:solidFill>
                      <a:srgbClr val="102730"/>
                    </a:solidFill>
                  </a:tcPr>
                </a:tc>
                <a:tc>
                  <a:txBody>
                    <a:bodyPr/>
                    <a:lstStyle/>
                    <a:p>
                      <a:r>
                        <a:rPr sz="1300" b="1">
                          <a:solidFill>
                            <a:srgbClr val="FFFFFF"/>
                          </a:solidFill>
                          <a:latin typeface="Segoe UI"/>
                        </a:rPr>
                        <a:t>Milestones (epics)</a:t>
                      </a:r>
                    </a:p>
                  </a:txBody>
                  <a:tcPr anchor="ctr" marL="109728" marR="109728">
                    <a:solidFill>
                      <a:srgbClr val="102730"/>
                    </a:solidFill>
                  </a:tcPr>
                </a:tc>
                <a:tc>
                  <a:txBody>
                    <a:bodyPr/>
                    <a:lstStyle/>
                    <a:p>
                      <a:r>
                        <a:rPr sz="1300" b="1">
                          <a:solidFill>
                            <a:srgbClr val="FFFFFF"/>
                          </a:solidFill>
                          <a:latin typeface="Segoe UI"/>
                        </a:rPr>
                        <a:t>ETA</a:t>
                      </a:r>
                    </a:p>
                  </a:txBody>
                  <a:tcPr anchor="ctr" marL="109728" marR="109728">
                    <a:solidFill>
                      <a:srgbClr val="102730"/>
                    </a:solidFill>
                  </a:tcPr>
                </a:tc>
              </a:tr>
              <a:tr h="1417320">
                <a:tc>
                  <a:txBody>
                    <a:bodyPr/>
                    <a:lstStyle/>
                    <a:p>
                      <a:pPr>
                        <a:lnSpc>
                          <a:spcPct val="115000"/>
                        </a:lnSpc>
                        <a:spcAft>
                          <a:spcPts val="300"/>
                        </a:spcAft>
                      </a:pPr>
                      <a:r>
                        <a:rPr sz="1350" b="1">
                          <a:solidFill>
                            <a:srgbClr val="102730"/>
                          </a:solidFill>
                          <a:latin typeface="Segoe UI"/>
                        </a:rPr>
                        <a:t>Our own subscription billing</a:t>
                      </a:r>
                    </a:p>
                  </a:txBody>
                  <a:tcPr anchor="t" marL="109728" marR="109728" marT="82296" marB="82296">
                    <a:solidFill>
                      <a:srgbClr val="FFFFFF"/>
                    </a:solidFill>
                  </a:tcPr>
                </a:tc>
                <a:tc>
                  <a:txBody>
                    <a:bodyPr/>
                    <a:lstStyle/>
                    <a:p>
                      <a:pPr>
                        <a:lnSpc>
                          <a:spcPct val="115000"/>
                        </a:lnSpc>
                        <a:spcAft>
                          <a:spcPts val="300"/>
                        </a:spcAft>
                      </a:pPr>
                      <a:r>
                        <a:rPr sz="1250" i="1">
                          <a:solidFill>
                            <a:srgbClr val="4F6167"/>
                          </a:solidFill>
                          <a:latin typeface="Segoe UI"/>
                        </a:rPr>
                        <a:t>We charge per student per term, so the invoice has to come off the live roll rather than a fixed figure.</a:t>
                      </a:r>
                    </a:p>
                  </a:txBody>
                  <a:tcPr anchor="t" marL="109728" marR="109728" marT="82296" marB="82296">
                    <a:solidFill>
                      <a:srgbClr val="FFFFFF"/>
                    </a:solidFill>
                  </a:tcPr>
                </a:tc>
                <a:tc>
                  <a:txBody>
                    <a:bodyPr/>
                    <a:lstStyle/>
                    <a:p>
                      <a:pPr>
                        <a:lnSpc>
                          <a:spcPct val="115000"/>
                        </a:lnSpc>
                        <a:spcAft>
                          <a:spcPts val="300"/>
                        </a:spcAft>
                      </a:pPr>
                      <a:r>
                        <a:rPr sz="1250" b="1" i="0">
                          <a:solidFill>
                            <a:srgbClr val="C2622B"/>
                          </a:solidFill>
                          <a:latin typeface="Segoe UI"/>
                        </a:rPr>
                        <a:t>·  </a:t>
                      </a:r>
                      <a:r>
                        <a:rPr sz="1250" b="0" i="0">
                          <a:solidFill>
                            <a:srgbClr val="28383E"/>
                          </a:solidFill>
                          <a:latin typeface="Segoe UI"/>
                        </a:rPr>
                        <a:t>One pricing source shared by the website and the app</a:t>
                      </a:r>
                    </a:p>
                    <a:p>
                      <a:pPr>
                        <a:lnSpc>
                          <a:spcPct val="115000"/>
                        </a:lnSpc>
                        <a:spcAft>
                          <a:spcPts val="300"/>
                        </a:spcAft>
                      </a:pPr>
                      <a:r>
                        <a:rPr sz="1250" b="1" i="0">
                          <a:solidFill>
                            <a:srgbClr val="C2622B"/>
                          </a:solidFill>
                          <a:latin typeface="Segoe UI"/>
                        </a:rPr>
                        <a:t>·  </a:t>
                      </a:r>
                      <a:r>
                        <a:rPr sz="1250" b="0" i="0">
                          <a:solidFill>
                            <a:srgbClr val="28383E"/>
                          </a:solidFill>
                          <a:latin typeface="Segoe UI"/>
                        </a:rPr>
                        <a:t>Term invoice computed from live headcount, setup fee as a one-off line</a:t>
                      </a:r>
                    </a:p>
                  </a:txBody>
                  <a:tcPr anchor="t" marL="109728" marR="109728" marT="82296" marB="82296">
                    <a:solidFill>
                      <a:srgbClr val="FFFFFF"/>
                    </a:solidFill>
                  </a:tcPr>
                </a:tc>
                <a:tc>
                  <a:txBody>
                    <a:bodyPr/>
                    <a:lstStyle/>
                    <a:p>
                      <a:pPr>
                        <a:lnSpc>
                          <a:spcPct val="115000"/>
                        </a:lnSpc>
                        <a:spcAft>
                          <a:spcPts val="300"/>
                        </a:spcAft>
                      </a:pPr>
                      <a:r>
                        <a:rPr sz="1300" b="1" i="0">
                          <a:solidFill>
                            <a:srgbClr val="C2622B"/>
                          </a:solidFill>
                          <a:latin typeface="Segoe UI"/>
                        </a:rPr>
                        <a:t>Week 4</a:t>
                      </a:r>
                    </a:p>
                    <a:p>
                      <a:pPr>
                        <a:lnSpc>
                          <a:spcPct val="115000"/>
                        </a:lnSpc>
                        <a:spcAft>
                          <a:spcPts val="300"/>
                        </a:spcAft>
                      </a:pPr>
                      <a:r>
                        <a:rPr sz="1150" b="0" i="0">
                          <a:solidFill>
                            <a:srgbClr val="4F6167"/>
                          </a:solidFill>
                          <a:latin typeface="Segoe UI"/>
                        </a:rPr>
                        <a:t>by 28 Aug</a:t>
                      </a:r>
                    </a:p>
                  </a:txBody>
                  <a:tcPr anchor="t" marL="109728" marR="109728" marT="82296" marB="82296">
                    <a:solidFill>
                      <a:srgbClr val="FFFFFF"/>
                    </a:solidFill>
                  </a:tcPr>
                </a:tc>
              </a:tr>
            </a:tbl>
          </a:graphicData>
        </a:graphic>
      </p:graphicFrame>
      <p:sp>
        <p:nvSpPr>
          <p:cNvPr id="8" name="TextBox 7"/>
          <p:cNvSpPr txBox="1"/>
          <p:nvPr/>
        </p:nvSpPr>
        <p:spPr>
          <a:xfrm>
            <a:off x="566928" y="6355080"/>
            <a:ext cx="8131759" cy="310896"/>
          </a:xfrm>
          <a:prstGeom prst="rect">
            <a:avLst/>
          </a:prstGeom>
          <a:noFill/>
        </p:spPr>
        <p:txBody>
          <a:bodyPr wrap="square" lIns="0" rIns="0" tIns="0" bIns="0">
            <a:spAutoFit/>
          </a:bodyPr>
          <a:lstStyle/>
          <a:p>
            <a:pPr>
              <a:lnSpc>
                <a:spcPct val="122000"/>
              </a:lnSpc>
              <a:spcBef>
                <a:spcPts val="0"/>
              </a:spcBef>
              <a:spcAft>
                <a:spcPts val="500"/>
              </a:spcAft>
            </a:pPr>
            <a:r>
              <a:rPr sz="1050" b="0" i="1">
                <a:solidFill>
                  <a:srgbClr val="4F6167"/>
                </a:solidFill>
                <a:latin typeface="Segoe UI"/>
              </a:rPr>
              <a:t>Done means tenant-scoped, role-correct, all states handled, responsive, audited, offline-tolerant, acceptance criteria signed off.</a:t>
            </a:r>
          </a:p>
        </p:txBody>
      </p:sp>
      <p:sp>
        <p:nvSpPr>
          <p:cNvPr id="9" name="TextBox 8"/>
          <p:cNvSpPr txBox="1"/>
          <p:nvPr/>
        </p:nvSpPr>
        <p:spPr>
          <a:xfrm>
            <a:off x="8698687" y="6355080"/>
            <a:ext cx="2926080" cy="310896"/>
          </a:xfrm>
          <a:prstGeom prst="rect">
            <a:avLst/>
          </a:prstGeom>
          <a:noFill/>
        </p:spPr>
        <p:txBody>
          <a:bodyPr wrap="square" lIns="0" rIns="0" tIns="0" bIns="0">
            <a:spAutoFit/>
          </a:bodyPr>
          <a:lstStyle/>
          <a:p>
            <a:pPr algn="r">
              <a:lnSpc>
                <a:spcPct val="122000"/>
              </a:lnSpc>
              <a:spcBef>
                <a:spcPts val="0"/>
              </a:spcBef>
              <a:spcAft>
                <a:spcPts val="500"/>
              </a:spcAft>
            </a:pPr>
            <a:r>
              <a:rPr sz="1050" b="1" i="0">
                <a:solidFill>
                  <a:srgbClr val="4F6167"/>
                </a:solidFill>
                <a:latin typeface="Segoe UI"/>
              </a:rPr>
              <a:t>Fees and payments  2 of 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457200"/>
            <a:ext cx="7863840" cy="274320"/>
          </a:xfrm>
          <a:prstGeom prst="rect">
            <a:avLst/>
          </a:prstGeom>
          <a:noFill/>
        </p:spPr>
        <p:txBody>
          <a:bodyPr wrap="square" lIns="0" rIns="0" tIns="0" bIns="0">
            <a:spAutoFit/>
          </a:bodyPr>
          <a:lstStyle/>
          <a:p>
            <a:pPr>
              <a:lnSpc>
                <a:spcPct val="122000"/>
              </a:lnSpc>
              <a:spcBef>
                <a:spcPts val="0"/>
              </a:spcBef>
              <a:spcAft>
                <a:spcPts val="500"/>
              </a:spcAft>
            </a:pPr>
            <a:r>
              <a:rPr sz="1150" b="1" i="0">
                <a:solidFill>
                  <a:srgbClr val="0A6B50"/>
                </a:solidFill>
                <a:latin typeface="Segoe UI"/>
              </a:rPr>
              <a:t>THEME DETAILS  ·  PHASE 1</a:t>
            </a:r>
          </a:p>
        </p:txBody>
      </p:sp>
      <p:sp>
        <p:nvSpPr>
          <p:cNvPr id="5" name="TextBox 4"/>
          <p:cNvSpPr txBox="1"/>
          <p:nvPr/>
        </p:nvSpPr>
        <p:spPr>
          <a:xfrm>
            <a:off x="566928" y="768096"/>
            <a:ext cx="8503920" cy="731520"/>
          </a:xfrm>
          <a:prstGeom prst="rect">
            <a:avLst/>
          </a:prstGeom>
          <a:noFill/>
        </p:spPr>
        <p:txBody>
          <a:bodyPr wrap="square" lIns="0" rIns="0" tIns="0" bIns="0">
            <a:spAutoFit/>
          </a:bodyPr>
          <a:lstStyle/>
          <a:p>
            <a:pPr>
              <a:lnSpc>
                <a:spcPct val="122000"/>
              </a:lnSpc>
              <a:spcBef>
                <a:spcPts val="0"/>
              </a:spcBef>
              <a:spcAft>
                <a:spcPts val="0"/>
              </a:spcAft>
            </a:pPr>
            <a:r>
              <a:rPr sz="3400" b="0" i="0">
                <a:solidFill>
                  <a:srgbClr val="102730"/>
                </a:solidFill>
                <a:latin typeface="Segoe UI"/>
              </a:rPr>
              <a:t>Reaching parents</a:t>
            </a:r>
          </a:p>
        </p:txBody>
      </p:sp>
      <p:sp>
        <p:nvSpPr>
          <p:cNvPr id="6" name="TextBox 5"/>
          <p:cNvSpPr txBox="1"/>
          <p:nvPr/>
        </p:nvSpPr>
        <p:spPr>
          <a:xfrm>
            <a:off x="566928" y="1699121"/>
            <a:ext cx="11057839" cy="329184"/>
          </a:xfrm>
          <a:prstGeom prst="rect">
            <a:avLst/>
          </a:prstGeom>
          <a:noFill/>
        </p:spPr>
        <p:txBody>
          <a:bodyPr wrap="square" lIns="0" rIns="0" tIns="0" bIns="0">
            <a:spAutoFit/>
          </a:bodyPr>
          <a:lstStyle/>
          <a:p>
            <a:pPr>
              <a:lnSpc>
                <a:spcPct val="122000"/>
              </a:lnSpc>
              <a:spcBef>
                <a:spcPts val="0"/>
              </a:spcBef>
              <a:spcAft>
                <a:spcPts val="500"/>
              </a:spcAft>
            </a:pPr>
            <a:r>
              <a:rPr sz="1300" b="1" i="0">
                <a:solidFill>
                  <a:srgbClr val="0A6B50"/>
                </a:solidFill>
                <a:latin typeface="Segoe UI"/>
              </a:rPr>
              <a:t>Parent portal  ·  Announcements  ·  Consent  ·  WhatsApp &amp; email</a:t>
            </a:r>
          </a:p>
        </p:txBody>
      </p:sp>
      <p:graphicFrame>
        <p:nvGraphicFramePr>
          <p:cNvPr id="7" name="Table 6"/>
          <p:cNvGraphicFramePr>
            <a:graphicFrameLocks noGrp="1"/>
          </p:cNvGraphicFramePr>
          <p:nvPr/>
        </p:nvGraphicFramePr>
        <p:xfrm>
          <a:off x="566928" y="2156321"/>
          <a:ext cx="11055096" cy="2834640"/>
        </p:xfrm>
        <a:graphic>
          <a:graphicData uri="http://schemas.openxmlformats.org/drawingml/2006/table">
            <a:tbl>
              <a:tblPr firstRow="1" bandRow="1">
                <a:tableStyleId>{5C22544A-7EE6-4342-B048-85BDC9FD1C3A}</a:tableStyleId>
              </a:tblPr>
              <a:tblGrid>
                <a:gridCol w="2651760"/>
                <a:gridCol w="2926080"/>
                <a:gridCol w="3931920"/>
                <a:gridCol w="1545336"/>
              </a:tblGrid>
              <a:tr h="708660">
                <a:tc>
                  <a:txBody>
                    <a:bodyPr/>
                    <a:lstStyle/>
                    <a:p>
                      <a:r>
                        <a:rPr sz="1300" b="1">
                          <a:solidFill>
                            <a:srgbClr val="FFFFFF"/>
                          </a:solidFill>
                          <a:latin typeface="Segoe UI"/>
                        </a:rPr>
                        <a:t>Action</a:t>
                      </a:r>
                    </a:p>
                  </a:txBody>
                  <a:tcPr anchor="ctr" marL="109728" marR="109728">
                    <a:solidFill>
                      <a:srgbClr val="102730"/>
                    </a:solidFill>
                  </a:tcPr>
                </a:tc>
                <a:tc>
                  <a:txBody>
                    <a:bodyPr/>
                    <a:lstStyle/>
                    <a:p>
                      <a:r>
                        <a:rPr sz="1300" b="1">
                          <a:solidFill>
                            <a:srgbClr val="FFFFFF"/>
                          </a:solidFill>
                          <a:latin typeface="Segoe UI"/>
                        </a:rPr>
                        <a:t>Why it matters</a:t>
                      </a:r>
                    </a:p>
                  </a:txBody>
                  <a:tcPr anchor="ctr" marL="109728" marR="109728">
                    <a:solidFill>
                      <a:srgbClr val="102730"/>
                    </a:solidFill>
                  </a:tcPr>
                </a:tc>
                <a:tc>
                  <a:txBody>
                    <a:bodyPr/>
                    <a:lstStyle/>
                    <a:p>
                      <a:r>
                        <a:rPr sz="1300" b="1">
                          <a:solidFill>
                            <a:srgbClr val="FFFFFF"/>
                          </a:solidFill>
                          <a:latin typeface="Segoe UI"/>
                        </a:rPr>
                        <a:t>Milestones (epics)</a:t>
                      </a:r>
                    </a:p>
                  </a:txBody>
                  <a:tcPr anchor="ctr" marL="109728" marR="109728">
                    <a:solidFill>
                      <a:srgbClr val="102730"/>
                    </a:solidFill>
                  </a:tcPr>
                </a:tc>
                <a:tc>
                  <a:txBody>
                    <a:bodyPr/>
                    <a:lstStyle/>
                    <a:p>
                      <a:r>
                        <a:rPr sz="1300" b="1">
                          <a:solidFill>
                            <a:srgbClr val="FFFFFF"/>
                          </a:solidFill>
                          <a:latin typeface="Segoe UI"/>
                        </a:rPr>
                        <a:t>ETA</a:t>
                      </a:r>
                    </a:p>
                  </a:txBody>
                  <a:tcPr anchor="ctr" marL="109728" marR="109728">
                    <a:solidFill>
                      <a:srgbClr val="102730"/>
                    </a:solidFill>
                  </a:tcPr>
                </a:tc>
              </a:tr>
              <a:tr h="708660">
                <a:tc>
                  <a:txBody>
                    <a:bodyPr/>
                    <a:lstStyle/>
                    <a:p>
                      <a:pPr>
                        <a:lnSpc>
                          <a:spcPct val="115000"/>
                        </a:lnSpc>
                        <a:spcAft>
                          <a:spcPts val="300"/>
                        </a:spcAft>
                      </a:pPr>
                      <a:r>
                        <a:rPr sz="1350" b="1">
                          <a:solidFill>
                            <a:srgbClr val="102730"/>
                          </a:solidFill>
                          <a:latin typeface="Segoe UI"/>
                        </a:rPr>
                        <a:t>Parent portal and child dashboards</a:t>
                      </a:r>
                    </a:p>
                  </a:txBody>
                  <a:tcPr anchor="t" marL="109728" marR="109728" marT="82296" marB="82296">
                    <a:solidFill>
                      <a:srgbClr val="FFFFFF"/>
                    </a:solidFill>
                  </a:tcPr>
                </a:tc>
                <a:tc>
                  <a:txBody>
                    <a:bodyPr/>
                    <a:lstStyle/>
                    <a:p>
                      <a:pPr>
                        <a:lnSpc>
                          <a:spcPct val="115000"/>
                        </a:lnSpc>
                        <a:spcAft>
                          <a:spcPts val="300"/>
                        </a:spcAft>
                      </a:pPr>
                      <a:r>
                        <a:rPr sz="1250" i="1">
                          <a:solidFill>
                            <a:srgbClr val="4F6167"/>
                          </a:solidFill>
                          <a:latin typeface="Segoe UI"/>
                        </a:rPr>
                        <a:t>One login covering several children is the difference between a parent using it and not.</a:t>
                      </a:r>
                    </a:p>
                  </a:txBody>
                  <a:tcPr anchor="t" marL="109728" marR="109728" marT="82296" marB="82296">
                    <a:solidFill>
                      <a:srgbClr val="FFFFFF"/>
                    </a:solidFill>
                  </a:tcPr>
                </a:tc>
                <a:tc>
                  <a:txBody>
                    <a:bodyPr/>
                    <a:lstStyle/>
                    <a:p>
                      <a:pPr>
                        <a:lnSpc>
                          <a:spcPct val="115000"/>
                        </a:lnSpc>
                        <a:spcAft>
                          <a:spcPts val="300"/>
                        </a:spcAft>
                      </a:pPr>
                      <a:r>
                        <a:rPr sz="1250" b="1" i="0">
                          <a:solidFill>
                            <a:srgbClr val="0A6B50"/>
                          </a:solidFill>
                          <a:latin typeface="Segoe UI"/>
                        </a:rPr>
                        <a:t>·  </a:t>
                      </a:r>
                      <a:r>
                        <a:rPr sz="1250" b="0" i="0">
                          <a:solidFill>
                            <a:srgbClr val="28383E"/>
                          </a:solidFill>
                          <a:latin typeface="Segoe UI"/>
                        </a:rPr>
                        <a:t>Per-child view of fees, results and attendance</a:t>
                      </a:r>
                    </a:p>
                    <a:p>
                      <a:pPr>
                        <a:lnSpc>
                          <a:spcPct val="115000"/>
                        </a:lnSpc>
                        <a:spcAft>
                          <a:spcPts val="300"/>
                        </a:spcAft>
                      </a:pPr>
                      <a:r>
                        <a:rPr sz="1250" b="1" i="0">
                          <a:solidFill>
                            <a:srgbClr val="0A6B50"/>
                          </a:solidFill>
                          <a:latin typeface="Segoe UI"/>
                        </a:rPr>
                        <a:t>·  </a:t>
                      </a:r>
                      <a:r>
                        <a:rPr sz="1250" b="0" i="0">
                          <a:solidFill>
                            <a:srgbClr val="28383E"/>
                          </a:solidFill>
                          <a:latin typeface="Segoe UI"/>
                        </a:rPr>
                        <a:t>Statement and receipt download</a:t>
                      </a:r>
                    </a:p>
                  </a:txBody>
                  <a:tcPr anchor="t" marL="109728" marR="109728" marT="82296" marB="82296">
                    <a:solidFill>
                      <a:srgbClr val="FFFFFF"/>
                    </a:solidFill>
                  </a:tcPr>
                </a:tc>
                <a:tc>
                  <a:txBody>
                    <a:bodyPr/>
                    <a:lstStyle/>
                    <a:p>
                      <a:pPr>
                        <a:lnSpc>
                          <a:spcPct val="115000"/>
                        </a:lnSpc>
                        <a:spcAft>
                          <a:spcPts val="300"/>
                        </a:spcAft>
                      </a:pPr>
                      <a:r>
                        <a:rPr sz="1300" b="1" i="0">
                          <a:solidFill>
                            <a:srgbClr val="0A6B50"/>
                          </a:solidFill>
                          <a:latin typeface="Segoe UI"/>
                        </a:rPr>
                        <a:t>Week 3</a:t>
                      </a:r>
                    </a:p>
                    <a:p>
                      <a:pPr>
                        <a:lnSpc>
                          <a:spcPct val="115000"/>
                        </a:lnSpc>
                        <a:spcAft>
                          <a:spcPts val="300"/>
                        </a:spcAft>
                      </a:pPr>
                      <a:r>
                        <a:rPr sz="1150" b="0" i="0">
                          <a:solidFill>
                            <a:srgbClr val="4F6167"/>
                          </a:solidFill>
                          <a:latin typeface="Segoe UI"/>
                        </a:rPr>
                        <a:t>by 21 Aug</a:t>
                      </a:r>
                    </a:p>
                  </a:txBody>
                  <a:tcPr anchor="t" marL="109728" marR="109728" marT="82296" marB="82296">
                    <a:solidFill>
                      <a:srgbClr val="FFFFFF"/>
                    </a:solidFill>
                  </a:tcPr>
                </a:tc>
              </a:tr>
              <a:tr h="708660">
                <a:tc>
                  <a:txBody>
                    <a:bodyPr/>
                    <a:lstStyle/>
                    <a:p>
                      <a:pPr>
                        <a:lnSpc>
                          <a:spcPct val="115000"/>
                        </a:lnSpc>
                        <a:spcAft>
                          <a:spcPts val="300"/>
                        </a:spcAft>
                      </a:pPr>
                      <a:r>
                        <a:rPr sz="1350" b="1">
                          <a:solidFill>
                            <a:srgbClr val="102730"/>
                          </a:solidFill>
                          <a:latin typeface="Segoe UI"/>
                        </a:rPr>
                        <a:t>Announcements, calendar and digital consent</a:t>
                      </a:r>
                    </a:p>
                  </a:txBody>
                  <a:tcPr anchor="t" marL="109728" marR="109728" marT="82296" marB="82296">
                    <a:solidFill>
                      <a:srgbClr val="EDF3F1"/>
                    </a:solidFill>
                  </a:tcPr>
                </a:tc>
                <a:tc>
                  <a:txBody>
                    <a:bodyPr/>
                    <a:lstStyle/>
                    <a:p>
                      <a:pPr>
                        <a:lnSpc>
                          <a:spcPct val="115000"/>
                        </a:lnSpc>
                        <a:spcAft>
                          <a:spcPts val="300"/>
                        </a:spcAft>
                      </a:pPr>
                      <a:r>
                        <a:rPr sz="1250" i="1">
                          <a:solidFill>
                            <a:srgbClr val="4F6167"/>
                          </a:solidFill>
                          <a:latin typeface="Segoe UI"/>
                        </a:rPr>
                        <a:t>Consent slips are the paper the front office loses most often.</a:t>
                      </a:r>
                    </a:p>
                  </a:txBody>
                  <a:tcPr anchor="t" marL="109728" marR="109728" marT="82296" marB="82296">
                    <a:solidFill>
                      <a:srgbClr val="EDF3F1"/>
                    </a:solidFill>
                  </a:tcPr>
                </a:tc>
                <a:tc>
                  <a:txBody>
                    <a:bodyPr/>
                    <a:lstStyle/>
                    <a:p>
                      <a:pPr>
                        <a:lnSpc>
                          <a:spcPct val="115000"/>
                        </a:lnSpc>
                        <a:spcAft>
                          <a:spcPts val="300"/>
                        </a:spcAft>
                      </a:pPr>
                      <a:r>
                        <a:rPr sz="1250" b="1" i="0">
                          <a:solidFill>
                            <a:srgbClr val="0A6B50"/>
                          </a:solidFill>
                          <a:latin typeface="Segoe UI"/>
                        </a:rPr>
                        <a:t>·  </a:t>
                      </a:r>
                      <a:r>
                        <a:rPr sz="1250" b="0" i="0">
                          <a:solidFill>
                            <a:srgbClr val="28383E"/>
                          </a:solidFill>
                          <a:latin typeface="Segoe UI"/>
                        </a:rPr>
                        <a:t>Announcements and notice board</a:t>
                      </a:r>
                    </a:p>
                    <a:p>
                      <a:pPr>
                        <a:lnSpc>
                          <a:spcPct val="115000"/>
                        </a:lnSpc>
                        <a:spcAft>
                          <a:spcPts val="300"/>
                        </a:spcAft>
                      </a:pPr>
                      <a:r>
                        <a:rPr sz="1250" b="1" i="0">
                          <a:solidFill>
                            <a:srgbClr val="0A6B50"/>
                          </a:solidFill>
                          <a:latin typeface="Segoe UI"/>
                        </a:rPr>
                        <a:t>·  </a:t>
                      </a:r>
                      <a:r>
                        <a:rPr sz="1250" b="0" i="0">
                          <a:solidFill>
                            <a:srgbClr val="28383E"/>
                          </a:solidFill>
                          <a:latin typeface="Segoe UI"/>
                        </a:rPr>
                        <a:t>School calendar and events</a:t>
                      </a:r>
                    </a:p>
                    <a:p>
                      <a:pPr>
                        <a:lnSpc>
                          <a:spcPct val="115000"/>
                        </a:lnSpc>
                        <a:spcAft>
                          <a:spcPts val="300"/>
                        </a:spcAft>
                      </a:pPr>
                      <a:r>
                        <a:rPr sz="1250" b="1" i="0">
                          <a:solidFill>
                            <a:srgbClr val="0A6B50"/>
                          </a:solidFill>
                          <a:latin typeface="Segoe UI"/>
                        </a:rPr>
                        <a:t>·  </a:t>
                      </a:r>
                      <a:r>
                        <a:rPr sz="1250" b="0" i="0">
                          <a:solidFill>
                            <a:srgbClr val="28383E"/>
                          </a:solidFill>
                          <a:latin typeface="Segoe UI"/>
                        </a:rPr>
                        <a:t>Digital consent with a live response list</a:t>
                      </a:r>
                    </a:p>
                  </a:txBody>
                  <a:tcPr anchor="t" marL="109728" marR="109728" marT="82296" marB="82296">
                    <a:solidFill>
                      <a:srgbClr val="EDF3F1"/>
                    </a:solidFill>
                  </a:tcPr>
                </a:tc>
                <a:tc>
                  <a:txBody>
                    <a:bodyPr/>
                    <a:lstStyle/>
                    <a:p>
                      <a:pPr>
                        <a:lnSpc>
                          <a:spcPct val="115000"/>
                        </a:lnSpc>
                        <a:spcAft>
                          <a:spcPts val="300"/>
                        </a:spcAft>
                      </a:pPr>
                      <a:r>
                        <a:rPr sz="1300" b="1" i="0">
                          <a:solidFill>
                            <a:srgbClr val="0A6B50"/>
                          </a:solidFill>
                          <a:latin typeface="Segoe UI"/>
                        </a:rPr>
                        <a:t>Weeks 3-4</a:t>
                      </a:r>
                    </a:p>
                    <a:p>
                      <a:pPr>
                        <a:lnSpc>
                          <a:spcPct val="115000"/>
                        </a:lnSpc>
                        <a:spcAft>
                          <a:spcPts val="300"/>
                        </a:spcAft>
                      </a:pPr>
                      <a:r>
                        <a:rPr sz="1150" b="0" i="0">
                          <a:solidFill>
                            <a:srgbClr val="4F6167"/>
                          </a:solidFill>
                          <a:latin typeface="Segoe UI"/>
                        </a:rPr>
                        <a:t>by 28 Aug</a:t>
                      </a:r>
                    </a:p>
                  </a:txBody>
                  <a:tcPr anchor="t" marL="109728" marR="109728" marT="82296" marB="82296">
                    <a:solidFill>
                      <a:srgbClr val="EDF3F1"/>
                    </a:solidFill>
                  </a:tcPr>
                </a:tc>
              </a:tr>
              <a:tr h="708660">
                <a:tc>
                  <a:txBody>
                    <a:bodyPr/>
                    <a:lstStyle/>
                    <a:p>
                      <a:pPr>
                        <a:lnSpc>
                          <a:spcPct val="115000"/>
                        </a:lnSpc>
                        <a:spcAft>
                          <a:spcPts val="300"/>
                        </a:spcAft>
                      </a:pPr>
                      <a:r>
                        <a:rPr sz="1350" b="1">
                          <a:solidFill>
                            <a:srgbClr val="102730"/>
                          </a:solidFill>
                          <a:latin typeface="Segoe UI"/>
                        </a:rPr>
                        <a:t>WhatsApp and email delivery</a:t>
                      </a:r>
                    </a:p>
                  </a:txBody>
                  <a:tcPr anchor="t" marL="109728" marR="109728" marT="82296" marB="82296">
                    <a:solidFill>
                      <a:srgbClr val="FFFFFF"/>
                    </a:solidFill>
                  </a:tcPr>
                </a:tc>
                <a:tc>
                  <a:txBody>
                    <a:bodyPr/>
                    <a:lstStyle/>
                    <a:p>
                      <a:pPr>
                        <a:lnSpc>
                          <a:spcPct val="115000"/>
                        </a:lnSpc>
                        <a:spcAft>
                          <a:spcPts val="300"/>
                        </a:spcAft>
                      </a:pPr>
                      <a:r>
                        <a:rPr sz="1250" i="1">
                          <a:solidFill>
                            <a:srgbClr val="4F6167"/>
                          </a:solidFill>
                          <a:latin typeface="Segoe UI"/>
                        </a:rPr>
                        <a:t>In-app notifications alone do not reach Nigerian parents. WhatsApp does.</a:t>
                      </a:r>
                    </a:p>
                  </a:txBody>
                  <a:tcPr anchor="t" marL="109728" marR="109728" marT="82296" marB="82296">
                    <a:solidFill>
                      <a:srgbClr val="FFFFFF"/>
                    </a:solidFill>
                  </a:tcPr>
                </a:tc>
                <a:tc>
                  <a:txBody>
                    <a:bodyPr/>
                    <a:lstStyle/>
                    <a:p>
                      <a:pPr>
                        <a:lnSpc>
                          <a:spcPct val="115000"/>
                        </a:lnSpc>
                        <a:spcAft>
                          <a:spcPts val="300"/>
                        </a:spcAft>
                      </a:pPr>
                      <a:r>
                        <a:rPr sz="1250" b="1" i="0">
                          <a:solidFill>
                            <a:srgbClr val="0A6B50"/>
                          </a:solidFill>
                          <a:latin typeface="Segoe UI"/>
                        </a:rPr>
                        <a:t>·  </a:t>
                      </a:r>
                      <a:r>
                        <a:rPr sz="1250" b="0" i="0">
                          <a:solidFill>
                            <a:srgbClr val="28383E"/>
                          </a:solidFill>
                          <a:latin typeface="Segoe UI"/>
                        </a:rPr>
                        <a:t>Provider integration and delivery receipts</a:t>
                      </a:r>
                    </a:p>
                    <a:p>
                      <a:pPr>
                        <a:lnSpc>
                          <a:spcPct val="115000"/>
                        </a:lnSpc>
                        <a:spcAft>
                          <a:spcPts val="300"/>
                        </a:spcAft>
                      </a:pPr>
                      <a:r>
                        <a:rPr sz="1250" b="1" i="0">
                          <a:solidFill>
                            <a:srgbClr val="0A6B50"/>
                          </a:solidFill>
                          <a:latin typeface="Segoe UI"/>
                        </a:rPr>
                        <a:t>·  </a:t>
                      </a:r>
                      <a:r>
                        <a:rPr sz="1250" b="0" i="0">
                          <a:solidFill>
                            <a:srgbClr val="28383E"/>
                          </a:solidFill>
                          <a:latin typeface="Segoe UI"/>
                        </a:rPr>
                        <a:t>Absence, fee and receipt templates</a:t>
                      </a:r>
                    </a:p>
                  </a:txBody>
                  <a:tcPr anchor="t" marL="109728" marR="109728" marT="82296" marB="82296">
                    <a:solidFill>
                      <a:srgbClr val="FFFFFF"/>
                    </a:solidFill>
                  </a:tcPr>
                </a:tc>
                <a:tc>
                  <a:txBody>
                    <a:bodyPr/>
                    <a:lstStyle/>
                    <a:p>
                      <a:pPr>
                        <a:lnSpc>
                          <a:spcPct val="115000"/>
                        </a:lnSpc>
                        <a:spcAft>
                          <a:spcPts val="300"/>
                        </a:spcAft>
                      </a:pPr>
                      <a:r>
                        <a:rPr sz="1300" b="1" i="0">
                          <a:solidFill>
                            <a:srgbClr val="0A6B50"/>
                          </a:solidFill>
                          <a:latin typeface="Segoe UI"/>
                        </a:rPr>
                        <a:t>Week 4</a:t>
                      </a:r>
                    </a:p>
                    <a:p>
                      <a:pPr>
                        <a:lnSpc>
                          <a:spcPct val="115000"/>
                        </a:lnSpc>
                        <a:spcAft>
                          <a:spcPts val="300"/>
                        </a:spcAft>
                      </a:pPr>
                      <a:r>
                        <a:rPr sz="1150" b="0" i="0">
                          <a:solidFill>
                            <a:srgbClr val="4F6167"/>
                          </a:solidFill>
                          <a:latin typeface="Segoe UI"/>
                        </a:rPr>
                        <a:t>by 28 Aug</a:t>
                      </a:r>
                    </a:p>
                  </a:txBody>
                  <a:tcPr anchor="t" marL="109728" marR="109728" marT="82296" marB="82296">
                    <a:solidFill>
                      <a:srgbClr val="FFFFFF"/>
                    </a:solidFill>
                  </a:tcPr>
                </a:tc>
              </a:tr>
            </a:tbl>
          </a:graphicData>
        </a:graphic>
      </p:graphicFrame>
      <p:sp>
        <p:nvSpPr>
          <p:cNvPr id="8" name="TextBox 7"/>
          <p:cNvSpPr txBox="1"/>
          <p:nvPr/>
        </p:nvSpPr>
        <p:spPr>
          <a:xfrm>
            <a:off x="566928" y="6355080"/>
            <a:ext cx="8131759" cy="310896"/>
          </a:xfrm>
          <a:prstGeom prst="rect">
            <a:avLst/>
          </a:prstGeom>
          <a:noFill/>
        </p:spPr>
        <p:txBody>
          <a:bodyPr wrap="square" lIns="0" rIns="0" tIns="0" bIns="0">
            <a:spAutoFit/>
          </a:bodyPr>
          <a:lstStyle/>
          <a:p>
            <a:pPr>
              <a:lnSpc>
                <a:spcPct val="122000"/>
              </a:lnSpc>
              <a:spcBef>
                <a:spcPts val="0"/>
              </a:spcBef>
              <a:spcAft>
                <a:spcPts val="500"/>
              </a:spcAft>
            </a:pPr>
            <a:r>
              <a:rPr sz="1050" b="0" i="1">
                <a:solidFill>
                  <a:srgbClr val="4F6167"/>
                </a:solidFill>
                <a:latin typeface="Segoe UI"/>
              </a:rPr>
              <a:t>Done means tenant-scoped, role-correct, all states handled, responsive, audited, offline-tolerant, acceptance criteria signed off.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457200"/>
            <a:ext cx="7863840" cy="274320"/>
          </a:xfrm>
          <a:prstGeom prst="rect">
            <a:avLst/>
          </a:prstGeom>
          <a:noFill/>
        </p:spPr>
        <p:txBody>
          <a:bodyPr wrap="square" lIns="0" rIns="0" tIns="0" bIns="0">
            <a:spAutoFit/>
          </a:bodyPr>
          <a:lstStyle/>
          <a:p>
            <a:pPr>
              <a:lnSpc>
                <a:spcPct val="122000"/>
              </a:lnSpc>
              <a:spcBef>
                <a:spcPts val="0"/>
              </a:spcBef>
              <a:spcAft>
                <a:spcPts val="500"/>
              </a:spcAft>
            </a:pPr>
            <a:r>
              <a:rPr sz="1150" b="1" i="0">
                <a:solidFill>
                  <a:srgbClr val="3D6EA8"/>
                </a:solidFill>
                <a:latin typeface="Segoe UI"/>
              </a:rPr>
              <a:t>THEME DETAILS  ·  PHASE 2</a:t>
            </a:r>
          </a:p>
        </p:txBody>
      </p:sp>
      <p:sp>
        <p:nvSpPr>
          <p:cNvPr id="5" name="TextBox 4"/>
          <p:cNvSpPr txBox="1"/>
          <p:nvPr/>
        </p:nvSpPr>
        <p:spPr>
          <a:xfrm>
            <a:off x="566928" y="768096"/>
            <a:ext cx="8503920" cy="731520"/>
          </a:xfrm>
          <a:prstGeom prst="rect">
            <a:avLst/>
          </a:prstGeom>
          <a:noFill/>
        </p:spPr>
        <p:txBody>
          <a:bodyPr wrap="square" lIns="0" rIns="0" tIns="0" bIns="0">
            <a:spAutoFit/>
          </a:bodyPr>
          <a:lstStyle/>
          <a:p>
            <a:pPr>
              <a:lnSpc>
                <a:spcPct val="122000"/>
              </a:lnSpc>
              <a:spcBef>
                <a:spcPts val="0"/>
              </a:spcBef>
              <a:spcAft>
                <a:spcPts val="0"/>
              </a:spcAft>
            </a:pPr>
            <a:r>
              <a:rPr sz="3400" b="0" i="0">
                <a:solidFill>
                  <a:srgbClr val="102730"/>
                </a:solidFill>
                <a:latin typeface="Segoe UI"/>
              </a:rPr>
              <a:t>The apps</a:t>
            </a:r>
          </a:p>
        </p:txBody>
      </p:sp>
      <p:sp>
        <p:nvSpPr>
          <p:cNvPr id="6" name="TextBox 5"/>
          <p:cNvSpPr txBox="1"/>
          <p:nvPr/>
        </p:nvSpPr>
        <p:spPr>
          <a:xfrm>
            <a:off x="566928" y="1699121"/>
            <a:ext cx="11057839" cy="329184"/>
          </a:xfrm>
          <a:prstGeom prst="rect">
            <a:avLst/>
          </a:prstGeom>
          <a:noFill/>
        </p:spPr>
        <p:txBody>
          <a:bodyPr wrap="square" lIns="0" rIns="0" tIns="0" bIns="0">
            <a:spAutoFit/>
          </a:bodyPr>
          <a:lstStyle/>
          <a:p>
            <a:pPr>
              <a:lnSpc>
                <a:spcPct val="122000"/>
              </a:lnSpc>
              <a:spcBef>
                <a:spcPts val="0"/>
              </a:spcBef>
              <a:spcAft>
                <a:spcPts val="500"/>
              </a:spcAft>
            </a:pPr>
            <a:r>
              <a:rPr sz="1300" b="1" i="0">
                <a:solidFill>
                  <a:srgbClr val="3D6EA8"/>
                </a:solidFill>
                <a:latin typeface="Segoe UI"/>
              </a:rPr>
              <a:t>Parent  ·  Teacher  ·  Student  ·  Store release</a:t>
            </a:r>
          </a:p>
        </p:txBody>
      </p:sp>
      <p:graphicFrame>
        <p:nvGraphicFramePr>
          <p:cNvPr id="7" name="Table 6"/>
          <p:cNvGraphicFramePr>
            <a:graphicFrameLocks noGrp="1"/>
          </p:cNvGraphicFramePr>
          <p:nvPr/>
        </p:nvGraphicFramePr>
        <p:xfrm>
          <a:off x="566928" y="2156321"/>
          <a:ext cx="11055096" cy="2834640"/>
        </p:xfrm>
        <a:graphic>
          <a:graphicData uri="http://schemas.openxmlformats.org/drawingml/2006/table">
            <a:tbl>
              <a:tblPr firstRow="1" bandRow="1">
                <a:tableStyleId>{5C22544A-7EE6-4342-B048-85BDC9FD1C3A}</a:tableStyleId>
              </a:tblPr>
              <a:tblGrid>
                <a:gridCol w="2651760"/>
                <a:gridCol w="2926080"/>
                <a:gridCol w="3931920"/>
                <a:gridCol w="1545336"/>
              </a:tblGrid>
              <a:tr h="708660">
                <a:tc>
                  <a:txBody>
                    <a:bodyPr/>
                    <a:lstStyle/>
                    <a:p>
                      <a:r>
                        <a:rPr sz="1300" b="1">
                          <a:solidFill>
                            <a:srgbClr val="FFFFFF"/>
                          </a:solidFill>
                          <a:latin typeface="Segoe UI"/>
                        </a:rPr>
                        <a:t>Action</a:t>
                      </a:r>
                    </a:p>
                  </a:txBody>
                  <a:tcPr anchor="ctr" marL="109728" marR="109728">
                    <a:solidFill>
                      <a:srgbClr val="102730"/>
                    </a:solidFill>
                  </a:tcPr>
                </a:tc>
                <a:tc>
                  <a:txBody>
                    <a:bodyPr/>
                    <a:lstStyle/>
                    <a:p>
                      <a:r>
                        <a:rPr sz="1300" b="1">
                          <a:solidFill>
                            <a:srgbClr val="FFFFFF"/>
                          </a:solidFill>
                          <a:latin typeface="Segoe UI"/>
                        </a:rPr>
                        <a:t>Why it matters</a:t>
                      </a:r>
                    </a:p>
                  </a:txBody>
                  <a:tcPr anchor="ctr" marL="109728" marR="109728">
                    <a:solidFill>
                      <a:srgbClr val="102730"/>
                    </a:solidFill>
                  </a:tcPr>
                </a:tc>
                <a:tc>
                  <a:txBody>
                    <a:bodyPr/>
                    <a:lstStyle/>
                    <a:p>
                      <a:r>
                        <a:rPr sz="1300" b="1">
                          <a:solidFill>
                            <a:srgbClr val="FFFFFF"/>
                          </a:solidFill>
                          <a:latin typeface="Segoe UI"/>
                        </a:rPr>
                        <a:t>Milestones (epics)</a:t>
                      </a:r>
                    </a:p>
                  </a:txBody>
                  <a:tcPr anchor="ctr" marL="109728" marR="109728">
                    <a:solidFill>
                      <a:srgbClr val="102730"/>
                    </a:solidFill>
                  </a:tcPr>
                </a:tc>
                <a:tc>
                  <a:txBody>
                    <a:bodyPr/>
                    <a:lstStyle/>
                    <a:p>
                      <a:r>
                        <a:rPr sz="1300" b="1">
                          <a:solidFill>
                            <a:srgbClr val="FFFFFF"/>
                          </a:solidFill>
                          <a:latin typeface="Segoe UI"/>
                        </a:rPr>
                        <a:t>ETA</a:t>
                      </a:r>
                    </a:p>
                  </a:txBody>
                  <a:tcPr anchor="ctr" marL="109728" marR="109728">
                    <a:solidFill>
                      <a:srgbClr val="102730"/>
                    </a:solidFill>
                  </a:tcPr>
                </a:tc>
              </a:tr>
              <a:tr h="708660">
                <a:tc>
                  <a:txBody>
                    <a:bodyPr/>
                    <a:lstStyle/>
                    <a:p>
                      <a:pPr>
                        <a:lnSpc>
                          <a:spcPct val="115000"/>
                        </a:lnSpc>
                        <a:spcAft>
                          <a:spcPts val="300"/>
                        </a:spcAft>
                      </a:pPr>
                      <a:r>
                        <a:rPr sz="1350" b="1">
                          <a:solidFill>
                            <a:srgbClr val="102730"/>
                          </a:solidFill>
                          <a:latin typeface="Segoe UI"/>
                        </a:rPr>
                        <a:t>App shell, auth and sync</a:t>
                      </a:r>
                    </a:p>
                  </a:txBody>
                  <a:tcPr anchor="t" marL="109728" marR="109728" marT="82296" marB="82296">
                    <a:solidFill>
                      <a:srgbClr val="FFFFFF"/>
                    </a:solidFill>
                  </a:tcPr>
                </a:tc>
                <a:tc>
                  <a:txBody>
                    <a:bodyPr/>
                    <a:lstStyle/>
                    <a:p>
                      <a:pPr>
                        <a:lnSpc>
                          <a:spcPct val="115000"/>
                        </a:lnSpc>
                        <a:spcAft>
                          <a:spcPts val="300"/>
                        </a:spcAft>
                      </a:pPr>
                      <a:r>
                        <a:rPr sz="1250" i="1">
                          <a:solidFill>
                            <a:srgbClr val="4F6167"/>
                          </a:solidFill>
                          <a:latin typeface="Segoe UI"/>
                        </a:rPr>
                        <a:t>One shell serving three roles keeps the apps consistent and the release predictable.</a:t>
                      </a:r>
                    </a:p>
                  </a:txBody>
                  <a:tcPr anchor="t" marL="109728" marR="109728" marT="82296" marB="82296">
                    <a:solidFill>
                      <a:srgbClr val="FFFFFF"/>
                    </a:solidFill>
                  </a:tcPr>
                </a:tc>
                <a:tc>
                  <a:txBody>
                    <a:bodyPr/>
                    <a:lstStyle/>
                    <a:p>
                      <a:pPr>
                        <a:lnSpc>
                          <a:spcPct val="115000"/>
                        </a:lnSpc>
                        <a:spcAft>
                          <a:spcPts val="300"/>
                        </a:spcAft>
                      </a:pPr>
                      <a:r>
                        <a:rPr sz="1250" b="1" i="0">
                          <a:solidFill>
                            <a:srgbClr val="3D6EA8"/>
                          </a:solidFill>
                          <a:latin typeface="Segoe UI"/>
                        </a:rPr>
                        <a:t>·  </a:t>
                      </a:r>
                      <a:r>
                        <a:rPr sz="1250" b="0" i="0">
                          <a:solidFill>
                            <a:srgbClr val="28383E"/>
                          </a:solidFill>
                          <a:latin typeface="Segoe UI"/>
                        </a:rPr>
                        <a:t>Shared shell with role-aware navigation</a:t>
                      </a:r>
                    </a:p>
                    <a:p>
                      <a:pPr>
                        <a:lnSpc>
                          <a:spcPct val="115000"/>
                        </a:lnSpc>
                        <a:spcAft>
                          <a:spcPts val="300"/>
                        </a:spcAft>
                      </a:pPr>
                      <a:r>
                        <a:rPr sz="1250" b="1" i="0">
                          <a:solidFill>
                            <a:srgbClr val="3D6EA8"/>
                          </a:solidFill>
                          <a:latin typeface="Segoe UI"/>
                        </a:rPr>
                        <a:t>·  </a:t>
                      </a:r>
                      <a:r>
                        <a:rPr sz="1250" b="0" i="0">
                          <a:solidFill>
                            <a:srgbClr val="28383E"/>
                          </a:solidFill>
                          <a:latin typeface="Segoe UI"/>
                        </a:rPr>
                        <a:t>Token auth against the Phase 1 API</a:t>
                      </a:r>
                    </a:p>
                    <a:p>
                      <a:pPr>
                        <a:lnSpc>
                          <a:spcPct val="115000"/>
                        </a:lnSpc>
                        <a:spcAft>
                          <a:spcPts val="300"/>
                        </a:spcAft>
                      </a:pPr>
                      <a:r>
                        <a:rPr sz="1250" b="1" i="0">
                          <a:solidFill>
                            <a:srgbClr val="3D6EA8"/>
                          </a:solidFill>
                          <a:latin typeface="Segoe UI"/>
                        </a:rPr>
                        <a:t>·  </a:t>
                      </a:r>
                      <a:r>
                        <a:rPr sz="1250" b="0" i="0">
                          <a:solidFill>
                            <a:srgbClr val="28383E"/>
                          </a:solidFill>
                          <a:latin typeface="Segoe UI"/>
                        </a:rPr>
                        <a:t>Offline store and background sync</a:t>
                      </a:r>
                    </a:p>
                  </a:txBody>
                  <a:tcPr anchor="t" marL="109728" marR="109728" marT="82296" marB="82296">
                    <a:solidFill>
                      <a:srgbClr val="FFFFFF"/>
                    </a:solidFill>
                  </a:tcPr>
                </a:tc>
                <a:tc>
                  <a:txBody>
                    <a:bodyPr/>
                    <a:lstStyle/>
                    <a:p>
                      <a:pPr>
                        <a:lnSpc>
                          <a:spcPct val="115000"/>
                        </a:lnSpc>
                        <a:spcAft>
                          <a:spcPts val="300"/>
                        </a:spcAft>
                      </a:pPr>
                      <a:r>
                        <a:rPr sz="1300" b="1" i="0">
                          <a:solidFill>
                            <a:srgbClr val="3D6EA8"/>
                          </a:solidFill>
                          <a:latin typeface="Segoe UI"/>
                        </a:rPr>
                        <a:t>Weeks 5-6</a:t>
                      </a:r>
                    </a:p>
                    <a:p>
                      <a:pPr>
                        <a:lnSpc>
                          <a:spcPct val="115000"/>
                        </a:lnSpc>
                        <a:spcAft>
                          <a:spcPts val="300"/>
                        </a:spcAft>
                      </a:pPr>
                      <a:r>
                        <a:rPr sz="1150" b="0" i="0">
                          <a:solidFill>
                            <a:srgbClr val="4F6167"/>
                          </a:solidFill>
                          <a:latin typeface="Segoe UI"/>
                        </a:rPr>
                        <a:t>by 11 Sep</a:t>
                      </a:r>
                    </a:p>
                  </a:txBody>
                  <a:tcPr anchor="t" marL="109728" marR="109728" marT="82296" marB="82296">
                    <a:solidFill>
                      <a:srgbClr val="FFFFFF"/>
                    </a:solidFill>
                  </a:tcPr>
                </a:tc>
              </a:tr>
              <a:tr h="708660">
                <a:tc>
                  <a:txBody>
                    <a:bodyPr/>
                    <a:lstStyle/>
                    <a:p>
                      <a:pPr>
                        <a:lnSpc>
                          <a:spcPct val="115000"/>
                        </a:lnSpc>
                        <a:spcAft>
                          <a:spcPts val="300"/>
                        </a:spcAft>
                      </a:pPr>
                      <a:r>
                        <a:rPr sz="1350" b="1">
                          <a:solidFill>
                            <a:srgbClr val="102730"/>
                          </a:solidFill>
                          <a:latin typeface="Segoe UI"/>
                        </a:rPr>
                        <a:t>Parent app</a:t>
                      </a:r>
                    </a:p>
                  </a:txBody>
                  <a:tcPr anchor="t" marL="109728" marR="109728" marT="82296" marB="82296">
                    <a:solidFill>
                      <a:srgbClr val="EDF3F1"/>
                    </a:solidFill>
                  </a:tcPr>
                </a:tc>
                <a:tc>
                  <a:txBody>
                    <a:bodyPr/>
                    <a:lstStyle/>
                    <a:p>
                      <a:pPr>
                        <a:lnSpc>
                          <a:spcPct val="115000"/>
                        </a:lnSpc>
                        <a:spcAft>
                          <a:spcPts val="300"/>
                        </a:spcAft>
                      </a:pPr>
                      <a:r>
                        <a:rPr sz="1250" i="1">
                          <a:solidFill>
                            <a:srgbClr val="4F6167"/>
                          </a:solidFill>
                          <a:latin typeface="Segoe UI"/>
                        </a:rPr>
                        <a:t>The highest-volume audience, and the one that pays.</a:t>
                      </a:r>
                    </a:p>
                  </a:txBody>
                  <a:tcPr anchor="t" marL="109728" marR="109728" marT="82296" marB="82296">
                    <a:solidFill>
                      <a:srgbClr val="EDF3F1"/>
                    </a:solidFill>
                  </a:tcPr>
                </a:tc>
                <a:tc>
                  <a:txBody>
                    <a:bodyPr/>
                    <a:lstStyle/>
                    <a:p>
                      <a:pPr>
                        <a:lnSpc>
                          <a:spcPct val="115000"/>
                        </a:lnSpc>
                        <a:spcAft>
                          <a:spcPts val="300"/>
                        </a:spcAft>
                      </a:pPr>
                      <a:r>
                        <a:rPr sz="1250" b="1" i="0">
                          <a:solidFill>
                            <a:srgbClr val="3D6EA8"/>
                          </a:solidFill>
                          <a:latin typeface="Segoe UI"/>
                        </a:rPr>
                        <a:t>·  </a:t>
                      </a:r>
                      <a:r>
                        <a:rPr sz="1250" b="0" i="0">
                          <a:solidFill>
                            <a:srgbClr val="28383E"/>
                          </a:solidFill>
                          <a:latin typeface="Segoe UI"/>
                        </a:rPr>
                        <a:t>Fees, statement and in-app payment</a:t>
                      </a:r>
                    </a:p>
                    <a:p>
                      <a:pPr>
                        <a:lnSpc>
                          <a:spcPct val="115000"/>
                        </a:lnSpc>
                        <a:spcAft>
                          <a:spcPts val="300"/>
                        </a:spcAft>
                      </a:pPr>
                      <a:r>
                        <a:rPr sz="1250" b="1" i="0">
                          <a:solidFill>
                            <a:srgbClr val="3D6EA8"/>
                          </a:solidFill>
                          <a:latin typeface="Segoe UI"/>
                        </a:rPr>
                        <a:t>·  </a:t>
                      </a:r>
                      <a:r>
                        <a:rPr sz="1250" b="0" i="0">
                          <a:solidFill>
                            <a:srgbClr val="28383E"/>
                          </a:solidFill>
                          <a:latin typeface="Segoe UI"/>
                        </a:rPr>
                        <a:t>Results, attendance and absence alerts</a:t>
                      </a:r>
                    </a:p>
                    <a:p>
                      <a:pPr>
                        <a:lnSpc>
                          <a:spcPct val="115000"/>
                        </a:lnSpc>
                        <a:spcAft>
                          <a:spcPts val="300"/>
                        </a:spcAft>
                      </a:pPr>
                      <a:r>
                        <a:rPr sz="1250" b="1" i="0">
                          <a:solidFill>
                            <a:srgbClr val="3D6EA8"/>
                          </a:solidFill>
                          <a:latin typeface="Segoe UI"/>
                        </a:rPr>
                        <a:t>·  </a:t>
                      </a:r>
                      <a:r>
                        <a:rPr sz="1250" b="0" i="0">
                          <a:solidFill>
                            <a:srgbClr val="28383E"/>
                          </a:solidFill>
                          <a:latin typeface="Segoe UI"/>
                        </a:rPr>
                        <a:t>Consent and announcements with push</a:t>
                      </a:r>
                    </a:p>
                  </a:txBody>
                  <a:tcPr anchor="t" marL="109728" marR="109728" marT="82296" marB="82296">
                    <a:solidFill>
                      <a:srgbClr val="EDF3F1"/>
                    </a:solidFill>
                  </a:tcPr>
                </a:tc>
                <a:tc>
                  <a:txBody>
                    <a:bodyPr/>
                    <a:lstStyle/>
                    <a:p>
                      <a:pPr>
                        <a:lnSpc>
                          <a:spcPct val="115000"/>
                        </a:lnSpc>
                        <a:spcAft>
                          <a:spcPts val="300"/>
                        </a:spcAft>
                      </a:pPr>
                      <a:r>
                        <a:rPr sz="1300" b="1" i="0">
                          <a:solidFill>
                            <a:srgbClr val="3D6EA8"/>
                          </a:solidFill>
                          <a:latin typeface="Segoe UI"/>
                        </a:rPr>
                        <a:t>Weeks 6-7</a:t>
                      </a:r>
                    </a:p>
                    <a:p>
                      <a:pPr>
                        <a:lnSpc>
                          <a:spcPct val="115000"/>
                        </a:lnSpc>
                        <a:spcAft>
                          <a:spcPts val="300"/>
                        </a:spcAft>
                      </a:pPr>
                      <a:r>
                        <a:rPr sz="1150" b="0" i="0">
                          <a:solidFill>
                            <a:srgbClr val="4F6167"/>
                          </a:solidFill>
                          <a:latin typeface="Segoe UI"/>
                        </a:rPr>
                        <a:t>by 18 Sep</a:t>
                      </a:r>
                    </a:p>
                  </a:txBody>
                  <a:tcPr anchor="t" marL="109728" marR="109728" marT="82296" marB="82296">
                    <a:solidFill>
                      <a:srgbClr val="EDF3F1"/>
                    </a:solidFill>
                  </a:tcPr>
                </a:tc>
              </a:tr>
              <a:tr h="708660">
                <a:tc>
                  <a:txBody>
                    <a:bodyPr/>
                    <a:lstStyle/>
                    <a:p>
                      <a:pPr>
                        <a:lnSpc>
                          <a:spcPct val="115000"/>
                        </a:lnSpc>
                        <a:spcAft>
                          <a:spcPts val="300"/>
                        </a:spcAft>
                      </a:pPr>
                      <a:r>
                        <a:rPr sz="1350" b="1">
                          <a:solidFill>
                            <a:srgbClr val="102730"/>
                          </a:solidFill>
                          <a:latin typeface="Segoe UI"/>
                        </a:rPr>
                        <a:t>Teacher app</a:t>
                      </a:r>
                    </a:p>
                  </a:txBody>
                  <a:tcPr anchor="t" marL="109728" marR="109728" marT="82296" marB="82296">
                    <a:solidFill>
                      <a:srgbClr val="FFFFFF"/>
                    </a:solidFill>
                  </a:tcPr>
                </a:tc>
                <a:tc>
                  <a:txBody>
                    <a:bodyPr/>
                    <a:lstStyle/>
                    <a:p>
                      <a:pPr>
                        <a:lnSpc>
                          <a:spcPct val="115000"/>
                        </a:lnSpc>
                        <a:spcAft>
                          <a:spcPts val="300"/>
                        </a:spcAft>
                      </a:pPr>
                      <a:r>
                        <a:rPr sz="1250" i="1">
                          <a:solidFill>
                            <a:srgbClr val="4F6167"/>
                          </a:solidFill>
                          <a:latin typeface="Segoe UI"/>
                        </a:rPr>
                        <a:t>The register belongs in a pocket, not on a desktop in the staff room.</a:t>
                      </a:r>
                    </a:p>
                  </a:txBody>
                  <a:tcPr anchor="t" marL="109728" marR="109728" marT="82296" marB="82296">
                    <a:solidFill>
                      <a:srgbClr val="FFFFFF"/>
                    </a:solidFill>
                  </a:tcPr>
                </a:tc>
                <a:tc>
                  <a:txBody>
                    <a:bodyPr/>
                    <a:lstStyle/>
                    <a:p>
                      <a:pPr>
                        <a:lnSpc>
                          <a:spcPct val="115000"/>
                        </a:lnSpc>
                        <a:spcAft>
                          <a:spcPts val="300"/>
                        </a:spcAft>
                      </a:pPr>
                      <a:r>
                        <a:rPr sz="1250" b="1" i="0">
                          <a:solidFill>
                            <a:srgbClr val="3D6EA8"/>
                          </a:solidFill>
                          <a:latin typeface="Segoe UI"/>
                        </a:rPr>
                        <a:t>·  </a:t>
                      </a:r>
                      <a:r>
                        <a:rPr sz="1250" b="0" i="0">
                          <a:solidFill>
                            <a:srgbClr val="28383E"/>
                          </a:solidFill>
                          <a:latin typeface="Segoe UI"/>
                        </a:rPr>
                        <a:t>Register marking, offline first</a:t>
                      </a:r>
                    </a:p>
                    <a:p>
                      <a:pPr>
                        <a:lnSpc>
                          <a:spcPct val="115000"/>
                        </a:lnSpc>
                        <a:spcAft>
                          <a:spcPts val="300"/>
                        </a:spcAft>
                      </a:pPr>
                      <a:r>
                        <a:rPr sz="1250" b="1" i="0">
                          <a:solidFill>
                            <a:srgbClr val="3D6EA8"/>
                          </a:solidFill>
                          <a:latin typeface="Segoe UI"/>
                        </a:rPr>
                        <a:t>·  </a:t>
                      </a:r>
                      <a:r>
                        <a:rPr sz="1250" b="0" i="0">
                          <a:solidFill>
                            <a:srgbClr val="28383E"/>
                          </a:solidFill>
                          <a:latin typeface="Segoe UI"/>
                        </a:rPr>
                        <a:t>Results entry and the diary</a:t>
                      </a:r>
                    </a:p>
                  </a:txBody>
                  <a:tcPr anchor="t" marL="109728" marR="109728" marT="82296" marB="82296">
                    <a:solidFill>
                      <a:srgbClr val="FFFFFF"/>
                    </a:solidFill>
                  </a:tcPr>
                </a:tc>
                <a:tc>
                  <a:txBody>
                    <a:bodyPr/>
                    <a:lstStyle/>
                    <a:p>
                      <a:pPr>
                        <a:lnSpc>
                          <a:spcPct val="115000"/>
                        </a:lnSpc>
                        <a:spcAft>
                          <a:spcPts val="300"/>
                        </a:spcAft>
                      </a:pPr>
                      <a:r>
                        <a:rPr sz="1300" b="1" i="0">
                          <a:solidFill>
                            <a:srgbClr val="3D6EA8"/>
                          </a:solidFill>
                          <a:latin typeface="Segoe UI"/>
                        </a:rPr>
                        <a:t>Weeks 6-7</a:t>
                      </a:r>
                    </a:p>
                    <a:p>
                      <a:pPr>
                        <a:lnSpc>
                          <a:spcPct val="115000"/>
                        </a:lnSpc>
                        <a:spcAft>
                          <a:spcPts val="300"/>
                        </a:spcAft>
                      </a:pPr>
                      <a:r>
                        <a:rPr sz="1150" b="0" i="0">
                          <a:solidFill>
                            <a:srgbClr val="4F6167"/>
                          </a:solidFill>
                          <a:latin typeface="Segoe UI"/>
                        </a:rPr>
                        <a:t>by 18 Sep</a:t>
                      </a:r>
                    </a:p>
                  </a:txBody>
                  <a:tcPr anchor="t" marL="109728" marR="109728" marT="82296" marB="82296">
                    <a:solidFill>
                      <a:srgbClr val="FFFFFF"/>
                    </a:solidFill>
                  </a:tcPr>
                </a:tc>
              </a:tr>
            </a:tbl>
          </a:graphicData>
        </a:graphic>
      </p:graphicFrame>
      <p:sp>
        <p:nvSpPr>
          <p:cNvPr id="8" name="TextBox 7"/>
          <p:cNvSpPr txBox="1"/>
          <p:nvPr/>
        </p:nvSpPr>
        <p:spPr>
          <a:xfrm>
            <a:off x="566928" y="6355080"/>
            <a:ext cx="8131759" cy="310896"/>
          </a:xfrm>
          <a:prstGeom prst="rect">
            <a:avLst/>
          </a:prstGeom>
          <a:noFill/>
        </p:spPr>
        <p:txBody>
          <a:bodyPr wrap="square" lIns="0" rIns="0" tIns="0" bIns="0">
            <a:spAutoFit/>
          </a:bodyPr>
          <a:lstStyle/>
          <a:p>
            <a:pPr>
              <a:lnSpc>
                <a:spcPct val="122000"/>
              </a:lnSpc>
              <a:spcBef>
                <a:spcPts val="0"/>
              </a:spcBef>
              <a:spcAft>
                <a:spcPts val="500"/>
              </a:spcAft>
            </a:pPr>
            <a:r>
              <a:rPr sz="1050" b="0" i="1">
                <a:solidFill>
                  <a:srgbClr val="4F6167"/>
                </a:solidFill>
                <a:latin typeface="Segoe UI"/>
              </a:rPr>
              <a:t>Done means tenant-scoped, role-correct, all states handled, responsive, audited, offline-tolerant, acceptance criteria signed off.</a:t>
            </a:r>
          </a:p>
        </p:txBody>
      </p:sp>
      <p:sp>
        <p:nvSpPr>
          <p:cNvPr id="9" name="TextBox 8"/>
          <p:cNvSpPr txBox="1"/>
          <p:nvPr/>
        </p:nvSpPr>
        <p:spPr>
          <a:xfrm>
            <a:off x="8698687" y="6355080"/>
            <a:ext cx="2926080" cy="310896"/>
          </a:xfrm>
          <a:prstGeom prst="rect">
            <a:avLst/>
          </a:prstGeom>
          <a:noFill/>
        </p:spPr>
        <p:txBody>
          <a:bodyPr wrap="square" lIns="0" rIns="0" tIns="0" bIns="0">
            <a:spAutoFit/>
          </a:bodyPr>
          <a:lstStyle/>
          <a:p>
            <a:pPr algn="r">
              <a:lnSpc>
                <a:spcPct val="122000"/>
              </a:lnSpc>
              <a:spcBef>
                <a:spcPts val="0"/>
              </a:spcBef>
              <a:spcAft>
                <a:spcPts val="500"/>
              </a:spcAft>
            </a:pPr>
            <a:r>
              <a:rPr sz="1050" b="1" i="0">
                <a:solidFill>
                  <a:srgbClr val="4F6167"/>
                </a:solidFill>
                <a:latin typeface="Segoe UI"/>
              </a:rPr>
              <a:t>The apps  1 of 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457200"/>
            <a:ext cx="7863840" cy="274320"/>
          </a:xfrm>
          <a:prstGeom prst="rect">
            <a:avLst/>
          </a:prstGeom>
          <a:noFill/>
        </p:spPr>
        <p:txBody>
          <a:bodyPr wrap="square" lIns="0" rIns="0" tIns="0" bIns="0">
            <a:spAutoFit/>
          </a:bodyPr>
          <a:lstStyle/>
          <a:p>
            <a:pPr>
              <a:lnSpc>
                <a:spcPct val="122000"/>
              </a:lnSpc>
              <a:spcBef>
                <a:spcPts val="0"/>
              </a:spcBef>
              <a:spcAft>
                <a:spcPts val="500"/>
              </a:spcAft>
            </a:pPr>
            <a:r>
              <a:rPr sz="1150" b="1" i="0">
                <a:solidFill>
                  <a:srgbClr val="3D6EA8"/>
                </a:solidFill>
                <a:latin typeface="Segoe UI"/>
              </a:rPr>
              <a:t>THEME DETAILS  ·  PHASE 2</a:t>
            </a:r>
          </a:p>
        </p:txBody>
      </p:sp>
      <p:sp>
        <p:nvSpPr>
          <p:cNvPr id="5" name="TextBox 4"/>
          <p:cNvSpPr txBox="1"/>
          <p:nvPr/>
        </p:nvSpPr>
        <p:spPr>
          <a:xfrm>
            <a:off x="566928" y="768096"/>
            <a:ext cx="8503920" cy="731520"/>
          </a:xfrm>
          <a:prstGeom prst="rect">
            <a:avLst/>
          </a:prstGeom>
          <a:noFill/>
        </p:spPr>
        <p:txBody>
          <a:bodyPr wrap="square" lIns="0" rIns="0" tIns="0" bIns="0">
            <a:spAutoFit/>
          </a:bodyPr>
          <a:lstStyle/>
          <a:p>
            <a:pPr>
              <a:lnSpc>
                <a:spcPct val="122000"/>
              </a:lnSpc>
              <a:spcBef>
                <a:spcPts val="0"/>
              </a:spcBef>
              <a:spcAft>
                <a:spcPts val="0"/>
              </a:spcAft>
            </a:pPr>
            <a:r>
              <a:rPr sz="3400" b="0" i="0">
                <a:solidFill>
                  <a:srgbClr val="102730"/>
                </a:solidFill>
                <a:latin typeface="Segoe UI"/>
              </a:rPr>
              <a:t>The apps</a:t>
            </a:r>
          </a:p>
        </p:txBody>
      </p:sp>
      <p:sp>
        <p:nvSpPr>
          <p:cNvPr id="6" name="TextBox 5"/>
          <p:cNvSpPr txBox="1"/>
          <p:nvPr/>
        </p:nvSpPr>
        <p:spPr>
          <a:xfrm>
            <a:off x="566928" y="1699121"/>
            <a:ext cx="11057839" cy="329184"/>
          </a:xfrm>
          <a:prstGeom prst="rect">
            <a:avLst/>
          </a:prstGeom>
          <a:noFill/>
        </p:spPr>
        <p:txBody>
          <a:bodyPr wrap="square" lIns="0" rIns="0" tIns="0" bIns="0">
            <a:spAutoFit/>
          </a:bodyPr>
          <a:lstStyle/>
          <a:p>
            <a:pPr>
              <a:lnSpc>
                <a:spcPct val="122000"/>
              </a:lnSpc>
              <a:spcBef>
                <a:spcPts val="0"/>
              </a:spcBef>
              <a:spcAft>
                <a:spcPts val="500"/>
              </a:spcAft>
            </a:pPr>
            <a:r>
              <a:rPr sz="1300" b="1" i="0">
                <a:solidFill>
                  <a:srgbClr val="3D6EA8"/>
                </a:solidFill>
                <a:latin typeface="Segoe UI"/>
              </a:rPr>
              <a:t>Parent  ·  Teacher  ·  Student  ·  Store release</a:t>
            </a:r>
          </a:p>
        </p:txBody>
      </p:sp>
      <p:graphicFrame>
        <p:nvGraphicFramePr>
          <p:cNvPr id="7" name="Table 6"/>
          <p:cNvGraphicFramePr>
            <a:graphicFrameLocks noGrp="1"/>
          </p:cNvGraphicFramePr>
          <p:nvPr/>
        </p:nvGraphicFramePr>
        <p:xfrm>
          <a:off x="566928" y="2156321"/>
          <a:ext cx="11055096" cy="2834640"/>
        </p:xfrm>
        <a:graphic>
          <a:graphicData uri="http://schemas.openxmlformats.org/drawingml/2006/table">
            <a:tbl>
              <a:tblPr firstRow="1" bandRow="1">
                <a:tableStyleId>{5C22544A-7EE6-4342-B048-85BDC9FD1C3A}</a:tableStyleId>
              </a:tblPr>
              <a:tblGrid>
                <a:gridCol w="2651760"/>
                <a:gridCol w="2926080"/>
                <a:gridCol w="3931920"/>
                <a:gridCol w="1545336"/>
              </a:tblGrid>
              <a:tr h="1417320">
                <a:tc>
                  <a:txBody>
                    <a:bodyPr/>
                    <a:lstStyle/>
                    <a:p>
                      <a:r>
                        <a:rPr sz="1300" b="1">
                          <a:solidFill>
                            <a:srgbClr val="FFFFFF"/>
                          </a:solidFill>
                          <a:latin typeface="Segoe UI"/>
                        </a:rPr>
                        <a:t>Action</a:t>
                      </a:r>
                    </a:p>
                  </a:txBody>
                  <a:tcPr anchor="ctr" marL="109728" marR="109728">
                    <a:solidFill>
                      <a:srgbClr val="102730"/>
                    </a:solidFill>
                  </a:tcPr>
                </a:tc>
                <a:tc>
                  <a:txBody>
                    <a:bodyPr/>
                    <a:lstStyle/>
                    <a:p>
                      <a:r>
                        <a:rPr sz="1300" b="1">
                          <a:solidFill>
                            <a:srgbClr val="FFFFFF"/>
                          </a:solidFill>
                          <a:latin typeface="Segoe UI"/>
                        </a:rPr>
                        <a:t>Why it matters</a:t>
                      </a:r>
                    </a:p>
                  </a:txBody>
                  <a:tcPr anchor="ctr" marL="109728" marR="109728">
                    <a:solidFill>
                      <a:srgbClr val="102730"/>
                    </a:solidFill>
                  </a:tcPr>
                </a:tc>
                <a:tc>
                  <a:txBody>
                    <a:bodyPr/>
                    <a:lstStyle/>
                    <a:p>
                      <a:r>
                        <a:rPr sz="1300" b="1">
                          <a:solidFill>
                            <a:srgbClr val="FFFFFF"/>
                          </a:solidFill>
                          <a:latin typeface="Segoe UI"/>
                        </a:rPr>
                        <a:t>Milestones (epics)</a:t>
                      </a:r>
                    </a:p>
                  </a:txBody>
                  <a:tcPr anchor="ctr" marL="109728" marR="109728">
                    <a:solidFill>
                      <a:srgbClr val="102730"/>
                    </a:solidFill>
                  </a:tcPr>
                </a:tc>
                <a:tc>
                  <a:txBody>
                    <a:bodyPr/>
                    <a:lstStyle/>
                    <a:p>
                      <a:r>
                        <a:rPr sz="1300" b="1">
                          <a:solidFill>
                            <a:srgbClr val="FFFFFF"/>
                          </a:solidFill>
                          <a:latin typeface="Segoe UI"/>
                        </a:rPr>
                        <a:t>ETA</a:t>
                      </a:r>
                    </a:p>
                  </a:txBody>
                  <a:tcPr anchor="ctr" marL="109728" marR="109728">
                    <a:solidFill>
                      <a:srgbClr val="102730"/>
                    </a:solidFill>
                  </a:tcPr>
                </a:tc>
              </a:tr>
              <a:tr h="1417320">
                <a:tc>
                  <a:txBody>
                    <a:bodyPr/>
                    <a:lstStyle/>
                    <a:p>
                      <a:pPr>
                        <a:lnSpc>
                          <a:spcPct val="115000"/>
                        </a:lnSpc>
                        <a:spcAft>
                          <a:spcPts val="300"/>
                        </a:spcAft>
                      </a:pPr>
                      <a:r>
                        <a:rPr sz="1350" b="1">
                          <a:solidFill>
                            <a:srgbClr val="102730"/>
                          </a:solidFill>
                          <a:latin typeface="Segoe UI"/>
                        </a:rPr>
                        <a:t>Student app and store release</a:t>
                      </a:r>
                    </a:p>
                  </a:txBody>
                  <a:tcPr anchor="t" marL="109728" marR="109728" marT="82296" marB="82296">
                    <a:solidFill>
                      <a:srgbClr val="FFFFFF"/>
                    </a:solidFill>
                  </a:tcPr>
                </a:tc>
                <a:tc>
                  <a:txBody>
                    <a:bodyPr/>
                    <a:lstStyle/>
                    <a:p>
                      <a:pPr>
                        <a:lnSpc>
                          <a:spcPct val="115000"/>
                        </a:lnSpc>
                        <a:spcAft>
                          <a:spcPts val="300"/>
                        </a:spcAft>
                      </a:pPr>
                      <a:r>
                        <a:rPr sz="1250" i="1">
                          <a:solidFill>
                            <a:srgbClr val="4F6167"/>
                          </a:solidFill>
                          <a:latin typeface="Segoe UI"/>
                        </a:rPr>
                        <a:t>The app counts once a parent can install it from the store they already use.</a:t>
                      </a:r>
                    </a:p>
                  </a:txBody>
                  <a:tcPr anchor="t" marL="109728" marR="109728" marT="82296" marB="82296">
                    <a:solidFill>
                      <a:srgbClr val="FFFFFF"/>
                    </a:solidFill>
                  </a:tcPr>
                </a:tc>
                <a:tc>
                  <a:txBody>
                    <a:bodyPr/>
                    <a:lstStyle/>
                    <a:p>
                      <a:pPr>
                        <a:lnSpc>
                          <a:spcPct val="115000"/>
                        </a:lnSpc>
                        <a:spcAft>
                          <a:spcPts val="300"/>
                        </a:spcAft>
                      </a:pPr>
                      <a:r>
                        <a:rPr sz="1250" b="1" i="0">
                          <a:solidFill>
                            <a:srgbClr val="3D6EA8"/>
                          </a:solidFill>
                          <a:latin typeface="Segoe UI"/>
                        </a:rPr>
                        <a:t>·  </a:t>
                      </a:r>
                      <a:r>
                        <a:rPr sz="1250" b="0" i="0">
                          <a:solidFill>
                            <a:srgbClr val="28383E"/>
                          </a:solidFill>
                          <a:latin typeface="Segoe UI"/>
                        </a:rPr>
                        <a:t>Timetable, assignments, results</a:t>
                      </a:r>
                    </a:p>
                    <a:p>
                      <a:pPr>
                        <a:lnSpc>
                          <a:spcPct val="115000"/>
                        </a:lnSpc>
                        <a:spcAft>
                          <a:spcPts val="300"/>
                        </a:spcAft>
                      </a:pPr>
                      <a:r>
                        <a:rPr sz="1250" b="1" i="0">
                          <a:solidFill>
                            <a:srgbClr val="3D6EA8"/>
                          </a:solidFill>
                          <a:latin typeface="Segoe UI"/>
                        </a:rPr>
                        <a:t>·  </a:t>
                      </a:r>
                      <a:r>
                        <a:rPr sz="1250" b="0" i="0">
                          <a:solidFill>
                            <a:srgbClr val="28383E"/>
                          </a:solidFill>
                          <a:latin typeface="Segoe UI"/>
                        </a:rPr>
                        <a:t>Play Store and App Store submission, with the review time budgeted</a:t>
                      </a:r>
                    </a:p>
                  </a:txBody>
                  <a:tcPr anchor="t" marL="109728" marR="109728" marT="82296" marB="82296">
                    <a:solidFill>
                      <a:srgbClr val="FFFFFF"/>
                    </a:solidFill>
                  </a:tcPr>
                </a:tc>
                <a:tc>
                  <a:txBody>
                    <a:bodyPr/>
                    <a:lstStyle/>
                    <a:p>
                      <a:pPr>
                        <a:lnSpc>
                          <a:spcPct val="115000"/>
                        </a:lnSpc>
                        <a:spcAft>
                          <a:spcPts val="300"/>
                        </a:spcAft>
                      </a:pPr>
                      <a:r>
                        <a:rPr sz="1300" b="1" i="0">
                          <a:solidFill>
                            <a:srgbClr val="3D6EA8"/>
                          </a:solidFill>
                          <a:latin typeface="Segoe UI"/>
                        </a:rPr>
                        <a:t>Weeks 7-8</a:t>
                      </a:r>
                    </a:p>
                    <a:p>
                      <a:pPr>
                        <a:lnSpc>
                          <a:spcPct val="115000"/>
                        </a:lnSpc>
                        <a:spcAft>
                          <a:spcPts val="300"/>
                        </a:spcAft>
                      </a:pPr>
                      <a:r>
                        <a:rPr sz="1150" b="0" i="0">
                          <a:solidFill>
                            <a:srgbClr val="4F6167"/>
                          </a:solidFill>
                          <a:latin typeface="Segoe UI"/>
                        </a:rPr>
                        <a:t>by 25 Sep</a:t>
                      </a:r>
                    </a:p>
                  </a:txBody>
                  <a:tcPr anchor="t" marL="109728" marR="109728" marT="82296" marB="82296">
                    <a:solidFill>
                      <a:srgbClr val="FFFFFF"/>
                    </a:solidFill>
                  </a:tcPr>
                </a:tc>
              </a:tr>
            </a:tbl>
          </a:graphicData>
        </a:graphic>
      </p:graphicFrame>
      <p:sp>
        <p:nvSpPr>
          <p:cNvPr id="8" name="TextBox 7"/>
          <p:cNvSpPr txBox="1"/>
          <p:nvPr/>
        </p:nvSpPr>
        <p:spPr>
          <a:xfrm>
            <a:off x="566928" y="6355080"/>
            <a:ext cx="8131759" cy="310896"/>
          </a:xfrm>
          <a:prstGeom prst="rect">
            <a:avLst/>
          </a:prstGeom>
          <a:noFill/>
        </p:spPr>
        <p:txBody>
          <a:bodyPr wrap="square" lIns="0" rIns="0" tIns="0" bIns="0">
            <a:spAutoFit/>
          </a:bodyPr>
          <a:lstStyle/>
          <a:p>
            <a:pPr>
              <a:lnSpc>
                <a:spcPct val="122000"/>
              </a:lnSpc>
              <a:spcBef>
                <a:spcPts val="0"/>
              </a:spcBef>
              <a:spcAft>
                <a:spcPts val="500"/>
              </a:spcAft>
            </a:pPr>
            <a:r>
              <a:rPr sz="1050" b="0" i="1">
                <a:solidFill>
                  <a:srgbClr val="4F6167"/>
                </a:solidFill>
                <a:latin typeface="Segoe UI"/>
              </a:rPr>
              <a:t>Done means tenant-scoped, role-correct, all states handled, responsive, audited, offline-tolerant, acceptance criteria signed off.</a:t>
            </a:r>
          </a:p>
        </p:txBody>
      </p:sp>
      <p:sp>
        <p:nvSpPr>
          <p:cNvPr id="9" name="TextBox 8"/>
          <p:cNvSpPr txBox="1"/>
          <p:nvPr/>
        </p:nvSpPr>
        <p:spPr>
          <a:xfrm>
            <a:off x="8698687" y="6355080"/>
            <a:ext cx="2926080" cy="310896"/>
          </a:xfrm>
          <a:prstGeom prst="rect">
            <a:avLst/>
          </a:prstGeom>
          <a:noFill/>
        </p:spPr>
        <p:txBody>
          <a:bodyPr wrap="square" lIns="0" rIns="0" tIns="0" bIns="0">
            <a:spAutoFit/>
          </a:bodyPr>
          <a:lstStyle/>
          <a:p>
            <a:pPr algn="r">
              <a:lnSpc>
                <a:spcPct val="122000"/>
              </a:lnSpc>
              <a:spcBef>
                <a:spcPts val="0"/>
              </a:spcBef>
              <a:spcAft>
                <a:spcPts val="500"/>
              </a:spcAft>
            </a:pPr>
            <a:r>
              <a:rPr sz="1050" b="1" i="0">
                <a:solidFill>
                  <a:srgbClr val="4F6167"/>
                </a:solidFill>
                <a:latin typeface="Segoe UI"/>
              </a:rPr>
              <a:t>The apps  2 of 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457200"/>
            <a:ext cx="7863840" cy="274320"/>
          </a:xfrm>
          <a:prstGeom prst="rect">
            <a:avLst/>
          </a:prstGeom>
          <a:noFill/>
        </p:spPr>
        <p:txBody>
          <a:bodyPr wrap="square" lIns="0" rIns="0" tIns="0" bIns="0">
            <a:spAutoFit/>
          </a:bodyPr>
          <a:lstStyle/>
          <a:p>
            <a:pPr>
              <a:lnSpc>
                <a:spcPct val="122000"/>
              </a:lnSpc>
              <a:spcBef>
                <a:spcPts val="0"/>
              </a:spcBef>
              <a:spcAft>
                <a:spcPts val="500"/>
              </a:spcAft>
            </a:pPr>
            <a:r>
              <a:rPr sz="1150" b="1" i="0">
                <a:solidFill>
                  <a:srgbClr val="3D6EA8"/>
                </a:solidFill>
                <a:latin typeface="Segoe UI"/>
              </a:rPr>
              <a:t>THEME DETAILS  ·  PHASE 2</a:t>
            </a:r>
          </a:p>
        </p:txBody>
      </p:sp>
      <p:sp>
        <p:nvSpPr>
          <p:cNvPr id="5" name="TextBox 4"/>
          <p:cNvSpPr txBox="1"/>
          <p:nvPr/>
        </p:nvSpPr>
        <p:spPr>
          <a:xfrm>
            <a:off x="566928" y="768096"/>
            <a:ext cx="8503920" cy="731520"/>
          </a:xfrm>
          <a:prstGeom prst="rect">
            <a:avLst/>
          </a:prstGeom>
          <a:noFill/>
        </p:spPr>
        <p:txBody>
          <a:bodyPr wrap="square" lIns="0" rIns="0" tIns="0" bIns="0">
            <a:spAutoFit/>
          </a:bodyPr>
          <a:lstStyle/>
          <a:p>
            <a:pPr>
              <a:lnSpc>
                <a:spcPct val="122000"/>
              </a:lnSpc>
              <a:spcBef>
                <a:spcPts val="0"/>
              </a:spcBef>
              <a:spcAft>
                <a:spcPts val="0"/>
              </a:spcAft>
            </a:pPr>
            <a:r>
              <a:rPr sz="3400" b="0" i="0">
                <a:solidFill>
                  <a:srgbClr val="102730"/>
                </a:solidFill>
                <a:latin typeface="Segoe UI"/>
              </a:rPr>
              <a:t>Teaching and learning</a:t>
            </a:r>
          </a:p>
        </p:txBody>
      </p:sp>
      <p:sp>
        <p:nvSpPr>
          <p:cNvPr id="6" name="TextBox 5"/>
          <p:cNvSpPr txBox="1"/>
          <p:nvPr/>
        </p:nvSpPr>
        <p:spPr>
          <a:xfrm>
            <a:off x="566928" y="1699121"/>
            <a:ext cx="11057839" cy="329184"/>
          </a:xfrm>
          <a:prstGeom prst="rect">
            <a:avLst/>
          </a:prstGeom>
          <a:noFill/>
        </p:spPr>
        <p:txBody>
          <a:bodyPr wrap="square" lIns="0" rIns="0" tIns="0" bIns="0">
            <a:spAutoFit/>
          </a:bodyPr>
          <a:lstStyle/>
          <a:p>
            <a:pPr>
              <a:lnSpc>
                <a:spcPct val="122000"/>
              </a:lnSpc>
              <a:spcBef>
                <a:spcPts val="0"/>
              </a:spcBef>
              <a:spcAft>
                <a:spcPts val="500"/>
              </a:spcAft>
            </a:pPr>
            <a:r>
              <a:rPr sz="1300" b="1" i="0">
                <a:solidFill>
                  <a:srgbClr val="7A5EA8"/>
                </a:solidFill>
                <a:latin typeface="Segoe UI"/>
              </a:rPr>
              <a:t>Assessments  ·  CBT  ·  Lesson plans  ·  Behaviour  ·  Alumni</a:t>
            </a:r>
          </a:p>
        </p:txBody>
      </p:sp>
      <p:graphicFrame>
        <p:nvGraphicFramePr>
          <p:cNvPr id="7" name="Table 6"/>
          <p:cNvGraphicFramePr>
            <a:graphicFrameLocks noGrp="1"/>
          </p:cNvGraphicFramePr>
          <p:nvPr/>
        </p:nvGraphicFramePr>
        <p:xfrm>
          <a:off x="566928" y="2156321"/>
          <a:ext cx="11055096" cy="2834640"/>
        </p:xfrm>
        <a:graphic>
          <a:graphicData uri="http://schemas.openxmlformats.org/drawingml/2006/table">
            <a:tbl>
              <a:tblPr firstRow="1" bandRow="1">
                <a:tableStyleId>{5C22544A-7EE6-4342-B048-85BDC9FD1C3A}</a:tableStyleId>
              </a:tblPr>
              <a:tblGrid>
                <a:gridCol w="2651760"/>
                <a:gridCol w="2926080"/>
                <a:gridCol w="3931920"/>
                <a:gridCol w="1545336"/>
              </a:tblGrid>
              <a:tr h="708660">
                <a:tc>
                  <a:txBody>
                    <a:bodyPr/>
                    <a:lstStyle/>
                    <a:p>
                      <a:r>
                        <a:rPr sz="1300" b="1">
                          <a:solidFill>
                            <a:srgbClr val="FFFFFF"/>
                          </a:solidFill>
                          <a:latin typeface="Segoe UI"/>
                        </a:rPr>
                        <a:t>Action</a:t>
                      </a:r>
                    </a:p>
                  </a:txBody>
                  <a:tcPr anchor="ctr" marL="109728" marR="109728">
                    <a:solidFill>
                      <a:srgbClr val="102730"/>
                    </a:solidFill>
                  </a:tcPr>
                </a:tc>
                <a:tc>
                  <a:txBody>
                    <a:bodyPr/>
                    <a:lstStyle/>
                    <a:p>
                      <a:r>
                        <a:rPr sz="1300" b="1">
                          <a:solidFill>
                            <a:srgbClr val="FFFFFF"/>
                          </a:solidFill>
                          <a:latin typeface="Segoe UI"/>
                        </a:rPr>
                        <a:t>Why it matters</a:t>
                      </a:r>
                    </a:p>
                  </a:txBody>
                  <a:tcPr anchor="ctr" marL="109728" marR="109728">
                    <a:solidFill>
                      <a:srgbClr val="102730"/>
                    </a:solidFill>
                  </a:tcPr>
                </a:tc>
                <a:tc>
                  <a:txBody>
                    <a:bodyPr/>
                    <a:lstStyle/>
                    <a:p>
                      <a:r>
                        <a:rPr sz="1300" b="1">
                          <a:solidFill>
                            <a:srgbClr val="FFFFFF"/>
                          </a:solidFill>
                          <a:latin typeface="Segoe UI"/>
                        </a:rPr>
                        <a:t>Milestones (epics)</a:t>
                      </a:r>
                    </a:p>
                  </a:txBody>
                  <a:tcPr anchor="ctr" marL="109728" marR="109728">
                    <a:solidFill>
                      <a:srgbClr val="102730"/>
                    </a:solidFill>
                  </a:tcPr>
                </a:tc>
                <a:tc>
                  <a:txBody>
                    <a:bodyPr/>
                    <a:lstStyle/>
                    <a:p>
                      <a:r>
                        <a:rPr sz="1300" b="1">
                          <a:solidFill>
                            <a:srgbClr val="FFFFFF"/>
                          </a:solidFill>
                          <a:latin typeface="Segoe UI"/>
                        </a:rPr>
                        <a:t>ETA</a:t>
                      </a:r>
                    </a:p>
                  </a:txBody>
                  <a:tcPr anchor="ctr" marL="109728" marR="109728">
                    <a:solidFill>
                      <a:srgbClr val="102730"/>
                    </a:solidFill>
                  </a:tcPr>
                </a:tc>
              </a:tr>
              <a:tr h="708660">
                <a:tc>
                  <a:txBody>
                    <a:bodyPr/>
                    <a:lstStyle/>
                    <a:p>
                      <a:pPr>
                        <a:lnSpc>
                          <a:spcPct val="115000"/>
                        </a:lnSpc>
                        <a:spcAft>
                          <a:spcPts val="300"/>
                        </a:spcAft>
                      </a:pPr>
                      <a:r>
                        <a:rPr sz="1350" b="1">
                          <a:solidFill>
                            <a:srgbClr val="102730"/>
                          </a:solidFill>
                          <a:latin typeface="Segoe UI"/>
                        </a:rPr>
                        <a:t>Assignments and CBT</a:t>
                      </a:r>
                    </a:p>
                  </a:txBody>
                  <a:tcPr anchor="t" marL="109728" marR="109728" marT="82296" marB="82296">
                    <a:solidFill>
                      <a:srgbClr val="FFFFFF"/>
                    </a:solidFill>
                  </a:tcPr>
                </a:tc>
                <a:tc>
                  <a:txBody>
                    <a:bodyPr/>
                    <a:lstStyle/>
                    <a:p>
                      <a:pPr>
                        <a:lnSpc>
                          <a:spcPct val="115000"/>
                        </a:lnSpc>
                        <a:spcAft>
                          <a:spcPts val="300"/>
                        </a:spcAft>
                      </a:pPr>
                      <a:r>
                        <a:rPr sz="1250" i="1">
                          <a:solidFill>
                            <a:srgbClr val="4F6167"/>
                          </a:solidFill>
                          <a:latin typeface="Segoe UI"/>
                        </a:rPr>
                        <a:t>Homework and online tests are the reason a student opens the app between terms.</a:t>
                      </a:r>
                    </a:p>
                  </a:txBody>
                  <a:tcPr anchor="t" marL="109728" marR="109728" marT="82296" marB="82296">
                    <a:solidFill>
                      <a:srgbClr val="FFFFFF"/>
                    </a:solidFill>
                  </a:tcPr>
                </a:tc>
                <a:tc>
                  <a:txBody>
                    <a:bodyPr/>
                    <a:lstStyle/>
                    <a:p>
                      <a:pPr>
                        <a:lnSpc>
                          <a:spcPct val="115000"/>
                        </a:lnSpc>
                        <a:spcAft>
                          <a:spcPts val="300"/>
                        </a:spcAft>
                      </a:pPr>
                      <a:r>
                        <a:rPr sz="1250" b="1" i="0">
                          <a:solidFill>
                            <a:srgbClr val="7A5EA8"/>
                          </a:solidFill>
                          <a:latin typeface="Segoe UI"/>
                        </a:rPr>
                        <a:t>·  </a:t>
                      </a:r>
                      <a:r>
                        <a:rPr sz="1250" b="0" i="0">
                          <a:solidFill>
                            <a:srgbClr val="28383E"/>
                          </a:solidFill>
                          <a:latin typeface="Segoe UI"/>
                        </a:rPr>
                        <a:t>Assignments with inline marking and resubmission</a:t>
                      </a:r>
                    </a:p>
                    <a:p>
                      <a:pPr>
                        <a:lnSpc>
                          <a:spcPct val="115000"/>
                        </a:lnSpc>
                        <a:spcAft>
                          <a:spcPts val="300"/>
                        </a:spcAft>
                      </a:pPr>
                      <a:r>
                        <a:rPr sz="1250" b="1" i="0">
                          <a:solidFill>
                            <a:srgbClr val="7A5EA8"/>
                          </a:solidFill>
                          <a:latin typeface="Segoe UI"/>
                        </a:rPr>
                        <a:t>·  </a:t>
                      </a:r>
                      <a:r>
                        <a:rPr sz="1250" b="0" i="0">
                          <a:solidFill>
                            <a:srgbClr val="28383E"/>
                          </a:solidFill>
                          <a:latin typeface="Segoe UI"/>
                        </a:rPr>
                        <a:t>CBT engine and formative tests</a:t>
                      </a:r>
                    </a:p>
                  </a:txBody>
                  <a:tcPr anchor="t" marL="109728" marR="109728" marT="82296" marB="82296">
                    <a:solidFill>
                      <a:srgbClr val="FFFFFF"/>
                    </a:solidFill>
                  </a:tcPr>
                </a:tc>
                <a:tc>
                  <a:txBody>
                    <a:bodyPr/>
                    <a:lstStyle/>
                    <a:p>
                      <a:pPr>
                        <a:lnSpc>
                          <a:spcPct val="115000"/>
                        </a:lnSpc>
                        <a:spcAft>
                          <a:spcPts val="300"/>
                        </a:spcAft>
                      </a:pPr>
                      <a:r>
                        <a:rPr sz="1300" b="1" i="0">
                          <a:solidFill>
                            <a:srgbClr val="7A5EA8"/>
                          </a:solidFill>
                          <a:latin typeface="Segoe UI"/>
                        </a:rPr>
                        <a:t>Weeks 5-6</a:t>
                      </a:r>
                    </a:p>
                    <a:p>
                      <a:pPr>
                        <a:lnSpc>
                          <a:spcPct val="115000"/>
                        </a:lnSpc>
                        <a:spcAft>
                          <a:spcPts val="300"/>
                        </a:spcAft>
                      </a:pPr>
                      <a:r>
                        <a:rPr sz="1150" b="0" i="0">
                          <a:solidFill>
                            <a:srgbClr val="4F6167"/>
                          </a:solidFill>
                          <a:latin typeface="Segoe UI"/>
                        </a:rPr>
                        <a:t>by 11 Sep</a:t>
                      </a:r>
                    </a:p>
                  </a:txBody>
                  <a:tcPr anchor="t" marL="109728" marR="109728" marT="82296" marB="82296">
                    <a:solidFill>
                      <a:srgbClr val="FFFFFF"/>
                    </a:solidFill>
                  </a:tcPr>
                </a:tc>
              </a:tr>
              <a:tr h="708660">
                <a:tc>
                  <a:txBody>
                    <a:bodyPr/>
                    <a:lstStyle/>
                    <a:p>
                      <a:pPr>
                        <a:lnSpc>
                          <a:spcPct val="115000"/>
                        </a:lnSpc>
                        <a:spcAft>
                          <a:spcPts val="300"/>
                        </a:spcAft>
                      </a:pPr>
                      <a:r>
                        <a:rPr sz="1350" b="1">
                          <a:solidFill>
                            <a:srgbClr val="102730"/>
                          </a:solidFill>
                          <a:latin typeface="Segoe UI"/>
                        </a:rPr>
                        <a:t>Lesson plans and materials</a:t>
                      </a:r>
                    </a:p>
                  </a:txBody>
                  <a:tcPr anchor="t" marL="109728" marR="109728" marT="82296" marB="82296">
                    <a:solidFill>
                      <a:srgbClr val="EDF3F1"/>
                    </a:solidFill>
                  </a:tcPr>
                </a:tc>
                <a:tc>
                  <a:txBody>
                    <a:bodyPr/>
                    <a:lstStyle/>
                    <a:p>
                      <a:pPr>
                        <a:lnSpc>
                          <a:spcPct val="115000"/>
                        </a:lnSpc>
                        <a:spcAft>
                          <a:spcPts val="300"/>
                        </a:spcAft>
                      </a:pPr>
                      <a:r>
                        <a:rPr sz="1250" i="1">
                          <a:solidFill>
                            <a:srgbClr val="4F6167"/>
                          </a:solidFill>
                          <a:latin typeface="Segoe UI"/>
                        </a:rPr>
                        <a:t>Heads of department want visibility of what is being taught, not just what was marked.</a:t>
                      </a:r>
                    </a:p>
                  </a:txBody>
                  <a:tcPr anchor="t" marL="109728" marR="109728" marT="82296" marB="82296">
                    <a:solidFill>
                      <a:srgbClr val="EDF3F1"/>
                    </a:solidFill>
                  </a:tcPr>
                </a:tc>
                <a:tc>
                  <a:txBody>
                    <a:bodyPr/>
                    <a:lstStyle/>
                    <a:p>
                      <a:pPr>
                        <a:lnSpc>
                          <a:spcPct val="115000"/>
                        </a:lnSpc>
                        <a:spcAft>
                          <a:spcPts val="300"/>
                        </a:spcAft>
                      </a:pPr>
                      <a:r>
                        <a:rPr sz="1250" b="1" i="0">
                          <a:solidFill>
                            <a:srgbClr val="7A5EA8"/>
                          </a:solidFill>
                          <a:latin typeface="Segoe UI"/>
                        </a:rPr>
                        <a:t>·  </a:t>
                      </a:r>
                      <a:r>
                        <a:rPr sz="1250" b="0" i="0">
                          <a:solidFill>
                            <a:srgbClr val="28383E"/>
                          </a:solidFill>
                          <a:latin typeface="Segoe UI"/>
                        </a:rPr>
                        <a:t>Lesson plans against the scheme of work</a:t>
                      </a:r>
                    </a:p>
                    <a:p>
                      <a:pPr>
                        <a:lnSpc>
                          <a:spcPct val="115000"/>
                        </a:lnSpc>
                        <a:spcAft>
                          <a:spcPts val="300"/>
                        </a:spcAft>
                      </a:pPr>
                      <a:r>
                        <a:rPr sz="1250" b="1" i="0">
                          <a:solidFill>
                            <a:srgbClr val="7A5EA8"/>
                          </a:solidFill>
                          <a:latin typeface="Segoe UI"/>
                        </a:rPr>
                        <a:t>·  </a:t>
                      </a:r>
                      <a:r>
                        <a:rPr sz="1250" b="0" i="0">
                          <a:solidFill>
                            <a:srgbClr val="28383E"/>
                          </a:solidFill>
                          <a:latin typeface="Segoe UI"/>
                        </a:rPr>
                        <a:t>Notes and materials for the student learning area</a:t>
                      </a:r>
                    </a:p>
                  </a:txBody>
                  <a:tcPr anchor="t" marL="109728" marR="109728" marT="82296" marB="82296">
                    <a:solidFill>
                      <a:srgbClr val="EDF3F1"/>
                    </a:solidFill>
                  </a:tcPr>
                </a:tc>
                <a:tc>
                  <a:txBody>
                    <a:bodyPr/>
                    <a:lstStyle/>
                    <a:p>
                      <a:pPr>
                        <a:lnSpc>
                          <a:spcPct val="115000"/>
                        </a:lnSpc>
                        <a:spcAft>
                          <a:spcPts val="300"/>
                        </a:spcAft>
                      </a:pPr>
                      <a:r>
                        <a:rPr sz="1300" b="1" i="0">
                          <a:solidFill>
                            <a:srgbClr val="7A5EA8"/>
                          </a:solidFill>
                          <a:latin typeface="Segoe UI"/>
                        </a:rPr>
                        <a:t>Weeks 6-7</a:t>
                      </a:r>
                    </a:p>
                    <a:p>
                      <a:pPr>
                        <a:lnSpc>
                          <a:spcPct val="115000"/>
                        </a:lnSpc>
                        <a:spcAft>
                          <a:spcPts val="300"/>
                        </a:spcAft>
                      </a:pPr>
                      <a:r>
                        <a:rPr sz="1150" b="0" i="0">
                          <a:solidFill>
                            <a:srgbClr val="4F6167"/>
                          </a:solidFill>
                          <a:latin typeface="Segoe UI"/>
                        </a:rPr>
                        <a:t>by 18 Sep</a:t>
                      </a:r>
                    </a:p>
                  </a:txBody>
                  <a:tcPr anchor="t" marL="109728" marR="109728" marT="82296" marB="82296">
                    <a:solidFill>
                      <a:srgbClr val="EDF3F1"/>
                    </a:solidFill>
                  </a:tcPr>
                </a:tc>
              </a:tr>
              <a:tr h="708660">
                <a:tc>
                  <a:txBody>
                    <a:bodyPr/>
                    <a:lstStyle/>
                    <a:p>
                      <a:pPr>
                        <a:lnSpc>
                          <a:spcPct val="115000"/>
                        </a:lnSpc>
                        <a:spcAft>
                          <a:spcPts val="300"/>
                        </a:spcAft>
                      </a:pPr>
                      <a:r>
                        <a:rPr sz="1350" b="1">
                          <a:solidFill>
                            <a:srgbClr val="102730"/>
                          </a:solidFill>
                          <a:latin typeface="Segoe UI"/>
                        </a:rPr>
                        <a:t>Behaviour, discipline and alumni</a:t>
                      </a:r>
                    </a:p>
                  </a:txBody>
                  <a:tcPr anchor="t" marL="109728" marR="109728" marT="82296" marB="82296">
                    <a:solidFill>
                      <a:srgbClr val="FFFFFF"/>
                    </a:solidFill>
                  </a:tcPr>
                </a:tc>
                <a:tc>
                  <a:txBody>
                    <a:bodyPr/>
                    <a:lstStyle/>
                    <a:p>
                      <a:pPr>
                        <a:lnSpc>
                          <a:spcPct val="115000"/>
                        </a:lnSpc>
                        <a:spcAft>
                          <a:spcPts val="300"/>
                        </a:spcAft>
                      </a:pPr>
                      <a:r>
                        <a:rPr sz="1250" i="1">
                          <a:solidFill>
                            <a:srgbClr val="4F6167"/>
                          </a:solidFill>
                          <a:latin typeface="Segoe UI"/>
                        </a:rPr>
                        <a:t>Completes the student record: conduct alongside marks, and what happens after they leave.</a:t>
                      </a:r>
                    </a:p>
                  </a:txBody>
                  <a:tcPr anchor="t" marL="109728" marR="109728" marT="82296" marB="82296">
                    <a:solidFill>
                      <a:srgbClr val="FFFFFF"/>
                    </a:solidFill>
                  </a:tcPr>
                </a:tc>
                <a:tc>
                  <a:txBody>
                    <a:bodyPr/>
                    <a:lstStyle/>
                    <a:p>
                      <a:pPr>
                        <a:lnSpc>
                          <a:spcPct val="115000"/>
                        </a:lnSpc>
                        <a:spcAft>
                          <a:spcPts val="300"/>
                        </a:spcAft>
                      </a:pPr>
                      <a:r>
                        <a:rPr sz="1250" b="1" i="0">
                          <a:solidFill>
                            <a:srgbClr val="7A5EA8"/>
                          </a:solidFill>
                          <a:latin typeface="Segoe UI"/>
                        </a:rPr>
                        <a:t>·  </a:t>
                      </a:r>
                      <a:r>
                        <a:rPr sz="1250" b="0" i="0">
                          <a:solidFill>
                            <a:srgbClr val="28383E"/>
                          </a:solidFill>
                          <a:latin typeface="Segoe UI"/>
                        </a:rPr>
                        <a:t>Incidents, merits and sanctions</a:t>
                      </a:r>
                    </a:p>
                    <a:p>
                      <a:pPr>
                        <a:lnSpc>
                          <a:spcPct val="115000"/>
                        </a:lnSpc>
                        <a:spcAft>
                          <a:spcPts val="300"/>
                        </a:spcAft>
                      </a:pPr>
                      <a:r>
                        <a:rPr sz="1250" b="1" i="0">
                          <a:solidFill>
                            <a:srgbClr val="7A5EA8"/>
                          </a:solidFill>
                          <a:latin typeface="Segoe UI"/>
                        </a:rPr>
                        <a:t>·  </a:t>
                      </a:r>
                      <a:r>
                        <a:rPr sz="1250" b="0" i="0">
                          <a:solidFill>
                            <a:srgbClr val="28383E"/>
                          </a:solidFill>
                          <a:latin typeface="Segoe UI"/>
                        </a:rPr>
                        <a:t>Alumni register and leaving certificates</a:t>
                      </a:r>
                    </a:p>
                  </a:txBody>
                  <a:tcPr anchor="t" marL="109728" marR="109728" marT="82296" marB="82296">
                    <a:solidFill>
                      <a:srgbClr val="FFFFFF"/>
                    </a:solidFill>
                  </a:tcPr>
                </a:tc>
                <a:tc>
                  <a:txBody>
                    <a:bodyPr/>
                    <a:lstStyle/>
                    <a:p>
                      <a:pPr>
                        <a:lnSpc>
                          <a:spcPct val="115000"/>
                        </a:lnSpc>
                        <a:spcAft>
                          <a:spcPts val="300"/>
                        </a:spcAft>
                      </a:pPr>
                      <a:r>
                        <a:rPr sz="1300" b="1" i="0">
                          <a:solidFill>
                            <a:srgbClr val="7A5EA8"/>
                          </a:solidFill>
                          <a:latin typeface="Segoe UI"/>
                        </a:rPr>
                        <a:t>Week 7</a:t>
                      </a:r>
                    </a:p>
                    <a:p>
                      <a:pPr>
                        <a:lnSpc>
                          <a:spcPct val="115000"/>
                        </a:lnSpc>
                        <a:spcAft>
                          <a:spcPts val="300"/>
                        </a:spcAft>
                      </a:pPr>
                      <a:r>
                        <a:rPr sz="1150" b="0" i="0">
                          <a:solidFill>
                            <a:srgbClr val="4F6167"/>
                          </a:solidFill>
                          <a:latin typeface="Segoe UI"/>
                        </a:rPr>
                        <a:t>by 18 Sep</a:t>
                      </a:r>
                    </a:p>
                  </a:txBody>
                  <a:tcPr anchor="t" marL="109728" marR="109728" marT="82296" marB="82296">
                    <a:solidFill>
                      <a:srgbClr val="FFFFFF"/>
                    </a:solidFill>
                  </a:tcPr>
                </a:tc>
              </a:tr>
            </a:tbl>
          </a:graphicData>
        </a:graphic>
      </p:graphicFrame>
      <p:sp>
        <p:nvSpPr>
          <p:cNvPr id="8" name="TextBox 7"/>
          <p:cNvSpPr txBox="1"/>
          <p:nvPr/>
        </p:nvSpPr>
        <p:spPr>
          <a:xfrm>
            <a:off x="566928" y="6355080"/>
            <a:ext cx="8131759" cy="310896"/>
          </a:xfrm>
          <a:prstGeom prst="rect">
            <a:avLst/>
          </a:prstGeom>
          <a:noFill/>
        </p:spPr>
        <p:txBody>
          <a:bodyPr wrap="square" lIns="0" rIns="0" tIns="0" bIns="0">
            <a:spAutoFit/>
          </a:bodyPr>
          <a:lstStyle/>
          <a:p>
            <a:pPr>
              <a:lnSpc>
                <a:spcPct val="122000"/>
              </a:lnSpc>
              <a:spcBef>
                <a:spcPts val="0"/>
              </a:spcBef>
              <a:spcAft>
                <a:spcPts val="500"/>
              </a:spcAft>
            </a:pPr>
            <a:r>
              <a:rPr sz="1050" b="0" i="1">
                <a:solidFill>
                  <a:srgbClr val="4F6167"/>
                </a:solidFill>
                <a:latin typeface="Segoe UI"/>
              </a:rPr>
              <a:t>Done means tenant-scoped, role-correct, all states handled, responsive, audited, offline-tolerant, acceptance criteria signed off.</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457200"/>
            <a:ext cx="7863840" cy="274320"/>
          </a:xfrm>
          <a:prstGeom prst="rect">
            <a:avLst/>
          </a:prstGeom>
          <a:noFill/>
        </p:spPr>
        <p:txBody>
          <a:bodyPr wrap="square" lIns="0" rIns="0" tIns="0" bIns="0">
            <a:spAutoFit/>
          </a:bodyPr>
          <a:lstStyle/>
          <a:p>
            <a:pPr>
              <a:lnSpc>
                <a:spcPct val="122000"/>
              </a:lnSpc>
              <a:spcBef>
                <a:spcPts val="0"/>
              </a:spcBef>
              <a:spcAft>
                <a:spcPts val="500"/>
              </a:spcAft>
            </a:pPr>
            <a:r>
              <a:rPr sz="1150" b="1" i="0">
                <a:solidFill>
                  <a:srgbClr val="3D6EA8"/>
                </a:solidFill>
                <a:latin typeface="Segoe UI"/>
              </a:rPr>
              <a:t>THEME DETAILS  ·  PHASE 2</a:t>
            </a:r>
          </a:p>
        </p:txBody>
      </p:sp>
      <p:sp>
        <p:nvSpPr>
          <p:cNvPr id="5" name="TextBox 4"/>
          <p:cNvSpPr txBox="1"/>
          <p:nvPr/>
        </p:nvSpPr>
        <p:spPr>
          <a:xfrm>
            <a:off x="566928" y="768096"/>
            <a:ext cx="8503920" cy="731520"/>
          </a:xfrm>
          <a:prstGeom prst="rect">
            <a:avLst/>
          </a:prstGeom>
          <a:noFill/>
        </p:spPr>
        <p:txBody>
          <a:bodyPr wrap="square" lIns="0" rIns="0" tIns="0" bIns="0">
            <a:spAutoFit/>
          </a:bodyPr>
          <a:lstStyle/>
          <a:p>
            <a:pPr>
              <a:lnSpc>
                <a:spcPct val="122000"/>
              </a:lnSpc>
              <a:spcBef>
                <a:spcPts val="0"/>
              </a:spcBef>
              <a:spcAft>
                <a:spcPts val="0"/>
              </a:spcAft>
            </a:pPr>
            <a:r>
              <a:rPr sz="3400" b="0" i="0">
                <a:solidFill>
                  <a:srgbClr val="102730"/>
                </a:solidFill>
                <a:latin typeface="Segoe UI"/>
              </a:rPr>
              <a:t>Staff, money and scale</a:t>
            </a:r>
          </a:p>
        </p:txBody>
      </p:sp>
      <p:sp>
        <p:nvSpPr>
          <p:cNvPr id="6" name="TextBox 5"/>
          <p:cNvSpPr txBox="1"/>
          <p:nvPr/>
        </p:nvSpPr>
        <p:spPr>
          <a:xfrm>
            <a:off x="566928" y="1699121"/>
            <a:ext cx="11057839" cy="329184"/>
          </a:xfrm>
          <a:prstGeom prst="rect">
            <a:avLst/>
          </a:prstGeom>
          <a:noFill/>
        </p:spPr>
        <p:txBody>
          <a:bodyPr wrap="square" lIns="0" rIns="0" tIns="0" bIns="0">
            <a:spAutoFit/>
          </a:bodyPr>
          <a:lstStyle/>
          <a:p>
            <a:pPr>
              <a:lnSpc>
                <a:spcPct val="122000"/>
              </a:lnSpc>
              <a:spcBef>
                <a:spcPts val="0"/>
              </a:spcBef>
              <a:spcAft>
                <a:spcPts val="500"/>
              </a:spcAft>
            </a:pPr>
            <a:r>
              <a:rPr sz="1300" b="1" i="0">
                <a:solidFill>
                  <a:srgbClr val="B88A1E"/>
                </a:solidFill>
                <a:latin typeface="Segoe UI"/>
              </a:rPr>
              <a:t>Payroll &amp; HR  ·  Accounting  ·  Transport  ·  Inventory  ·  Groups</a:t>
            </a:r>
          </a:p>
        </p:txBody>
      </p:sp>
      <p:graphicFrame>
        <p:nvGraphicFramePr>
          <p:cNvPr id="7" name="Table 6"/>
          <p:cNvGraphicFramePr>
            <a:graphicFrameLocks noGrp="1"/>
          </p:cNvGraphicFramePr>
          <p:nvPr/>
        </p:nvGraphicFramePr>
        <p:xfrm>
          <a:off x="566928" y="2156321"/>
          <a:ext cx="11055096" cy="2834640"/>
        </p:xfrm>
        <a:graphic>
          <a:graphicData uri="http://schemas.openxmlformats.org/drawingml/2006/table">
            <a:tbl>
              <a:tblPr firstRow="1" bandRow="1">
                <a:tableStyleId>{5C22544A-7EE6-4342-B048-85BDC9FD1C3A}</a:tableStyleId>
              </a:tblPr>
              <a:tblGrid>
                <a:gridCol w="2651760"/>
                <a:gridCol w="2926080"/>
                <a:gridCol w="3931920"/>
                <a:gridCol w="1545336"/>
              </a:tblGrid>
              <a:tr h="708660">
                <a:tc>
                  <a:txBody>
                    <a:bodyPr/>
                    <a:lstStyle/>
                    <a:p>
                      <a:r>
                        <a:rPr sz="1300" b="1">
                          <a:solidFill>
                            <a:srgbClr val="FFFFFF"/>
                          </a:solidFill>
                          <a:latin typeface="Segoe UI"/>
                        </a:rPr>
                        <a:t>Action</a:t>
                      </a:r>
                    </a:p>
                  </a:txBody>
                  <a:tcPr anchor="ctr" marL="109728" marR="109728">
                    <a:solidFill>
                      <a:srgbClr val="102730"/>
                    </a:solidFill>
                  </a:tcPr>
                </a:tc>
                <a:tc>
                  <a:txBody>
                    <a:bodyPr/>
                    <a:lstStyle/>
                    <a:p>
                      <a:r>
                        <a:rPr sz="1300" b="1">
                          <a:solidFill>
                            <a:srgbClr val="FFFFFF"/>
                          </a:solidFill>
                          <a:latin typeface="Segoe UI"/>
                        </a:rPr>
                        <a:t>Why it matters</a:t>
                      </a:r>
                    </a:p>
                  </a:txBody>
                  <a:tcPr anchor="ctr" marL="109728" marR="109728">
                    <a:solidFill>
                      <a:srgbClr val="102730"/>
                    </a:solidFill>
                  </a:tcPr>
                </a:tc>
                <a:tc>
                  <a:txBody>
                    <a:bodyPr/>
                    <a:lstStyle/>
                    <a:p>
                      <a:r>
                        <a:rPr sz="1300" b="1">
                          <a:solidFill>
                            <a:srgbClr val="FFFFFF"/>
                          </a:solidFill>
                          <a:latin typeface="Segoe UI"/>
                        </a:rPr>
                        <a:t>Milestones (epics)</a:t>
                      </a:r>
                    </a:p>
                  </a:txBody>
                  <a:tcPr anchor="ctr" marL="109728" marR="109728">
                    <a:solidFill>
                      <a:srgbClr val="102730"/>
                    </a:solidFill>
                  </a:tcPr>
                </a:tc>
                <a:tc>
                  <a:txBody>
                    <a:bodyPr/>
                    <a:lstStyle/>
                    <a:p>
                      <a:r>
                        <a:rPr sz="1300" b="1">
                          <a:solidFill>
                            <a:srgbClr val="FFFFFF"/>
                          </a:solidFill>
                          <a:latin typeface="Segoe UI"/>
                        </a:rPr>
                        <a:t>ETA</a:t>
                      </a:r>
                    </a:p>
                  </a:txBody>
                  <a:tcPr anchor="ctr" marL="109728" marR="109728">
                    <a:solidFill>
                      <a:srgbClr val="102730"/>
                    </a:solidFill>
                  </a:tcPr>
                </a:tc>
              </a:tr>
              <a:tr h="708660">
                <a:tc>
                  <a:txBody>
                    <a:bodyPr/>
                    <a:lstStyle/>
                    <a:p>
                      <a:pPr>
                        <a:lnSpc>
                          <a:spcPct val="115000"/>
                        </a:lnSpc>
                        <a:spcAft>
                          <a:spcPts val="300"/>
                        </a:spcAft>
                      </a:pPr>
                      <a:r>
                        <a:rPr sz="1350" b="1">
                          <a:solidFill>
                            <a:srgbClr val="102730"/>
                          </a:solidFill>
                          <a:latin typeface="Segoe UI"/>
                        </a:rPr>
                        <a:t>Payroll, HR and salary advance</a:t>
                      </a:r>
                    </a:p>
                  </a:txBody>
                  <a:tcPr anchor="t" marL="109728" marR="109728" marT="82296" marB="82296">
                    <a:solidFill>
                      <a:srgbClr val="FFFFFF"/>
                    </a:solidFill>
                  </a:tcPr>
                </a:tc>
                <a:tc>
                  <a:txBody>
                    <a:bodyPr/>
                    <a:lstStyle/>
                    <a:p>
                      <a:pPr>
                        <a:lnSpc>
                          <a:spcPct val="115000"/>
                        </a:lnSpc>
                        <a:spcAft>
                          <a:spcPts val="300"/>
                        </a:spcAft>
                      </a:pPr>
                      <a:r>
                        <a:rPr sz="1250" i="1">
                          <a:solidFill>
                            <a:srgbClr val="4F6167"/>
                          </a:solidFill>
                          <a:latin typeface="Segoe UI"/>
                        </a:rPr>
                        <a:t>The clearest reason a school widens what it uses instead of drifting away.</a:t>
                      </a:r>
                    </a:p>
                  </a:txBody>
                  <a:tcPr anchor="t" marL="109728" marR="109728" marT="82296" marB="82296">
                    <a:solidFill>
                      <a:srgbClr val="FFFFFF"/>
                    </a:solidFill>
                  </a:tcPr>
                </a:tc>
                <a:tc>
                  <a:txBody>
                    <a:bodyPr/>
                    <a:lstStyle/>
                    <a:p>
                      <a:pPr>
                        <a:lnSpc>
                          <a:spcPct val="115000"/>
                        </a:lnSpc>
                        <a:spcAft>
                          <a:spcPts val="300"/>
                        </a:spcAft>
                      </a:pPr>
                      <a:r>
                        <a:rPr sz="1250" b="1" i="0">
                          <a:solidFill>
                            <a:srgbClr val="B88A1E"/>
                          </a:solidFill>
                          <a:latin typeface="Segoe UI"/>
                        </a:rPr>
                        <a:t>·  </a:t>
                      </a:r>
                      <a:r>
                        <a:rPr sz="1250" b="0" i="0">
                          <a:solidFill>
                            <a:srgbClr val="28383E"/>
                          </a:solidFill>
                          <a:latin typeface="Segoe UI"/>
                        </a:rPr>
                        <a:t>Payroll run and payslip distribution</a:t>
                      </a:r>
                    </a:p>
                    <a:p>
                      <a:pPr>
                        <a:lnSpc>
                          <a:spcPct val="115000"/>
                        </a:lnSpc>
                        <a:spcAft>
                          <a:spcPts val="300"/>
                        </a:spcAft>
                      </a:pPr>
                      <a:r>
                        <a:rPr sz="1250" b="1" i="0">
                          <a:solidFill>
                            <a:srgbClr val="B88A1E"/>
                          </a:solidFill>
                          <a:latin typeface="Segoe UI"/>
                        </a:rPr>
                        <a:t>·  </a:t>
                      </a:r>
                      <a:r>
                        <a:rPr sz="1250" b="0" i="0">
                          <a:solidFill>
                            <a:srgbClr val="28383E"/>
                          </a:solidFill>
                          <a:latin typeface="Segoe UI"/>
                        </a:rPr>
                        <a:t>Leave, appraisals, substitute cover</a:t>
                      </a:r>
                    </a:p>
                    <a:p>
                      <a:pPr>
                        <a:lnSpc>
                          <a:spcPct val="115000"/>
                        </a:lnSpc>
                        <a:spcAft>
                          <a:spcPts val="300"/>
                        </a:spcAft>
                      </a:pPr>
                      <a:r>
                        <a:rPr sz="1250" b="1" i="0">
                          <a:solidFill>
                            <a:srgbClr val="B88A1E"/>
                          </a:solidFill>
                          <a:latin typeface="Segoe UI"/>
                        </a:rPr>
                        <a:t>·  </a:t>
                      </a:r>
                      <a:r>
                        <a:rPr sz="1250" b="0" i="0">
                          <a:solidFill>
                            <a:srgbClr val="28383E"/>
                          </a:solidFill>
                          <a:latin typeface="Segoe UI"/>
                        </a:rPr>
                        <a:t>Salary advance against payroll</a:t>
                      </a:r>
                    </a:p>
                  </a:txBody>
                  <a:tcPr anchor="t" marL="109728" marR="109728" marT="82296" marB="82296">
                    <a:solidFill>
                      <a:srgbClr val="FFFFFF"/>
                    </a:solidFill>
                  </a:tcPr>
                </a:tc>
                <a:tc>
                  <a:txBody>
                    <a:bodyPr/>
                    <a:lstStyle/>
                    <a:p>
                      <a:pPr>
                        <a:lnSpc>
                          <a:spcPct val="115000"/>
                        </a:lnSpc>
                        <a:spcAft>
                          <a:spcPts val="300"/>
                        </a:spcAft>
                      </a:pPr>
                      <a:r>
                        <a:rPr sz="1300" b="1" i="0">
                          <a:solidFill>
                            <a:srgbClr val="B88A1E"/>
                          </a:solidFill>
                          <a:latin typeface="Segoe UI"/>
                        </a:rPr>
                        <a:t>Weeks 5-6</a:t>
                      </a:r>
                    </a:p>
                    <a:p>
                      <a:pPr>
                        <a:lnSpc>
                          <a:spcPct val="115000"/>
                        </a:lnSpc>
                        <a:spcAft>
                          <a:spcPts val="300"/>
                        </a:spcAft>
                      </a:pPr>
                      <a:r>
                        <a:rPr sz="1150" b="0" i="0">
                          <a:solidFill>
                            <a:srgbClr val="4F6167"/>
                          </a:solidFill>
                          <a:latin typeface="Segoe UI"/>
                        </a:rPr>
                        <a:t>by 11 Sep</a:t>
                      </a:r>
                    </a:p>
                  </a:txBody>
                  <a:tcPr anchor="t" marL="109728" marR="109728" marT="82296" marB="82296">
                    <a:solidFill>
                      <a:srgbClr val="FFFFFF"/>
                    </a:solidFill>
                  </a:tcPr>
                </a:tc>
              </a:tr>
              <a:tr h="708660">
                <a:tc>
                  <a:txBody>
                    <a:bodyPr/>
                    <a:lstStyle/>
                    <a:p>
                      <a:pPr>
                        <a:lnSpc>
                          <a:spcPct val="115000"/>
                        </a:lnSpc>
                        <a:spcAft>
                          <a:spcPts val="300"/>
                        </a:spcAft>
                      </a:pPr>
                      <a:r>
                        <a:rPr sz="1350" b="1">
                          <a:solidFill>
                            <a:srgbClr val="102730"/>
                          </a:solidFill>
                          <a:latin typeface="Segoe UI"/>
                        </a:rPr>
                        <a:t>Accounting package</a:t>
                      </a:r>
                    </a:p>
                  </a:txBody>
                  <a:tcPr anchor="t" marL="109728" marR="109728" marT="82296" marB="82296">
                    <a:solidFill>
                      <a:srgbClr val="EDF3F1"/>
                    </a:solidFill>
                  </a:tcPr>
                </a:tc>
                <a:tc>
                  <a:txBody>
                    <a:bodyPr/>
                    <a:lstStyle/>
                    <a:p>
                      <a:pPr>
                        <a:lnSpc>
                          <a:spcPct val="115000"/>
                        </a:lnSpc>
                        <a:spcAft>
                          <a:spcPts val="300"/>
                        </a:spcAft>
                      </a:pPr>
                      <a:r>
                        <a:rPr sz="1250" i="1">
                          <a:solidFill>
                            <a:srgbClr val="4F6167"/>
                          </a:solidFill>
                          <a:latin typeface="Segoe UI"/>
                        </a:rPr>
                        <a:t>P&amp;L, trial balance and balance sheet are what stop the second set of books.</a:t>
                      </a:r>
                    </a:p>
                  </a:txBody>
                  <a:tcPr anchor="t" marL="109728" marR="109728" marT="82296" marB="82296">
                    <a:solidFill>
                      <a:srgbClr val="EDF3F1"/>
                    </a:solidFill>
                  </a:tcPr>
                </a:tc>
                <a:tc>
                  <a:txBody>
                    <a:bodyPr/>
                    <a:lstStyle/>
                    <a:p>
                      <a:pPr>
                        <a:lnSpc>
                          <a:spcPct val="115000"/>
                        </a:lnSpc>
                        <a:spcAft>
                          <a:spcPts val="300"/>
                        </a:spcAft>
                      </a:pPr>
                      <a:r>
                        <a:rPr sz="1250" b="1" i="0">
                          <a:solidFill>
                            <a:srgbClr val="B88A1E"/>
                          </a:solidFill>
                          <a:latin typeface="Segoe UI"/>
                        </a:rPr>
                        <a:t>·  </a:t>
                      </a:r>
                      <a:r>
                        <a:rPr sz="1250" b="0" i="0">
                          <a:solidFill>
                            <a:srgbClr val="28383E"/>
                          </a:solidFill>
                          <a:latin typeface="Segoe UI"/>
                        </a:rPr>
                        <a:t>Chart of accounts and posting rules</a:t>
                      </a:r>
                    </a:p>
                    <a:p>
                      <a:pPr>
                        <a:lnSpc>
                          <a:spcPct val="115000"/>
                        </a:lnSpc>
                        <a:spcAft>
                          <a:spcPts val="300"/>
                        </a:spcAft>
                      </a:pPr>
                      <a:r>
                        <a:rPr sz="1250" b="1" i="0">
                          <a:solidFill>
                            <a:srgbClr val="B88A1E"/>
                          </a:solidFill>
                          <a:latin typeface="Segoe UI"/>
                        </a:rPr>
                        <a:t>·  </a:t>
                      </a:r>
                      <a:r>
                        <a:rPr sz="1250" b="0" i="0">
                          <a:solidFill>
                            <a:srgbClr val="28383E"/>
                          </a:solidFill>
                          <a:latin typeface="Segoe UI"/>
                        </a:rPr>
                        <a:t>P&amp;L, trial balance, balance sheet</a:t>
                      </a:r>
                    </a:p>
                    <a:p>
                      <a:pPr>
                        <a:lnSpc>
                          <a:spcPct val="115000"/>
                        </a:lnSpc>
                        <a:spcAft>
                          <a:spcPts val="300"/>
                        </a:spcAft>
                      </a:pPr>
                      <a:r>
                        <a:rPr sz="1250" b="1" i="0">
                          <a:solidFill>
                            <a:srgbClr val="B88A1E"/>
                          </a:solidFill>
                          <a:latin typeface="Segoe UI"/>
                        </a:rPr>
                        <a:t>·  </a:t>
                      </a:r>
                      <a:r>
                        <a:rPr sz="1250" b="0" i="0">
                          <a:solidFill>
                            <a:srgbClr val="28383E"/>
                          </a:solidFill>
                          <a:latin typeface="Segoe UI"/>
                        </a:rPr>
                        <a:t>An export the external accountant will accept</a:t>
                      </a:r>
                    </a:p>
                  </a:txBody>
                  <a:tcPr anchor="t" marL="109728" marR="109728" marT="82296" marB="82296">
                    <a:solidFill>
                      <a:srgbClr val="EDF3F1"/>
                    </a:solidFill>
                  </a:tcPr>
                </a:tc>
                <a:tc>
                  <a:txBody>
                    <a:bodyPr/>
                    <a:lstStyle/>
                    <a:p>
                      <a:pPr>
                        <a:lnSpc>
                          <a:spcPct val="115000"/>
                        </a:lnSpc>
                        <a:spcAft>
                          <a:spcPts val="300"/>
                        </a:spcAft>
                      </a:pPr>
                      <a:r>
                        <a:rPr sz="1300" b="1" i="0">
                          <a:solidFill>
                            <a:srgbClr val="B88A1E"/>
                          </a:solidFill>
                          <a:latin typeface="Segoe UI"/>
                        </a:rPr>
                        <a:t>Weeks 6-7</a:t>
                      </a:r>
                    </a:p>
                    <a:p>
                      <a:pPr>
                        <a:lnSpc>
                          <a:spcPct val="115000"/>
                        </a:lnSpc>
                        <a:spcAft>
                          <a:spcPts val="300"/>
                        </a:spcAft>
                      </a:pPr>
                      <a:r>
                        <a:rPr sz="1150" b="0" i="0">
                          <a:solidFill>
                            <a:srgbClr val="4F6167"/>
                          </a:solidFill>
                          <a:latin typeface="Segoe UI"/>
                        </a:rPr>
                        <a:t>by 18 Sep</a:t>
                      </a:r>
                    </a:p>
                  </a:txBody>
                  <a:tcPr anchor="t" marL="109728" marR="109728" marT="82296" marB="82296">
                    <a:solidFill>
                      <a:srgbClr val="EDF3F1"/>
                    </a:solidFill>
                  </a:tcPr>
                </a:tc>
              </a:tr>
              <a:tr h="708660">
                <a:tc>
                  <a:txBody>
                    <a:bodyPr/>
                    <a:lstStyle/>
                    <a:p>
                      <a:pPr>
                        <a:lnSpc>
                          <a:spcPct val="115000"/>
                        </a:lnSpc>
                        <a:spcAft>
                          <a:spcPts val="300"/>
                        </a:spcAft>
                      </a:pPr>
                      <a:r>
                        <a:rPr sz="1350" b="1">
                          <a:solidFill>
                            <a:srgbClr val="102730"/>
                          </a:solidFill>
                          <a:latin typeface="Segoe UI"/>
                        </a:rPr>
                        <a:t>Transport and authorised pickup</a:t>
                      </a:r>
                    </a:p>
                  </a:txBody>
                  <a:tcPr anchor="t" marL="109728" marR="109728" marT="82296" marB="82296">
                    <a:solidFill>
                      <a:srgbClr val="FFFFFF"/>
                    </a:solidFill>
                  </a:tcPr>
                </a:tc>
                <a:tc>
                  <a:txBody>
                    <a:bodyPr/>
                    <a:lstStyle/>
                    <a:p>
                      <a:pPr>
                        <a:lnSpc>
                          <a:spcPct val="115000"/>
                        </a:lnSpc>
                        <a:spcAft>
                          <a:spcPts val="300"/>
                        </a:spcAft>
                      </a:pPr>
                      <a:r>
                        <a:rPr sz="1250" i="1">
                          <a:solidFill>
                            <a:srgbClr val="4F6167"/>
                          </a:solidFill>
                          <a:latin typeface="Segoe UI"/>
                        </a:rPr>
                        <a:t>Safety carries more weight with parents than anything on the academic side.</a:t>
                      </a:r>
                    </a:p>
                  </a:txBody>
                  <a:tcPr anchor="t" marL="109728" marR="109728" marT="82296" marB="82296">
                    <a:solidFill>
                      <a:srgbClr val="FFFFFF"/>
                    </a:solidFill>
                  </a:tcPr>
                </a:tc>
                <a:tc>
                  <a:txBody>
                    <a:bodyPr/>
                    <a:lstStyle/>
                    <a:p>
                      <a:pPr>
                        <a:lnSpc>
                          <a:spcPct val="115000"/>
                        </a:lnSpc>
                        <a:spcAft>
                          <a:spcPts val="300"/>
                        </a:spcAft>
                      </a:pPr>
                      <a:r>
                        <a:rPr sz="1250" b="1" i="0">
                          <a:solidFill>
                            <a:srgbClr val="B88A1E"/>
                          </a:solidFill>
                          <a:latin typeface="Segoe UI"/>
                        </a:rPr>
                        <a:t>·  </a:t>
                      </a:r>
                      <a:r>
                        <a:rPr sz="1250" b="0" i="0">
                          <a:solidFill>
                            <a:srgbClr val="28383E"/>
                          </a:solidFill>
                          <a:latin typeface="Segoe UI"/>
                        </a:rPr>
                        <a:t>Routes, assignments, live bus status</a:t>
                      </a:r>
                    </a:p>
                    <a:p>
                      <a:pPr>
                        <a:lnSpc>
                          <a:spcPct val="115000"/>
                        </a:lnSpc>
                        <a:spcAft>
                          <a:spcPts val="300"/>
                        </a:spcAft>
                      </a:pPr>
                      <a:r>
                        <a:rPr sz="1250" b="1" i="0">
                          <a:solidFill>
                            <a:srgbClr val="B88A1E"/>
                          </a:solidFill>
                          <a:latin typeface="Segoe UI"/>
                        </a:rPr>
                        <a:t>·  </a:t>
                      </a:r>
                      <a:r>
                        <a:rPr sz="1250" b="0" i="0">
                          <a:solidFill>
                            <a:srgbClr val="28383E"/>
                          </a:solidFill>
                          <a:latin typeface="Segoe UI"/>
                        </a:rPr>
                        <a:t>Authorised pickup approval</a:t>
                      </a:r>
                    </a:p>
                  </a:txBody>
                  <a:tcPr anchor="t" marL="109728" marR="109728" marT="82296" marB="82296">
                    <a:solidFill>
                      <a:srgbClr val="FFFFFF"/>
                    </a:solidFill>
                  </a:tcPr>
                </a:tc>
                <a:tc>
                  <a:txBody>
                    <a:bodyPr/>
                    <a:lstStyle/>
                    <a:p>
                      <a:pPr>
                        <a:lnSpc>
                          <a:spcPct val="115000"/>
                        </a:lnSpc>
                        <a:spcAft>
                          <a:spcPts val="300"/>
                        </a:spcAft>
                      </a:pPr>
                      <a:r>
                        <a:rPr sz="1300" b="1" i="0">
                          <a:solidFill>
                            <a:srgbClr val="B88A1E"/>
                          </a:solidFill>
                          <a:latin typeface="Segoe UI"/>
                        </a:rPr>
                        <a:t>Weeks 6-7</a:t>
                      </a:r>
                    </a:p>
                    <a:p>
                      <a:pPr>
                        <a:lnSpc>
                          <a:spcPct val="115000"/>
                        </a:lnSpc>
                        <a:spcAft>
                          <a:spcPts val="300"/>
                        </a:spcAft>
                      </a:pPr>
                      <a:r>
                        <a:rPr sz="1150" b="0" i="0">
                          <a:solidFill>
                            <a:srgbClr val="4F6167"/>
                          </a:solidFill>
                          <a:latin typeface="Segoe UI"/>
                        </a:rPr>
                        <a:t>by 18 Sep</a:t>
                      </a:r>
                    </a:p>
                  </a:txBody>
                  <a:tcPr anchor="t" marL="109728" marR="109728" marT="82296" marB="82296">
                    <a:solidFill>
                      <a:srgbClr val="FFFFFF"/>
                    </a:solidFill>
                  </a:tcPr>
                </a:tc>
              </a:tr>
            </a:tbl>
          </a:graphicData>
        </a:graphic>
      </p:graphicFrame>
      <p:sp>
        <p:nvSpPr>
          <p:cNvPr id="8" name="TextBox 7"/>
          <p:cNvSpPr txBox="1"/>
          <p:nvPr/>
        </p:nvSpPr>
        <p:spPr>
          <a:xfrm>
            <a:off x="566928" y="6355080"/>
            <a:ext cx="8131759" cy="310896"/>
          </a:xfrm>
          <a:prstGeom prst="rect">
            <a:avLst/>
          </a:prstGeom>
          <a:noFill/>
        </p:spPr>
        <p:txBody>
          <a:bodyPr wrap="square" lIns="0" rIns="0" tIns="0" bIns="0">
            <a:spAutoFit/>
          </a:bodyPr>
          <a:lstStyle/>
          <a:p>
            <a:pPr>
              <a:lnSpc>
                <a:spcPct val="122000"/>
              </a:lnSpc>
              <a:spcBef>
                <a:spcPts val="0"/>
              </a:spcBef>
              <a:spcAft>
                <a:spcPts val="500"/>
              </a:spcAft>
            </a:pPr>
            <a:r>
              <a:rPr sz="1050" b="0" i="1">
                <a:solidFill>
                  <a:srgbClr val="4F6167"/>
                </a:solidFill>
                <a:latin typeface="Segoe UI"/>
              </a:rPr>
              <a:t>Done means tenant-scoped, role-correct, all states handled, responsive, audited, offline-tolerant, acceptance criteria signed off.</a:t>
            </a:r>
          </a:p>
        </p:txBody>
      </p:sp>
      <p:sp>
        <p:nvSpPr>
          <p:cNvPr id="9" name="TextBox 8"/>
          <p:cNvSpPr txBox="1"/>
          <p:nvPr/>
        </p:nvSpPr>
        <p:spPr>
          <a:xfrm>
            <a:off x="8698687" y="6355080"/>
            <a:ext cx="2926080" cy="310896"/>
          </a:xfrm>
          <a:prstGeom prst="rect">
            <a:avLst/>
          </a:prstGeom>
          <a:noFill/>
        </p:spPr>
        <p:txBody>
          <a:bodyPr wrap="square" lIns="0" rIns="0" tIns="0" bIns="0">
            <a:spAutoFit/>
          </a:bodyPr>
          <a:lstStyle/>
          <a:p>
            <a:pPr algn="r">
              <a:lnSpc>
                <a:spcPct val="122000"/>
              </a:lnSpc>
              <a:spcBef>
                <a:spcPts val="0"/>
              </a:spcBef>
              <a:spcAft>
                <a:spcPts val="500"/>
              </a:spcAft>
            </a:pPr>
            <a:r>
              <a:rPr sz="1050" b="1" i="0">
                <a:solidFill>
                  <a:srgbClr val="4F6167"/>
                </a:solidFill>
                <a:latin typeface="Segoe UI"/>
              </a:rPr>
              <a:t>Staff, money and scale  1 of 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457200"/>
            <a:ext cx="7863840" cy="274320"/>
          </a:xfrm>
          <a:prstGeom prst="rect">
            <a:avLst/>
          </a:prstGeom>
          <a:noFill/>
        </p:spPr>
        <p:txBody>
          <a:bodyPr wrap="square" lIns="0" rIns="0" tIns="0" bIns="0">
            <a:spAutoFit/>
          </a:bodyPr>
          <a:lstStyle/>
          <a:p>
            <a:pPr>
              <a:lnSpc>
                <a:spcPct val="122000"/>
              </a:lnSpc>
              <a:spcBef>
                <a:spcPts val="0"/>
              </a:spcBef>
              <a:spcAft>
                <a:spcPts val="500"/>
              </a:spcAft>
            </a:pPr>
            <a:r>
              <a:rPr sz="1150" b="1" i="0">
                <a:solidFill>
                  <a:srgbClr val="3D6EA8"/>
                </a:solidFill>
                <a:latin typeface="Segoe UI"/>
              </a:rPr>
              <a:t>THEME DETAILS  ·  PHASE 2</a:t>
            </a:r>
          </a:p>
        </p:txBody>
      </p:sp>
      <p:sp>
        <p:nvSpPr>
          <p:cNvPr id="5" name="TextBox 4"/>
          <p:cNvSpPr txBox="1"/>
          <p:nvPr/>
        </p:nvSpPr>
        <p:spPr>
          <a:xfrm>
            <a:off x="566928" y="768096"/>
            <a:ext cx="8503920" cy="731520"/>
          </a:xfrm>
          <a:prstGeom prst="rect">
            <a:avLst/>
          </a:prstGeom>
          <a:noFill/>
        </p:spPr>
        <p:txBody>
          <a:bodyPr wrap="square" lIns="0" rIns="0" tIns="0" bIns="0">
            <a:spAutoFit/>
          </a:bodyPr>
          <a:lstStyle/>
          <a:p>
            <a:pPr>
              <a:lnSpc>
                <a:spcPct val="122000"/>
              </a:lnSpc>
              <a:spcBef>
                <a:spcPts val="0"/>
              </a:spcBef>
              <a:spcAft>
                <a:spcPts val="0"/>
              </a:spcAft>
            </a:pPr>
            <a:r>
              <a:rPr sz="3400" b="0" i="0">
                <a:solidFill>
                  <a:srgbClr val="102730"/>
                </a:solidFill>
                <a:latin typeface="Segoe UI"/>
              </a:rPr>
              <a:t>Staff, money and scale</a:t>
            </a:r>
          </a:p>
        </p:txBody>
      </p:sp>
      <p:sp>
        <p:nvSpPr>
          <p:cNvPr id="6" name="TextBox 5"/>
          <p:cNvSpPr txBox="1"/>
          <p:nvPr/>
        </p:nvSpPr>
        <p:spPr>
          <a:xfrm>
            <a:off x="566928" y="1699121"/>
            <a:ext cx="11057839" cy="329184"/>
          </a:xfrm>
          <a:prstGeom prst="rect">
            <a:avLst/>
          </a:prstGeom>
          <a:noFill/>
        </p:spPr>
        <p:txBody>
          <a:bodyPr wrap="square" lIns="0" rIns="0" tIns="0" bIns="0">
            <a:spAutoFit/>
          </a:bodyPr>
          <a:lstStyle/>
          <a:p>
            <a:pPr>
              <a:lnSpc>
                <a:spcPct val="122000"/>
              </a:lnSpc>
              <a:spcBef>
                <a:spcPts val="0"/>
              </a:spcBef>
              <a:spcAft>
                <a:spcPts val="500"/>
              </a:spcAft>
            </a:pPr>
            <a:r>
              <a:rPr sz="1300" b="1" i="0">
                <a:solidFill>
                  <a:srgbClr val="B88A1E"/>
                </a:solidFill>
                <a:latin typeface="Segoe UI"/>
              </a:rPr>
              <a:t>Payroll &amp; HR  ·  Accounting  ·  Transport  ·  Inventory  ·  Groups</a:t>
            </a:r>
          </a:p>
        </p:txBody>
      </p:sp>
      <p:graphicFrame>
        <p:nvGraphicFramePr>
          <p:cNvPr id="7" name="Table 6"/>
          <p:cNvGraphicFramePr>
            <a:graphicFrameLocks noGrp="1"/>
          </p:cNvGraphicFramePr>
          <p:nvPr/>
        </p:nvGraphicFramePr>
        <p:xfrm>
          <a:off x="566928" y="2156321"/>
          <a:ext cx="11055096" cy="2834640"/>
        </p:xfrm>
        <a:graphic>
          <a:graphicData uri="http://schemas.openxmlformats.org/drawingml/2006/table">
            <a:tbl>
              <a:tblPr firstRow="1" bandRow="1">
                <a:tableStyleId>{5C22544A-7EE6-4342-B048-85BDC9FD1C3A}</a:tableStyleId>
              </a:tblPr>
              <a:tblGrid>
                <a:gridCol w="2651760"/>
                <a:gridCol w="2926080"/>
                <a:gridCol w="3931920"/>
                <a:gridCol w="1545336"/>
              </a:tblGrid>
              <a:tr h="944880">
                <a:tc>
                  <a:txBody>
                    <a:bodyPr/>
                    <a:lstStyle/>
                    <a:p>
                      <a:r>
                        <a:rPr sz="1300" b="1">
                          <a:solidFill>
                            <a:srgbClr val="FFFFFF"/>
                          </a:solidFill>
                          <a:latin typeface="Segoe UI"/>
                        </a:rPr>
                        <a:t>Action</a:t>
                      </a:r>
                    </a:p>
                  </a:txBody>
                  <a:tcPr anchor="ctr" marL="109728" marR="109728">
                    <a:solidFill>
                      <a:srgbClr val="102730"/>
                    </a:solidFill>
                  </a:tcPr>
                </a:tc>
                <a:tc>
                  <a:txBody>
                    <a:bodyPr/>
                    <a:lstStyle/>
                    <a:p>
                      <a:r>
                        <a:rPr sz="1300" b="1">
                          <a:solidFill>
                            <a:srgbClr val="FFFFFF"/>
                          </a:solidFill>
                          <a:latin typeface="Segoe UI"/>
                        </a:rPr>
                        <a:t>Why it matters</a:t>
                      </a:r>
                    </a:p>
                  </a:txBody>
                  <a:tcPr anchor="ctr" marL="109728" marR="109728">
                    <a:solidFill>
                      <a:srgbClr val="102730"/>
                    </a:solidFill>
                  </a:tcPr>
                </a:tc>
                <a:tc>
                  <a:txBody>
                    <a:bodyPr/>
                    <a:lstStyle/>
                    <a:p>
                      <a:r>
                        <a:rPr sz="1300" b="1">
                          <a:solidFill>
                            <a:srgbClr val="FFFFFF"/>
                          </a:solidFill>
                          <a:latin typeface="Segoe UI"/>
                        </a:rPr>
                        <a:t>Milestones (epics)</a:t>
                      </a:r>
                    </a:p>
                  </a:txBody>
                  <a:tcPr anchor="ctr" marL="109728" marR="109728">
                    <a:solidFill>
                      <a:srgbClr val="102730"/>
                    </a:solidFill>
                  </a:tcPr>
                </a:tc>
                <a:tc>
                  <a:txBody>
                    <a:bodyPr/>
                    <a:lstStyle/>
                    <a:p>
                      <a:r>
                        <a:rPr sz="1300" b="1">
                          <a:solidFill>
                            <a:srgbClr val="FFFFFF"/>
                          </a:solidFill>
                          <a:latin typeface="Segoe UI"/>
                        </a:rPr>
                        <a:t>ETA</a:t>
                      </a:r>
                    </a:p>
                  </a:txBody>
                  <a:tcPr anchor="ctr" marL="109728" marR="109728">
                    <a:solidFill>
                      <a:srgbClr val="102730"/>
                    </a:solidFill>
                  </a:tcPr>
                </a:tc>
              </a:tr>
              <a:tr h="944880">
                <a:tc>
                  <a:txBody>
                    <a:bodyPr/>
                    <a:lstStyle/>
                    <a:p>
                      <a:pPr>
                        <a:lnSpc>
                          <a:spcPct val="115000"/>
                        </a:lnSpc>
                        <a:spcAft>
                          <a:spcPts val="300"/>
                        </a:spcAft>
                      </a:pPr>
                      <a:r>
                        <a:rPr sz="1350" b="1">
                          <a:solidFill>
                            <a:srgbClr val="102730"/>
                          </a:solidFill>
                          <a:latin typeface="Segoe UI"/>
                        </a:rPr>
                        <a:t>Inventory, house points and surveys</a:t>
                      </a:r>
                    </a:p>
                  </a:txBody>
                  <a:tcPr anchor="t" marL="109728" marR="109728" marT="82296" marB="82296">
                    <a:solidFill>
                      <a:srgbClr val="FFFFFF"/>
                    </a:solidFill>
                  </a:tcPr>
                </a:tc>
                <a:tc>
                  <a:txBody>
                    <a:bodyPr/>
                    <a:lstStyle/>
                    <a:p>
                      <a:pPr>
                        <a:lnSpc>
                          <a:spcPct val="115000"/>
                        </a:lnSpc>
                        <a:spcAft>
                          <a:spcPts val="300"/>
                        </a:spcAft>
                      </a:pPr>
                      <a:r>
                        <a:rPr sz="1250" i="1">
                          <a:solidFill>
                            <a:srgbClr val="4F6167"/>
                          </a:solidFill>
                          <a:latin typeface="Segoe UI"/>
                        </a:rPr>
                        <a:t>What the bursar and the sports master ask for by the second term.</a:t>
                      </a:r>
                    </a:p>
                  </a:txBody>
                  <a:tcPr anchor="t" marL="109728" marR="109728" marT="82296" marB="82296">
                    <a:solidFill>
                      <a:srgbClr val="FFFFFF"/>
                    </a:solidFill>
                  </a:tcPr>
                </a:tc>
                <a:tc>
                  <a:txBody>
                    <a:bodyPr/>
                    <a:lstStyle/>
                    <a:p>
                      <a:pPr>
                        <a:lnSpc>
                          <a:spcPct val="115000"/>
                        </a:lnSpc>
                        <a:spcAft>
                          <a:spcPts val="300"/>
                        </a:spcAft>
                      </a:pPr>
                      <a:r>
                        <a:rPr sz="1250" b="1" i="0">
                          <a:solidFill>
                            <a:srgbClr val="B88A1E"/>
                          </a:solidFill>
                          <a:latin typeface="Segoe UI"/>
                        </a:rPr>
                        <a:t>·  </a:t>
                      </a:r>
                      <a:r>
                        <a:rPr sz="1250" b="0" i="0">
                          <a:solidFill>
                            <a:srgbClr val="28383E"/>
                          </a:solidFill>
                          <a:latin typeface="Segoe UI"/>
                        </a:rPr>
                        <a:t>Inventory with low-stock alerts</a:t>
                      </a:r>
                    </a:p>
                    <a:p>
                      <a:pPr>
                        <a:lnSpc>
                          <a:spcPct val="115000"/>
                        </a:lnSpc>
                        <a:spcAft>
                          <a:spcPts val="300"/>
                        </a:spcAft>
                      </a:pPr>
                      <a:r>
                        <a:rPr sz="1250" b="1" i="0">
                          <a:solidFill>
                            <a:srgbClr val="B88A1E"/>
                          </a:solidFill>
                          <a:latin typeface="Segoe UI"/>
                        </a:rPr>
                        <a:t>·  </a:t>
                      </a:r>
                      <a:r>
                        <a:rPr sz="1250" b="0" i="0">
                          <a:solidFill>
                            <a:srgbClr val="28383E"/>
                          </a:solidFill>
                          <a:latin typeface="Segoe UI"/>
                        </a:rPr>
                        <a:t>House points, leaderboards, inter-house competitions</a:t>
                      </a:r>
                    </a:p>
                    <a:p>
                      <a:pPr>
                        <a:lnSpc>
                          <a:spcPct val="115000"/>
                        </a:lnSpc>
                        <a:spcAft>
                          <a:spcPts val="300"/>
                        </a:spcAft>
                      </a:pPr>
                      <a:r>
                        <a:rPr sz="1250" b="1" i="0">
                          <a:solidFill>
                            <a:srgbClr val="B88A1E"/>
                          </a:solidFill>
                          <a:latin typeface="Segoe UI"/>
                        </a:rPr>
                        <a:t>·  </a:t>
                      </a:r>
                      <a:r>
                        <a:rPr sz="1250" b="0" i="0">
                          <a:solidFill>
                            <a:srgbClr val="28383E"/>
                          </a:solidFill>
                          <a:latin typeface="Segoe UI"/>
                        </a:rPr>
                        <a:t>Surveys and feedback forms</a:t>
                      </a:r>
                    </a:p>
                  </a:txBody>
                  <a:tcPr anchor="t" marL="109728" marR="109728" marT="82296" marB="82296">
                    <a:solidFill>
                      <a:srgbClr val="FFFFFF"/>
                    </a:solidFill>
                  </a:tcPr>
                </a:tc>
                <a:tc>
                  <a:txBody>
                    <a:bodyPr/>
                    <a:lstStyle/>
                    <a:p>
                      <a:pPr>
                        <a:lnSpc>
                          <a:spcPct val="115000"/>
                        </a:lnSpc>
                        <a:spcAft>
                          <a:spcPts val="300"/>
                        </a:spcAft>
                      </a:pPr>
                      <a:r>
                        <a:rPr sz="1300" b="1" i="0">
                          <a:solidFill>
                            <a:srgbClr val="B88A1E"/>
                          </a:solidFill>
                          <a:latin typeface="Segoe UI"/>
                        </a:rPr>
                        <a:t>Weeks 7-8</a:t>
                      </a:r>
                    </a:p>
                    <a:p>
                      <a:pPr>
                        <a:lnSpc>
                          <a:spcPct val="115000"/>
                        </a:lnSpc>
                        <a:spcAft>
                          <a:spcPts val="300"/>
                        </a:spcAft>
                      </a:pPr>
                      <a:r>
                        <a:rPr sz="1150" b="0" i="0">
                          <a:solidFill>
                            <a:srgbClr val="4F6167"/>
                          </a:solidFill>
                          <a:latin typeface="Segoe UI"/>
                        </a:rPr>
                        <a:t>by 25 Sep</a:t>
                      </a:r>
                    </a:p>
                  </a:txBody>
                  <a:tcPr anchor="t" marL="109728" marR="109728" marT="82296" marB="82296">
                    <a:solidFill>
                      <a:srgbClr val="FFFFFF"/>
                    </a:solidFill>
                  </a:tcPr>
                </a:tc>
              </a:tr>
              <a:tr h="944880">
                <a:tc>
                  <a:txBody>
                    <a:bodyPr/>
                    <a:lstStyle/>
                    <a:p>
                      <a:pPr>
                        <a:lnSpc>
                          <a:spcPct val="115000"/>
                        </a:lnSpc>
                        <a:spcAft>
                          <a:spcPts val="300"/>
                        </a:spcAft>
                      </a:pPr>
                      <a:r>
                        <a:rPr sz="1350" b="1">
                          <a:solidFill>
                            <a:srgbClr val="102730"/>
                          </a:solidFill>
                          <a:latin typeface="Segoe UI"/>
                        </a:rPr>
                        <a:t>Multi-branch groups</a:t>
                      </a:r>
                    </a:p>
                  </a:txBody>
                  <a:tcPr anchor="t" marL="109728" marR="109728" marT="82296" marB="82296">
                    <a:solidFill>
                      <a:srgbClr val="EDF3F1"/>
                    </a:solidFill>
                  </a:tcPr>
                </a:tc>
                <a:tc>
                  <a:txBody>
                    <a:bodyPr/>
                    <a:lstStyle/>
                    <a:p>
                      <a:pPr>
                        <a:lnSpc>
                          <a:spcPct val="115000"/>
                        </a:lnSpc>
                        <a:spcAft>
                          <a:spcPts val="300"/>
                        </a:spcAft>
                      </a:pPr>
                      <a:r>
                        <a:rPr sz="1250" i="1">
                          <a:solidFill>
                            <a:srgbClr val="4F6167"/>
                          </a:solidFill>
                          <a:latin typeface="Segoe UI"/>
                        </a:rPr>
                        <a:t>One login across campuses, and the feature a group owner signs for.</a:t>
                      </a:r>
                    </a:p>
                  </a:txBody>
                  <a:tcPr anchor="t" marL="109728" marR="109728" marT="82296" marB="82296">
                    <a:solidFill>
                      <a:srgbClr val="EDF3F1"/>
                    </a:solidFill>
                  </a:tcPr>
                </a:tc>
                <a:tc>
                  <a:txBody>
                    <a:bodyPr/>
                    <a:lstStyle/>
                    <a:p>
                      <a:pPr>
                        <a:lnSpc>
                          <a:spcPct val="115000"/>
                        </a:lnSpc>
                        <a:spcAft>
                          <a:spcPts val="300"/>
                        </a:spcAft>
                      </a:pPr>
                      <a:r>
                        <a:rPr sz="1250" b="1" i="0">
                          <a:solidFill>
                            <a:srgbClr val="B88A1E"/>
                          </a:solidFill>
                          <a:latin typeface="Segoe UI"/>
                        </a:rPr>
                        <a:t>·  </a:t>
                      </a:r>
                      <a:r>
                        <a:rPr sz="1250" b="0" i="0">
                          <a:solidFill>
                            <a:srgbClr val="28383E"/>
                          </a:solidFill>
                          <a:latin typeface="Segoe UI"/>
                        </a:rPr>
                        <a:t>Group overview and branch switcher</a:t>
                      </a:r>
                    </a:p>
                    <a:p>
                      <a:pPr>
                        <a:lnSpc>
                          <a:spcPct val="115000"/>
                        </a:lnSpc>
                        <a:spcAft>
                          <a:spcPts val="300"/>
                        </a:spcAft>
                      </a:pPr>
                      <a:r>
                        <a:rPr sz="1250" b="1" i="0">
                          <a:solidFill>
                            <a:srgbClr val="B88A1E"/>
                          </a:solidFill>
                          <a:latin typeface="Segoe UI"/>
                        </a:rPr>
                        <a:t>·  </a:t>
                      </a:r>
                      <a:r>
                        <a:rPr sz="1250" b="0" i="0">
                          <a:solidFill>
                            <a:srgbClr val="28383E"/>
                          </a:solidFill>
                          <a:latin typeface="Segoe UI"/>
                        </a:rPr>
                        <a:t>Add-branch on-ramp</a:t>
                      </a:r>
                    </a:p>
                    <a:p>
                      <a:pPr>
                        <a:lnSpc>
                          <a:spcPct val="115000"/>
                        </a:lnSpc>
                        <a:spcAft>
                          <a:spcPts val="300"/>
                        </a:spcAft>
                      </a:pPr>
                      <a:r>
                        <a:rPr sz="1250" b="1" i="0">
                          <a:solidFill>
                            <a:srgbClr val="B88A1E"/>
                          </a:solidFill>
                          <a:latin typeface="Segoe UI"/>
                        </a:rPr>
                        <a:t>·  </a:t>
                      </a:r>
                      <a:r>
                        <a:rPr sz="1250" b="0" i="0">
                          <a:solidFill>
                            <a:srgbClr val="28383E"/>
                          </a:solidFill>
                          <a:latin typeface="Segoe UI"/>
                        </a:rPr>
                        <a:t>Consolidated finance and enrolment roll-up</a:t>
                      </a:r>
                    </a:p>
                  </a:txBody>
                  <a:tcPr anchor="t" marL="109728" marR="109728" marT="82296" marB="82296">
                    <a:solidFill>
                      <a:srgbClr val="EDF3F1"/>
                    </a:solidFill>
                  </a:tcPr>
                </a:tc>
                <a:tc>
                  <a:txBody>
                    <a:bodyPr/>
                    <a:lstStyle/>
                    <a:p>
                      <a:pPr>
                        <a:lnSpc>
                          <a:spcPct val="115000"/>
                        </a:lnSpc>
                        <a:spcAft>
                          <a:spcPts val="300"/>
                        </a:spcAft>
                      </a:pPr>
                      <a:r>
                        <a:rPr sz="1300" b="1" i="0">
                          <a:solidFill>
                            <a:srgbClr val="B88A1E"/>
                          </a:solidFill>
                          <a:latin typeface="Segoe UI"/>
                        </a:rPr>
                        <a:t>Week 8</a:t>
                      </a:r>
                    </a:p>
                    <a:p>
                      <a:pPr>
                        <a:lnSpc>
                          <a:spcPct val="115000"/>
                        </a:lnSpc>
                        <a:spcAft>
                          <a:spcPts val="300"/>
                        </a:spcAft>
                      </a:pPr>
                      <a:r>
                        <a:rPr sz="1150" b="0" i="0">
                          <a:solidFill>
                            <a:srgbClr val="4F6167"/>
                          </a:solidFill>
                          <a:latin typeface="Segoe UI"/>
                        </a:rPr>
                        <a:t>by 25 Sep</a:t>
                      </a:r>
                    </a:p>
                  </a:txBody>
                  <a:tcPr anchor="t" marL="109728" marR="109728" marT="82296" marB="82296">
                    <a:solidFill>
                      <a:srgbClr val="EDF3F1"/>
                    </a:solidFill>
                  </a:tcPr>
                </a:tc>
              </a:tr>
            </a:tbl>
          </a:graphicData>
        </a:graphic>
      </p:graphicFrame>
      <p:sp>
        <p:nvSpPr>
          <p:cNvPr id="8" name="TextBox 7"/>
          <p:cNvSpPr txBox="1"/>
          <p:nvPr/>
        </p:nvSpPr>
        <p:spPr>
          <a:xfrm>
            <a:off x="566928" y="6355080"/>
            <a:ext cx="8131759" cy="310896"/>
          </a:xfrm>
          <a:prstGeom prst="rect">
            <a:avLst/>
          </a:prstGeom>
          <a:noFill/>
        </p:spPr>
        <p:txBody>
          <a:bodyPr wrap="square" lIns="0" rIns="0" tIns="0" bIns="0">
            <a:spAutoFit/>
          </a:bodyPr>
          <a:lstStyle/>
          <a:p>
            <a:pPr>
              <a:lnSpc>
                <a:spcPct val="122000"/>
              </a:lnSpc>
              <a:spcBef>
                <a:spcPts val="0"/>
              </a:spcBef>
              <a:spcAft>
                <a:spcPts val="500"/>
              </a:spcAft>
            </a:pPr>
            <a:r>
              <a:rPr sz="1050" b="0" i="1">
                <a:solidFill>
                  <a:srgbClr val="4F6167"/>
                </a:solidFill>
                <a:latin typeface="Segoe UI"/>
              </a:rPr>
              <a:t>Done means tenant-scoped, role-correct, all states handled, responsive, audited, offline-tolerant, acceptance criteria signed off.</a:t>
            </a:r>
          </a:p>
        </p:txBody>
      </p:sp>
      <p:sp>
        <p:nvSpPr>
          <p:cNvPr id="9" name="TextBox 8"/>
          <p:cNvSpPr txBox="1"/>
          <p:nvPr/>
        </p:nvSpPr>
        <p:spPr>
          <a:xfrm>
            <a:off x="8698687" y="6355080"/>
            <a:ext cx="2926080" cy="310896"/>
          </a:xfrm>
          <a:prstGeom prst="rect">
            <a:avLst/>
          </a:prstGeom>
          <a:noFill/>
        </p:spPr>
        <p:txBody>
          <a:bodyPr wrap="square" lIns="0" rIns="0" tIns="0" bIns="0">
            <a:spAutoFit/>
          </a:bodyPr>
          <a:lstStyle/>
          <a:p>
            <a:pPr algn="r">
              <a:lnSpc>
                <a:spcPct val="122000"/>
              </a:lnSpc>
              <a:spcBef>
                <a:spcPts val="0"/>
              </a:spcBef>
              <a:spcAft>
                <a:spcPts val="500"/>
              </a:spcAft>
            </a:pPr>
            <a:r>
              <a:rPr sz="1050" b="1" i="0">
                <a:solidFill>
                  <a:srgbClr val="4F6167"/>
                </a:solidFill>
                <a:latin typeface="Segoe UI"/>
              </a:rPr>
              <a:t>Staff, money and scale  2 of 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384048"/>
            <a:ext cx="8229600" cy="548640"/>
          </a:xfrm>
          <a:prstGeom prst="rect">
            <a:avLst/>
          </a:prstGeom>
          <a:noFill/>
        </p:spPr>
        <p:txBody>
          <a:bodyPr wrap="square" lIns="0" rIns="0" tIns="0" bIns="0">
            <a:spAutoFit/>
          </a:bodyPr>
          <a:lstStyle/>
          <a:p>
            <a:pPr>
              <a:lnSpc>
                <a:spcPct val="122000"/>
              </a:lnSpc>
              <a:spcBef>
                <a:spcPts val="0"/>
              </a:spcBef>
              <a:spcAft>
                <a:spcPts val="0"/>
              </a:spcAft>
            </a:pPr>
            <a:r>
              <a:rPr sz="3200" b="0" i="0">
                <a:solidFill>
                  <a:srgbClr val="102730"/>
                </a:solidFill>
                <a:latin typeface="Segoe UI"/>
              </a:rPr>
              <a:t>The eight weeks at a glance</a:t>
            </a:r>
          </a:p>
        </p:txBody>
      </p:sp>
      <p:sp>
        <p:nvSpPr>
          <p:cNvPr id="5" name="Rectangle 4"/>
          <p:cNvSpPr/>
          <p:nvPr/>
        </p:nvSpPr>
        <p:spPr>
          <a:xfrm>
            <a:off x="3584448" y="987552"/>
            <a:ext cx="3983583" cy="329184"/>
          </a:xfrm>
          <a:prstGeom prst="rect">
            <a:avLst/>
          </a:prstGeom>
          <a:solidFill>
            <a:srgbClr val="0A6B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0"/>
              </a:spcAft>
            </a:pPr>
            <a:r>
              <a:rPr sz="1150" b="1" i="0">
                <a:solidFill>
                  <a:srgbClr val="FFFFFF"/>
                </a:solidFill>
                <a:latin typeface="Segoe UI"/>
              </a:rPr>
              <a:t>PHASE 1  ·  A SCHOOL CAN RUN ON IT</a:t>
            </a:r>
          </a:p>
        </p:txBody>
      </p:sp>
      <p:sp>
        <p:nvSpPr>
          <p:cNvPr id="6" name="Rectangle 5"/>
          <p:cNvSpPr/>
          <p:nvPr/>
        </p:nvSpPr>
        <p:spPr>
          <a:xfrm>
            <a:off x="7604607" y="987552"/>
            <a:ext cx="3983583" cy="329184"/>
          </a:xfrm>
          <a:prstGeom prst="rect">
            <a:avLst/>
          </a:prstGeom>
          <a:solidFill>
            <a:srgbClr val="3D6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0"/>
              </a:spcAft>
            </a:pPr>
            <a:r>
              <a:rPr sz="1150" b="1" i="0">
                <a:solidFill>
                  <a:srgbClr val="FFFFFF"/>
                </a:solidFill>
                <a:latin typeface="Segoe UI"/>
              </a:rPr>
              <a:t>PHASE 2  ·  THE APPS, AND WHAT COMES NEXT</a:t>
            </a:r>
          </a:p>
        </p:txBody>
      </p:sp>
      <p:sp>
        <p:nvSpPr>
          <p:cNvPr id="7" name="Rectangle 6"/>
          <p:cNvSpPr/>
          <p:nvPr/>
        </p:nvSpPr>
        <p:spPr>
          <a:xfrm>
            <a:off x="566928" y="1371600"/>
            <a:ext cx="3017520" cy="402336"/>
          </a:xfrm>
          <a:prstGeom prst="rect">
            <a:avLst/>
          </a:prstGeom>
          <a:solidFill>
            <a:srgbClr val="1A1B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0"/>
              </a:spcAft>
            </a:pPr>
            <a:r>
              <a:rPr sz="1250" b="1" i="0">
                <a:solidFill>
                  <a:srgbClr val="FFFFFF"/>
                </a:solidFill>
                <a:latin typeface="Segoe UI"/>
              </a:rPr>
              <a:t>3 Aug - 25 Sep 2026</a:t>
            </a:r>
          </a:p>
        </p:txBody>
      </p:sp>
      <p:sp>
        <p:nvSpPr>
          <p:cNvPr id="8" name="Rectangle 7"/>
          <p:cNvSpPr/>
          <p:nvPr/>
        </p:nvSpPr>
        <p:spPr>
          <a:xfrm>
            <a:off x="3584448" y="1371600"/>
            <a:ext cx="968463"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1</a:t>
            </a:r>
          </a:p>
          <a:p>
            <a:pPr algn="ctr">
              <a:lnSpc>
                <a:spcPct val="105000"/>
              </a:lnSpc>
              <a:spcBef>
                <a:spcPts val="0"/>
              </a:spcBef>
              <a:spcAft>
                <a:spcPts val="0"/>
              </a:spcAft>
            </a:pPr>
            <a:r>
              <a:rPr sz="1050" b="0" i="0">
                <a:solidFill>
                  <a:srgbClr val="4F6167"/>
                </a:solidFill>
                <a:latin typeface="Segoe UI"/>
              </a:rPr>
              <a:t>3 Aug</a:t>
            </a:r>
          </a:p>
        </p:txBody>
      </p:sp>
      <p:sp>
        <p:nvSpPr>
          <p:cNvPr id="9" name="Rectangle 8"/>
          <p:cNvSpPr/>
          <p:nvPr/>
        </p:nvSpPr>
        <p:spPr>
          <a:xfrm>
            <a:off x="4589487" y="1371600"/>
            <a:ext cx="968463"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2</a:t>
            </a:r>
          </a:p>
          <a:p>
            <a:pPr algn="ctr">
              <a:lnSpc>
                <a:spcPct val="105000"/>
              </a:lnSpc>
              <a:spcBef>
                <a:spcPts val="0"/>
              </a:spcBef>
              <a:spcAft>
                <a:spcPts val="0"/>
              </a:spcAft>
            </a:pPr>
            <a:r>
              <a:rPr sz="1050" b="0" i="0">
                <a:solidFill>
                  <a:srgbClr val="4F6167"/>
                </a:solidFill>
                <a:latin typeface="Segoe UI"/>
              </a:rPr>
              <a:t>10 Aug</a:t>
            </a:r>
          </a:p>
        </p:txBody>
      </p:sp>
      <p:sp>
        <p:nvSpPr>
          <p:cNvPr id="10" name="Rectangle 9"/>
          <p:cNvSpPr/>
          <p:nvPr/>
        </p:nvSpPr>
        <p:spPr>
          <a:xfrm>
            <a:off x="5594527" y="1371600"/>
            <a:ext cx="968463"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3</a:t>
            </a:r>
          </a:p>
          <a:p>
            <a:pPr algn="ctr">
              <a:lnSpc>
                <a:spcPct val="105000"/>
              </a:lnSpc>
              <a:spcBef>
                <a:spcPts val="0"/>
              </a:spcBef>
              <a:spcAft>
                <a:spcPts val="0"/>
              </a:spcAft>
            </a:pPr>
            <a:r>
              <a:rPr sz="1050" b="0" i="0">
                <a:solidFill>
                  <a:srgbClr val="4F6167"/>
                </a:solidFill>
                <a:latin typeface="Segoe UI"/>
              </a:rPr>
              <a:t>17 Aug</a:t>
            </a:r>
          </a:p>
        </p:txBody>
      </p:sp>
      <p:sp>
        <p:nvSpPr>
          <p:cNvPr id="11" name="Rectangle 10"/>
          <p:cNvSpPr/>
          <p:nvPr/>
        </p:nvSpPr>
        <p:spPr>
          <a:xfrm>
            <a:off x="6599567" y="1371600"/>
            <a:ext cx="968463"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4</a:t>
            </a:r>
          </a:p>
          <a:p>
            <a:pPr algn="ctr">
              <a:lnSpc>
                <a:spcPct val="105000"/>
              </a:lnSpc>
              <a:spcBef>
                <a:spcPts val="0"/>
              </a:spcBef>
              <a:spcAft>
                <a:spcPts val="0"/>
              </a:spcAft>
            </a:pPr>
            <a:r>
              <a:rPr sz="1050" b="0" i="0">
                <a:solidFill>
                  <a:srgbClr val="4F6167"/>
                </a:solidFill>
                <a:latin typeface="Segoe UI"/>
              </a:rPr>
              <a:t>24 Aug</a:t>
            </a:r>
          </a:p>
        </p:txBody>
      </p:sp>
      <p:sp>
        <p:nvSpPr>
          <p:cNvPr id="12" name="Rectangle 11"/>
          <p:cNvSpPr/>
          <p:nvPr/>
        </p:nvSpPr>
        <p:spPr>
          <a:xfrm>
            <a:off x="7604607" y="1371600"/>
            <a:ext cx="968463"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5</a:t>
            </a:r>
          </a:p>
          <a:p>
            <a:pPr algn="ctr">
              <a:lnSpc>
                <a:spcPct val="105000"/>
              </a:lnSpc>
              <a:spcBef>
                <a:spcPts val="0"/>
              </a:spcBef>
              <a:spcAft>
                <a:spcPts val="0"/>
              </a:spcAft>
            </a:pPr>
            <a:r>
              <a:rPr sz="1050" b="0" i="0">
                <a:solidFill>
                  <a:srgbClr val="4F6167"/>
                </a:solidFill>
                <a:latin typeface="Segoe UI"/>
              </a:rPr>
              <a:t>31 Aug</a:t>
            </a:r>
          </a:p>
        </p:txBody>
      </p:sp>
      <p:sp>
        <p:nvSpPr>
          <p:cNvPr id="13" name="Rectangle 12"/>
          <p:cNvSpPr/>
          <p:nvPr/>
        </p:nvSpPr>
        <p:spPr>
          <a:xfrm>
            <a:off x="8609647" y="1371600"/>
            <a:ext cx="968463"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6</a:t>
            </a:r>
          </a:p>
          <a:p>
            <a:pPr algn="ctr">
              <a:lnSpc>
                <a:spcPct val="105000"/>
              </a:lnSpc>
              <a:spcBef>
                <a:spcPts val="0"/>
              </a:spcBef>
              <a:spcAft>
                <a:spcPts val="0"/>
              </a:spcAft>
            </a:pPr>
            <a:r>
              <a:rPr sz="1050" b="0" i="0">
                <a:solidFill>
                  <a:srgbClr val="4F6167"/>
                </a:solidFill>
                <a:latin typeface="Segoe UI"/>
              </a:rPr>
              <a:t>7 Sep</a:t>
            </a:r>
          </a:p>
        </p:txBody>
      </p:sp>
      <p:sp>
        <p:nvSpPr>
          <p:cNvPr id="14" name="Rectangle 13"/>
          <p:cNvSpPr/>
          <p:nvPr/>
        </p:nvSpPr>
        <p:spPr>
          <a:xfrm>
            <a:off x="9614687" y="1371600"/>
            <a:ext cx="968463"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7</a:t>
            </a:r>
          </a:p>
          <a:p>
            <a:pPr algn="ctr">
              <a:lnSpc>
                <a:spcPct val="105000"/>
              </a:lnSpc>
              <a:spcBef>
                <a:spcPts val="0"/>
              </a:spcBef>
              <a:spcAft>
                <a:spcPts val="0"/>
              </a:spcAft>
            </a:pPr>
            <a:r>
              <a:rPr sz="1050" b="0" i="0">
                <a:solidFill>
                  <a:srgbClr val="4F6167"/>
                </a:solidFill>
                <a:latin typeface="Segoe UI"/>
              </a:rPr>
              <a:t>14 Sep</a:t>
            </a:r>
          </a:p>
        </p:txBody>
      </p:sp>
      <p:sp>
        <p:nvSpPr>
          <p:cNvPr id="15" name="Rectangle 14"/>
          <p:cNvSpPr/>
          <p:nvPr/>
        </p:nvSpPr>
        <p:spPr>
          <a:xfrm>
            <a:off x="10619727" y="1371600"/>
            <a:ext cx="968463"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8</a:t>
            </a:r>
          </a:p>
          <a:p>
            <a:pPr algn="ctr">
              <a:lnSpc>
                <a:spcPct val="105000"/>
              </a:lnSpc>
              <a:spcBef>
                <a:spcPts val="0"/>
              </a:spcBef>
              <a:spcAft>
                <a:spcPts val="0"/>
              </a:spcAft>
            </a:pPr>
            <a:r>
              <a:rPr sz="1050" b="0" i="0">
                <a:solidFill>
                  <a:srgbClr val="4F6167"/>
                </a:solidFill>
                <a:latin typeface="Segoe UI"/>
              </a:rPr>
              <a:t>21 Sep</a:t>
            </a:r>
          </a:p>
        </p:txBody>
      </p:sp>
      <p:sp>
        <p:nvSpPr>
          <p:cNvPr id="16" name="TextBox 15"/>
          <p:cNvSpPr txBox="1"/>
          <p:nvPr/>
        </p:nvSpPr>
        <p:spPr>
          <a:xfrm>
            <a:off x="566928" y="2039112"/>
            <a:ext cx="2816351" cy="365760"/>
          </a:xfrm>
          <a:prstGeom prst="rect">
            <a:avLst/>
          </a:prstGeom>
          <a:noFill/>
        </p:spPr>
        <p:txBody>
          <a:bodyPr wrap="square" lIns="0" rIns="0" tIns="0" bIns="0">
            <a:spAutoFit/>
          </a:bodyPr>
          <a:lstStyle/>
          <a:p>
            <a:pPr algn="r">
              <a:lnSpc>
                <a:spcPct val="122000"/>
              </a:lnSpc>
              <a:spcBef>
                <a:spcPts val="0"/>
              </a:spcBef>
              <a:spcAft>
                <a:spcPts val="0"/>
              </a:spcAft>
            </a:pPr>
            <a:r>
              <a:rPr sz="1350" b="1" i="0">
                <a:solidFill>
                  <a:srgbClr val="28383E"/>
                </a:solidFill>
                <a:latin typeface="Segoe UI"/>
              </a:rPr>
              <a:t>Foundations</a:t>
            </a:r>
          </a:p>
        </p:txBody>
      </p:sp>
      <p:sp>
        <p:nvSpPr>
          <p:cNvPr id="17" name="Rounded Rectangle 16"/>
          <p:cNvSpPr/>
          <p:nvPr/>
        </p:nvSpPr>
        <p:spPr>
          <a:xfrm>
            <a:off x="3611879" y="1956816"/>
            <a:ext cx="1900351" cy="384048"/>
          </a:xfrm>
          <a:prstGeom prst="roundRect">
            <a:avLst>
              <a:gd name="adj" fmla="val 24000"/>
            </a:avLst>
          </a:prstGeom>
          <a:solidFill>
            <a:srgbClr val="103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50" b="1" i="0">
                <a:solidFill>
                  <a:srgbClr val="FFFFFF"/>
                </a:solidFill>
                <a:latin typeface="Segoe UI"/>
              </a:rPr>
              <a:t>4 actions  ·  weeks 1-2</a:t>
            </a:r>
          </a:p>
        </p:txBody>
      </p:sp>
      <p:sp>
        <p:nvSpPr>
          <p:cNvPr id="18" name="TextBox 17"/>
          <p:cNvSpPr txBox="1"/>
          <p:nvPr/>
        </p:nvSpPr>
        <p:spPr>
          <a:xfrm>
            <a:off x="566928" y="2542032"/>
            <a:ext cx="2816351" cy="365760"/>
          </a:xfrm>
          <a:prstGeom prst="rect">
            <a:avLst/>
          </a:prstGeom>
          <a:noFill/>
        </p:spPr>
        <p:txBody>
          <a:bodyPr wrap="square" lIns="0" rIns="0" tIns="0" bIns="0">
            <a:spAutoFit/>
          </a:bodyPr>
          <a:lstStyle/>
          <a:p>
            <a:pPr algn="r">
              <a:lnSpc>
                <a:spcPct val="122000"/>
              </a:lnSpc>
              <a:spcBef>
                <a:spcPts val="0"/>
              </a:spcBef>
              <a:spcAft>
                <a:spcPts val="0"/>
              </a:spcAft>
            </a:pPr>
            <a:r>
              <a:rPr sz="1350" b="1" i="0">
                <a:solidFill>
                  <a:srgbClr val="28383E"/>
                </a:solidFill>
                <a:latin typeface="Segoe UI"/>
              </a:rPr>
              <a:t>The school day</a:t>
            </a:r>
          </a:p>
        </p:txBody>
      </p:sp>
      <p:sp>
        <p:nvSpPr>
          <p:cNvPr id="19" name="Rounded Rectangle 18"/>
          <p:cNvSpPr/>
          <p:nvPr/>
        </p:nvSpPr>
        <p:spPr>
          <a:xfrm>
            <a:off x="3611879" y="2459736"/>
            <a:ext cx="3910431" cy="384048"/>
          </a:xfrm>
          <a:prstGeom prst="roundRect">
            <a:avLst>
              <a:gd name="adj" fmla="val 24000"/>
            </a:avLst>
          </a:prstGeom>
          <a:solidFill>
            <a:srgbClr val="0E9E7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50" b="1" i="0">
                <a:solidFill>
                  <a:srgbClr val="FFFFFF"/>
                </a:solidFill>
                <a:latin typeface="Segoe UI"/>
              </a:rPr>
              <a:t>4 actions  ·  weeks 1-4</a:t>
            </a:r>
          </a:p>
        </p:txBody>
      </p:sp>
      <p:sp>
        <p:nvSpPr>
          <p:cNvPr id="20" name="TextBox 19"/>
          <p:cNvSpPr txBox="1"/>
          <p:nvPr/>
        </p:nvSpPr>
        <p:spPr>
          <a:xfrm>
            <a:off x="566928" y="3044952"/>
            <a:ext cx="2816351" cy="365760"/>
          </a:xfrm>
          <a:prstGeom prst="rect">
            <a:avLst/>
          </a:prstGeom>
          <a:noFill/>
        </p:spPr>
        <p:txBody>
          <a:bodyPr wrap="square" lIns="0" rIns="0" tIns="0" bIns="0">
            <a:spAutoFit/>
          </a:bodyPr>
          <a:lstStyle/>
          <a:p>
            <a:pPr algn="r">
              <a:lnSpc>
                <a:spcPct val="122000"/>
              </a:lnSpc>
              <a:spcBef>
                <a:spcPts val="0"/>
              </a:spcBef>
              <a:spcAft>
                <a:spcPts val="0"/>
              </a:spcAft>
            </a:pPr>
            <a:r>
              <a:rPr sz="1350" b="1" i="0">
                <a:solidFill>
                  <a:srgbClr val="28383E"/>
                </a:solidFill>
                <a:latin typeface="Segoe UI"/>
              </a:rPr>
              <a:t>Fees and payments</a:t>
            </a:r>
          </a:p>
        </p:txBody>
      </p:sp>
      <p:sp>
        <p:nvSpPr>
          <p:cNvPr id="21" name="Rounded Rectangle 20"/>
          <p:cNvSpPr/>
          <p:nvPr/>
        </p:nvSpPr>
        <p:spPr>
          <a:xfrm>
            <a:off x="4616919" y="2962656"/>
            <a:ext cx="2905391" cy="384048"/>
          </a:xfrm>
          <a:prstGeom prst="roundRect">
            <a:avLst>
              <a:gd name="adj" fmla="val 24000"/>
            </a:avLst>
          </a:prstGeom>
          <a:solidFill>
            <a:srgbClr val="C26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50" b="1" i="0">
                <a:solidFill>
                  <a:srgbClr val="FFFFFF"/>
                </a:solidFill>
                <a:latin typeface="Segoe UI"/>
              </a:rPr>
              <a:t>4 actions  ·  weeks 2-4</a:t>
            </a:r>
          </a:p>
        </p:txBody>
      </p:sp>
      <p:sp>
        <p:nvSpPr>
          <p:cNvPr id="22" name="TextBox 21"/>
          <p:cNvSpPr txBox="1"/>
          <p:nvPr/>
        </p:nvSpPr>
        <p:spPr>
          <a:xfrm>
            <a:off x="566928" y="3547872"/>
            <a:ext cx="2816351" cy="365760"/>
          </a:xfrm>
          <a:prstGeom prst="rect">
            <a:avLst/>
          </a:prstGeom>
          <a:noFill/>
        </p:spPr>
        <p:txBody>
          <a:bodyPr wrap="square" lIns="0" rIns="0" tIns="0" bIns="0">
            <a:spAutoFit/>
          </a:bodyPr>
          <a:lstStyle/>
          <a:p>
            <a:pPr algn="r">
              <a:lnSpc>
                <a:spcPct val="122000"/>
              </a:lnSpc>
              <a:spcBef>
                <a:spcPts val="0"/>
              </a:spcBef>
              <a:spcAft>
                <a:spcPts val="0"/>
              </a:spcAft>
            </a:pPr>
            <a:r>
              <a:rPr sz="1350" b="1" i="0">
                <a:solidFill>
                  <a:srgbClr val="28383E"/>
                </a:solidFill>
                <a:latin typeface="Segoe UI"/>
              </a:rPr>
              <a:t>Reaching parents</a:t>
            </a:r>
          </a:p>
        </p:txBody>
      </p:sp>
      <p:sp>
        <p:nvSpPr>
          <p:cNvPr id="23" name="Rounded Rectangle 22"/>
          <p:cNvSpPr/>
          <p:nvPr/>
        </p:nvSpPr>
        <p:spPr>
          <a:xfrm>
            <a:off x="5621959" y="3465576"/>
            <a:ext cx="1900351" cy="384048"/>
          </a:xfrm>
          <a:prstGeom prst="roundRect">
            <a:avLst>
              <a:gd name="adj" fmla="val 24000"/>
            </a:avLst>
          </a:prstGeom>
          <a:solidFill>
            <a:srgbClr val="0A6B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50" b="1" i="0">
                <a:solidFill>
                  <a:srgbClr val="FFFFFF"/>
                </a:solidFill>
                <a:latin typeface="Segoe UI"/>
              </a:rPr>
              <a:t>3 actions  ·  weeks 3-4</a:t>
            </a:r>
          </a:p>
        </p:txBody>
      </p:sp>
      <p:sp>
        <p:nvSpPr>
          <p:cNvPr id="24" name="TextBox 23"/>
          <p:cNvSpPr txBox="1"/>
          <p:nvPr/>
        </p:nvSpPr>
        <p:spPr>
          <a:xfrm>
            <a:off x="566928" y="4050791"/>
            <a:ext cx="2816351" cy="365760"/>
          </a:xfrm>
          <a:prstGeom prst="rect">
            <a:avLst/>
          </a:prstGeom>
          <a:noFill/>
        </p:spPr>
        <p:txBody>
          <a:bodyPr wrap="square" lIns="0" rIns="0" tIns="0" bIns="0">
            <a:spAutoFit/>
          </a:bodyPr>
          <a:lstStyle/>
          <a:p>
            <a:pPr algn="r">
              <a:lnSpc>
                <a:spcPct val="122000"/>
              </a:lnSpc>
              <a:spcBef>
                <a:spcPts val="0"/>
              </a:spcBef>
              <a:spcAft>
                <a:spcPts val="0"/>
              </a:spcAft>
            </a:pPr>
            <a:r>
              <a:rPr sz="1350" b="1" i="0">
                <a:solidFill>
                  <a:srgbClr val="28383E"/>
                </a:solidFill>
                <a:latin typeface="Segoe UI"/>
              </a:rPr>
              <a:t>The apps</a:t>
            </a:r>
          </a:p>
        </p:txBody>
      </p:sp>
      <p:sp>
        <p:nvSpPr>
          <p:cNvPr id="25" name="Rounded Rectangle 24"/>
          <p:cNvSpPr/>
          <p:nvPr/>
        </p:nvSpPr>
        <p:spPr>
          <a:xfrm>
            <a:off x="7632039" y="3968496"/>
            <a:ext cx="3910431" cy="384048"/>
          </a:xfrm>
          <a:prstGeom prst="roundRect">
            <a:avLst>
              <a:gd name="adj" fmla="val 24000"/>
            </a:avLst>
          </a:prstGeom>
          <a:solidFill>
            <a:srgbClr val="3D6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50" b="1" i="0">
                <a:solidFill>
                  <a:srgbClr val="FFFFFF"/>
                </a:solidFill>
                <a:latin typeface="Segoe UI"/>
              </a:rPr>
              <a:t>4 actions  ·  weeks 5-8</a:t>
            </a:r>
          </a:p>
        </p:txBody>
      </p:sp>
      <p:sp>
        <p:nvSpPr>
          <p:cNvPr id="26" name="TextBox 25"/>
          <p:cNvSpPr txBox="1"/>
          <p:nvPr/>
        </p:nvSpPr>
        <p:spPr>
          <a:xfrm>
            <a:off x="566928" y="4553712"/>
            <a:ext cx="2816351" cy="365760"/>
          </a:xfrm>
          <a:prstGeom prst="rect">
            <a:avLst/>
          </a:prstGeom>
          <a:noFill/>
        </p:spPr>
        <p:txBody>
          <a:bodyPr wrap="square" lIns="0" rIns="0" tIns="0" bIns="0">
            <a:spAutoFit/>
          </a:bodyPr>
          <a:lstStyle/>
          <a:p>
            <a:pPr algn="r">
              <a:lnSpc>
                <a:spcPct val="122000"/>
              </a:lnSpc>
              <a:spcBef>
                <a:spcPts val="0"/>
              </a:spcBef>
              <a:spcAft>
                <a:spcPts val="0"/>
              </a:spcAft>
            </a:pPr>
            <a:r>
              <a:rPr sz="1350" b="1" i="0">
                <a:solidFill>
                  <a:srgbClr val="28383E"/>
                </a:solidFill>
                <a:latin typeface="Segoe UI"/>
              </a:rPr>
              <a:t>Teaching and learning</a:t>
            </a:r>
          </a:p>
        </p:txBody>
      </p:sp>
      <p:sp>
        <p:nvSpPr>
          <p:cNvPr id="27" name="Rounded Rectangle 26"/>
          <p:cNvSpPr/>
          <p:nvPr/>
        </p:nvSpPr>
        <p:spPr>
          <a:xfrm>
            <a:off x="7632039" y="4471416"/>
            <a:ext cx="2905391" cy="384048"/>
          </a:xfrm>
          <a:prstGeom prst="roundRect">
            <a:avLst>
              <a:gd name="adj" fmla="val 24000"/>
            </a:avLst>
          </a:prstGeom>
          <a:solidFill>
            <a:srgbClr val="7A5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50" b="1" i="0">
                <a:solidFill>
                  <a:srgbClr val="FFFFFF"/>
                </a:solidFill>
                <a:latin typeface="Segoe UI"/>
              </a:rPr>
              <a:t>3 actions  ·  weeks 5-7</a:t>
            </a:r>
          </a:p>
        </p:txBody>
      </p:sp>
      <p:sp>
        <p:nvSpPr>
          <p:cNvPr id="28" name="TextBox 27"/>
          <p:cNvSpPr txBox="1"/>
          <p:nvPr/>
        </p:nvSpPr>
        <p:spPr>
          <a:xfrm>
            <a:off x="566928" y="5056631"/>
            <a:ext cx="2816351" cy="365760"/>
          </a:xfrm>
          <a:prstGeom prst="rect">
            <a:avLst/>
          </a:prstGeom>
          <a:noFill/>
        </p:spPr>
        <p:txBody>
          <a:bodyPr wrap="square" lIns="0" rIns="0" tIns="0" bIns="0">
            <a:spAutoFit/>
          </a:bodyPr>
          <a:lstStyle/>
          <a:p>
            <a:pPr algn="r">
              <a:lnSpc>
                <a:spcPct val="122000"/>
              </a:lnSpc>
              <a:spcBef>
                <a:spcPts val="0"/>
              </a:spcBef>
              <a:spcAft>
                <a:spcPts val="0"/>
              </a:spcAft>
            </a:pPr>
            <a:r>
              <a:rPr sz="1350" b="1" i="0">
                <a:solidFill>
                  <a:srgbClr val="28383E"/>
                </a:solidFill>
                <a:latin typeface="Segoe UI"/>
              </a:rPr>
              <a:t>Staff, money and scale</a:t>
            </a:r>
          </a:p>
        </p:txBody>
      </p:sp>
      <p:sp>
        <p:nvSpPr>
          <p:cNvPr id="29" name="Rounded Rectangle 28"/>
          <p:cNvSpPr/>
          <p:nvPr/>
        </p:nvSpPr>
        <p:spPr>
          <a:xfrm>
            <a:off x="7632039" y="4974336"/>
            <a:ext cx="3910431" cy="384048"/>
          </a:xfrm>
          <a:prstGeom prst="roundRect">
            <a:avLst>
              <a:gd name="adj" fmla="val 24000"/>
            </a:avLst>
          </a:prstGeom>
          <a:solidFill>
            <a:srgbClr val="B88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50" b="1" i="0">
                <a:solidFill>
                  <a:srgbClr val="FFFFFF"/>
                </a:solidFill>
                <a:latin typeface="Segoe UI"/>
              </a:rPr>
              <a:t>5 actions  ·  weeks 5-8</a:t>
            </a:r>
          </a:p>
        </p:txBody>
      </p:sp>
      <p:sp>
        <p:nvSpPr>
          <p:cNvPr id="30" name="TextBox 29"/>
          <p:cNvSpPr txBox="1"/>
          <p:nvPr/>
        </p:nvSpPr>
        <p:spPr>
          <a:xfrm>
            <a:off x="566928" y="5568695"/>
            <a:ext cx="11057839" cy="457200"/>
          </a:xfrm>
          <a:prstGeom prst="rect">
            <a:avLst/>
          </a:prstGeom>
          <a:noFill/>
        </p:spPr>
        <p:txBody>
          <a:bodyPr wrap="square" lIns="0" rIns="0" tIns="0" bIns="0">
            <a:spAutoFit/>
          </a:bodyPr>
          <a:lstStyle/>
          <a:p>
            <a:pPr>
              <a:lnSpc>
                <a:spcPct val="125000"/>
              </a:lnSpc>
              <a:spcBef>
                <a:spcPts val="0"/>
              </a:spcBef>
              <a:spcAft>
                <a:spcPts val="500"/>
              </a:spcAft>
            </a:pPr>
            <a:r>
              <a:rPr sz="1400" b="0" i="0">
                <a:solidFill>
                  <a:srgbClr val="28383E"/>
                </a:solidFill>
                <a:latin typeface="Segoe UI"/>
              </a:rPr>
              <a:t/>
            </a:r>
            <a:r>
              <a:rPr sz="1350" b="1" i="0">
                <a:solidFill>
                  <a:srgbClr val="102730"/>
                </a:solidFill>
                <a:latin typeface="Segoe UI"/>
              </a:rPr>
              <a:t>Week 4 is a gate. </a:t>
            </a:r>
            <a:r>
              <a:rPr sz="1350" b="0" i="0">
                <a:solidFill>
                  <a:srgbClr val="28383E"/>
                </a:solidFill>
                <a:latin typeface="Segoe UI"/>
              </a:rPr>
              <a:t>Phase 2 opens once a real school has run a real week on Phase 1, so the app work starts against a product that is already holding up in a classroom.</a:t>
            </a:r>
          </a:p>
        </p:txBody>
      </p:sp>
      <p:sp>
        <p:nvSpPr>
          <p:cNvPr id="31" name="TextBox 30"/>
          <p:cNvSpPr txBox="1"/>
          <p:nvPr/>
        </p:nvSpPr>
        <p:spPr>
          <a:xfrm>
            <a:off x="8698687" y="6355080"/>
            <a:ext cx="2926080" cy="310896"/>
          </a:xfrm>
          <a:prstGeom prst="rect">
            <a:avLst/>
          </a:prstGeom>
          <a:noFill/>
        </p:spPr>
        <p:txBody>
          <a:bodyPr wrap="square" lIns="0" rIns="0" tIns="0" bIns="0">
            <a:spAutoFit/>
          </a:bodyPr>
          <a:lstStyle/>
          <a:p>
            <a:pPr algn="r">
              <a:lnSpc>
                <a:spcPct val="122000"/>
              </a:lnSpc>
              <a:spcBef>
                <a:spcPts val="0"/>
              </a:spcBef>
              <a:spcAft>
                <a:spcPts val="500"/>
              </a:spcAft>
            </a:pPr>
            <a:r>
              <a:rPr sz="1050" b="1" i="0">
                <a:solidFill>
                  <a:srgbClr val="4F6167"/>
                </a:solidFill>
                <a:latin typeface="Segoe UI"/>
              </a:rPr>
              <a:t>Roadmap  overview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384048"/>
            <a:ext cx="8778240" cy="548640"/>
          </a:xfrm>
          <a:prstGeom prst="rect">
            <a:avLst/>
          </a:prstGeom>
          <a:noFill/>
        </p:spPr>
        <p:txBody>
          <a:bodyPr wrap="square" lIns="0" rIns="0" tIns="0" bIns="0">
            <a:spAutoFit/>
          </a:bodyPr>
          <a:lstStyle/>
          <a:p>
            <a:pPr>
              <a:lnSpc>
                <a:spcPct val="122000"/>
              </a:lnSpc>
              <a:spcBef>
                <a:spcPts val="0"/>
              </a:spcBef>
              <a:spcAft>
                <a:spcPts val="0"/>
              </a:spcAft>
            </a:pPr>
            <a:r>
              <a:rPr sz="3200" b="0" i="0">
                <a:solidFill>
                  <a:srgbClr val="102730"/>
                </a:solidFill>
                <a:latin typeface="Segoe UI"/>
              </a:rPr>
              <a:t>Eight-week roadmap</a:t>
            </a:r>
          </a:p>
        </p:txBody>
      </p:sp>
      <p:sp>
        <p:nvSpPr>
          <p:cNvPr id="5" name="Rectangle 4"/>
          <p:cNvSpPr/>
          <p:nvPr/>
        </p:nvSpPr>
        <p:spPr>
          <a:xfrm>
            <a:off x="3081528" y="1033272"/>
            <a:ext cx="4235043" cy="329184"/>
          </a:xfrm>
          <a:prstGeom prst="rect">
            <a:avLst/>
          </a:prstGeom>
          <a:solidFill>
            <a:srgbClr val="0A6B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0"/>
              </a:spcAft>
            </a:pPr>
            <a:r>
              <a:rPr sz="1150" b="1" i="0">
                <a:solidFill>
                  <a:srgbClr val="FFFFFF"/>
                </a:solidFill>
                <a:latin typeface="Segoe UI"/>
              </a:rPr>
              <a:t>PHASE 1  ·  A SCHOOL CAN RUN ON IT</a:t>
            </a:r>
          </a:p>
        </p:txBody>
      </p:sp>
      <p:sp>
        <p:nvSpPr>
          <p:cNvPr id="6" name="Rectangle 5"/>
          <p:cNvSpPr/>
          <p:nvPr/>
        </p:nvSpPr>
        <p:spPr>
          <a:xfrm>
            <a:off x="7353147" y="1033272"/>
            <a:ext cx="4235043" cy="329184"/>
          </a:xfrm>
          <a:prstGeom prst="rect">
            <a:avLst/>
          </a:prstGeom>
          <a:solidFill>
            <a:srgbClr val="3D6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0"/>
              </a:spcAft>
            </a:pPr>
            <a:r>
              <a:rPr sz="1150" b="1" i="0">
                <a:solidFill>
                  <a:srgbClr val="FFFFFF"/>
                </a:solidFill>
                <a:latin typeface="Segoe UI"/>
              </a:rPr>
              <a:t>PHASE 2  ·  THE APPS, AND WHAT COMES NEXT</a:t>
            </a:r>
          </a:p>
        </p:txBody>
      </p:sp>
      <p:sp>
        <p:nvSpPr>
          <p:cNvPr id="7" name="Rectangle 6"/>
          <p:cNvSpPr/>
          <p:nvPr/>
        </p:nvSpPr>
        <p:spPr>
          <a:xfrm>
            <a:off x="566928" y="1417320"/>
            <a:ext cx="2514600" cy="402336"/>
          </a:xfrm>
          <a:prstGeom prst="rect">
            <a:avLst/>
          </a:prstGeom>
          <a:solidFill>
            <a:srgbClr val="1A1B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0"/>
              </a:spcAft>
            </a:pPr>
            <a:r>
              <a:rPr sz="1250" b="1" i="0">
                <a:solidFill>
                  <a:srgbClr val="FFFFFF"/>
                </a:solidFill>
                <a:latin typeface="Segoe UI"/>
              </a:rPr>
              <a:t>3 Aug - 25 Sep 2026</a:t>
            </a:r>
          </a:p>
        </p:txBody>
      </p:sp>
      <p:sp>
        <p:nvSpPr>
          <p:cNvPr id="8" name="Rectangle 7"/>
          <p:cNvSpPr/>
          <p:nvPr/>
        </p:nvSpPr>
        <p:spPr>
          <a:xfrm>
            <a:off x="3081528"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1</a:t>
            </a:r>
          </a:p>
          <a:p>
            <a:pPr algn="ctr">
              <a:lnSpc>
                <a:spcPct val="105000"/>
              </a:lnSpc>
              <a:spcBef>
                <a:spcPts val="0"/>
              </a:spcBef>
              <a:spcAft>
                <a:spcPts val="0"/>
              </a:spcAft>
            </a:pPr>
            <a:r>
              <a:rPr sz="1050" b="0" i="0">
                <a:solidFill>
                  <a:srgbClr val="4F6167"/>
                </a:solidFill>
                <a:latin typeface="Segoe UI"/>
              </a:rPr>
              <a:t>3 Aug</a:t>
            </a:r>
          </a:p>
        </p:txBody>
      </p:sp>
      <p:sp>
        <p:nvSpPr>
          <p:cNvPr id="9" name="Rectangle 8"/>
          <p:cNvSpPr/>
          <p:nvPr/>
        </p:nvSpPr>
        <p:spPr>
          <a:xfrm>
            <a:off x="4149432"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2</a:t>
            </a:r>
          </a:p>
          <a:p>
            <a:pPr algn="ctr">
              <a:lnSpc>
                <a:spcPct val="105000"/>
              </a:lnSpc>
              <a:spcBef>
                <a:spcPts val="0"/>
              </a:spcBef>
              <a:spcAft>
                <a:spcPts val="0"/>
              </a:spcAft>
            </a:pPr>
            <a:r>
              <a:rPr sz="1050" b="0" i="0">
                <a:solidFill>
                  <a:srgbClr val="4F6167"/>
                </a:solidFill>
                <a:latin typeface="Segoe UI"/>
              </a:rPr>
              <a:t>10 Aug</a:t>
            </a:r>
          </a:p>
        </p:txBody>
      </p:sp>
      <p:sp>
        <p:nvSpPr>
          <p:cNvPr id="10" name="Rectangle 9"/>
          <p:cNvSpPr/>
          <p:nvPr/>
        </p:nvSpPr>
        <p:spPr>
          <a:xfrm>
            <a:off x="5217337"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3</a:t>
            </a:r>
          </a:p>
          <a:p>
            <a:pPr algn="ctr">
              <a:lnSpc>
                <a:spcPct val="105000"/>
              </a:lnSpc>
              <a:spcBef>
                <a:spcPts val="0"/>
              </a:spcBef>
              <a:spcAft>
                <a:spcPts val="0"/>
              </a:spcAft>
            </a:pPr>
            <a:r>
              <a:rPr sz="1050" b="0" i="0">
                <a:solidFill>
                  <a:srgbClr val="4F6167"/>
                </a:solidFill>
                <a:latin typeface="Segoe UI"/>
              </a:rPr>
              <a:t>17 Aug</a:t>
            </a:r>
          </a:p>
        </p:txBody>
      </p:sp>
      <p:sp>
        <p:nvSpPr>
          <p:cNvPr id="11" name="Rectangle 10"/>
          <p:cNvSpPr/>
          <p:nvPr/>
        </p:nvSpPr>
        <p:spPr>
          <a:xfrm>
            <a:off x="6285242"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4</a:t>
            </a:r>
          </a:p>
          <a:p>
            <a:pPr algn="ctr">
              <a:lnSpc>
                <a:spcPct val="105000"/>
              </a:lnSpc>
              <a:spcBef>
                <a:spcPts val="0"/>
              </a:spcBef>
              <a:spcAft>
                <a:spcPts val="0"/>
              </a:spcAft>
            </a:pPr>
            <a:r>
              <a:rPr sz="1050" b="0" i="0">
                <a:solidFill>
                  <a:srgbClr val="4F6167"/>
                </a:solidFill>
                <a:latin typeface="Segoe UI"/>
              </a:rPr>
              <a:t>24 Aug</a:t>
            </a:r>
          </a:p>
        </p:txBody>
      </p:sp>
      <p:sp>
        <p:nvSpPr>
          <p:cNvPr id="12" name="Rectangle 11"/>
          <p:cNvSpPr/>
          <p:nvPr/>
        </p:nvSpPr>
        <p:spPr>
          <a:xfrm>
            <a:off x="7353147"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5</a:t>
            </a:r>
          </a:p>
          <a:p>
            <a:pPr algn="ctr">
              <a:lnSpc>
                <a:spcPct val="105000"/>
              </a:lnSpc>
              <a:spcBef>
                <a:spcPts val="0"/>
              </a:spcBef>
              <a:spcAft>
                <a:spcPts val="0"/>
              </a:spcAft>
            </a:pPr>
            <a:r>
              <a:rPr sz="1050" b="0" i="0">
                <a:solidFill>
                  <a:srgbClr val="4F6167"/>
                </a:solidFill>
                <a:latin typeface="Segoe UI"/>
              </a:rPr>
              <a:t>31 Aug</a:t>
            </a:r>
          </a:p>
        </p:txBody>
      </p:sp>
      <p:sp>
        <p:nvSpPr>
          <p:cNvPr id="13" name="Rectangle 12"/>
          <p:cNvSpPr/>
          <p:nvPr/>
        </p:nvSpPr>
        <p:spPr>
          <a:xfrm>
            <a:off x="8421052"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6</a:t>
            </a:r>
          </a:p>
          <a:p>
            <a:pPr algn="ctr">
              <a:lnSpc>
                <a:spcPct val="105000"/>
              </a:lnSpc>
              <a:spcBef>
                <a:spcPts val="0"/>
              </a:spcBef>
              <a:spcAft>
                <a:spcPts val="0"/>
              </a:spcAft>
            </a:pPr>
            <a:r>
              <a:rPr sz="1050" b="0" i="0">
                <a:solidFill>
                  <a:srgbClr val="4F6167"/>
                </a:solidFill>
                <a:latin typeface="Segoe UI"/>
              </a:rPr>
              <a:t>7 Sep</a:t>
            </a:r>
          </a:p>
        </p:txBody>
      </p:sp>
      <p:sp>
        <p:nvSpPr>
          <p:cNvPr id="14" name="Rectangle 13"/>
          <p:cNvSpPr/>
          <p:nvPr/>
        </p:nvSpPr>
        <p:spPr>
          <a:xfrm>
            <a:off x="9488957"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7</a:t>
            </a:r>
          </a:p>
          <a:p>
            <a:pPr algn="ctr">
              <a:lnSpc>
                <a:spcPct val="105000"/>
              </a:lnSpc>
              <a:spcBef>
                <a:spcPts val="0"/>
              </a:spcBef>
              <a:spcAft>
                <a:spcPts val="0"/>
              </a:spcAft>
            </a:pPr>
            <a:r>
              <a:rPr sz="1050" b="0" i="0">
                <a:solidFill>
                  <a:srgbClr val="4F6167"/>
                </a:solidFill>
                <a:latin typeface="Segoe UI"/>
              </a:rPr>
              <a:t>14 Sep</a:t>
            </a:r>
          </a:p>
        </p:txBody>
      </p:sp>
      <p:sp>
        <p:nvSpPr>
          <p:cNvPr id="15" name="Rectangle 14"/>
          <p:cNvSpPr/>
          <p:nvPr/>
        </p:nvSpPr>
        <p:spPr>
          <a:xfrm>
            <a:off x="10556862"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8</a:t>
            </a:r>
          </a:p>
          <a:p>
            <a:pPr algn="ctr">
              <a:lnSpc>
                <a:spcPct val="105000"/>
              </a:lnSpc>
              <a:spcBef>
                <a:spcPts val="0"/>
              </a:spcBef>
              <a:spcAft>
                <a:spcPts val="0"/>
              </a:spcAft>
            </a:pPr>
            <a:r>
              <a:rPr sz="1050" b="0" i="0">
                <a:solidFill>
                  <a:srgbClr val="4F6167"/>
                </a:solidFill>
                <a:latin typeface="Segoe UI"/>
              </a:rPr>
              <a:t>21 Sep</a:t>
            </a:r>
          </a:p>
        </p:txBody>
      </p:sp>
      <p:sp>
        <p:nvSpPr>
          <p:cNvPr id="16" name="Rectangle 15"/>
          <p:cNvSpPr/>
          <p:nvPr/>
        </p:nvSpPr>
        <p:spPr>
          <a:xfrm>
            <a:off x="566928" y="1984248"/>
            <a:ext cx="11057839" cy="1645920"/>
          </a:xfrm>
          <a:prstGeom prst="rect">
            <a:avLst/>
          </a:prstGeom>
          <a:solidFill>
            <a:srgbClr val="EC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p>
        </p:txBody>
      </p:sp>
      <p:sp>
        <p:nvSpPr>
          <p:cNvPr id="17" name="TextBox 16"/>
          <p:cNvSpPr txBox="1"/>
          <p:nvPr/>
        </p:nvSpPr>
        <p:spPr>
          <a:xfrm>
            <a:off x="713232" y="2039112"/>
            <a:ext cx="5486400" cy="256032"/>
          </a:xfrm>
          <a:prstGeom prst="rect">
            <a:avLst/>
          </a:prstGeom>
          <a:noFill/>
        </p:spPr>
        <p:txBody>
          <a:bodyPr wrap="square" lIns="0" rIns="0" tIns="0" bIns="0">
            <a:spAutoFit/>
          </a:bodyPr>
          <a:lstStyle/>
          <a:p>
            <a:pPr>
              <a:lnSpc>
                <a:spcPct val="122000"/>
              </a:lnSpc>
              <a:spcBef>
                <a:spcPts val="0"/>
              </a:spcBef>
              <a:spcAft>
                <a:spcPts val="0"/>
              </a:spcAft>
            </a:pPr>
            <a:r>
              <a:rPr sz="1150" b="1" i="0">
                <a:solidFill>
                  <a:srgbClr val="10333F"/>
                </a:solidFill>
                <a:latin typeface="Segoe UI"/>
              </a:rPr>
              <a:t>FOUNDATIONS</a:t>
            </a:r>
          </a:p>
        </p:txBody>
      </p:sp>
      <p:sp>
        <p:nvSpPr>
          <p:cNvPr id="18" name="TextBox 17"/>
          <p:cNvSpPr txBox="1"/>
          <p:nvPr/>
        </p:nvSpPr>
        <p:spPr>
          <a:xfrm>
            <a:off x="694944" y="2359151"/>
            <a:ext cx="2240280" cy="274320"/>
          </a:xfrm>
          <a:prstGeom prst="rect">
            <a:avLst/>
          </a:prstGeom>
          <a:noFill/>
        </p:spPr>
        <p:txBody>
          <a:bodyPr wrap="square" lIns="0" rIns="0" tIns="0" bIns="0">
            <a:spAutoFit/>
          </a:bodyPr>
          <a:lstStyle/>
          <a:p>
            <a:pPr algn="r">
              <a:lnSpc>
                <a:spcPct val="122000"/>
              </a:lnSpc>
              <a:spcBef>
                <a:spcPts val="0"/>
              </a:spcBef>
              <a:spcAft>
                <a:spcPts val="0"/>
              </a:spcAft>
            </a:pPr>
            <a:r>
              <a:rPr sz="1100" b="1" i="0">
                <a:solidFill>
                  <a:srgbClr val="28383E"/>
                </a:solidFill>
                <a:latin typeface="Segoe UI"/>
              </a:rPr>
              <a:t>Backend &amp; API</a:t>
            </a:r>
          </a:p>
        </p:txBody>
      </p:sp>
      <p:sp>
        <p:nvSpPr>
          <p:cNvPr id="19" name="Rounded Rectangle 18"/>
          <p:cNvSpPr/>
          <p:nvPr/>
        </p:nvSpPr>
        <p:spPr>
          <a:xfrm>
            <a:off x="3108960" y="2313432"/>
            <a:ext cx="958176" cy="274320"/>
          </a:xfrm>
          <a:prstGeom prst="roundRect">
            <a:avLst>
              <a:gd name="adj" fmla="val 24000"/>
            </a:avLst>
          </a:prstGeom>
          <a:solidFill>
            <a:srgbClr val="103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00" b="1" i="0">
                <a:solidFill>
                  <a:srgbClr val="FFFFFF"/>
                </a:solidFill>
                <a:latin typeface="Segoe UI"/>
              </a:rPr>
              <a:t/>
            </a:r>
          </a:p>
        </p:txBody>
      </p:sp>
      <p:sp>
        <p:nvSpPr>
          <p:cNvPr id="20" name="TextBox 19"/>
          <p:cNvSpPr txBox="1"/>
          <p:nvPr/>
        </p:nvSpPr>
        <p:spPr>
          <a:xfrm>
            <a:off x="694944" y="2679191"/>
            <a:ext cx="2240280" cy="274320"/>
          </a:xfrm>
          <a:prstGeom prst="rect">
            <a:avLst/>
          </a:prstGeom>
          <a:noFill/>
        </p:spPr>
        <p:txBody>
          <a:bodyPr wrap="square" lIns="0" rIns="0" tIns="0" bIns="0">
            <a:spAutoFit/>
          </a:bodyPr>
          <a:lstStyle/>
          <a:p>
            <a:pPr algn="r">
              <a:lnSpc>
                <a:spcPct val="122000"/>
              </a:lnSpc>
              <a:spcBef>
                <a:spcPts val="0"/>
              </a:spcBef>
              <a:spcAft>
                <a:spcPts val="0"/>
              </a:spcAft>
            </a:pPr>
            <a:r>
              <a:rPr sz="1100" b="1" i="0">
                <a:solidFill>
                  <a:srgbClr val="28383E"/>
                </a:solidFill>
                <a:latin typeface="Segoe UI"/>
              </a:rPr>
              <a:t>Login &amp; RBAC</a:t>
            </a:r>
          </a:p>
        </p:txBody>
      </p:sp>
      <p:sp>
        <p:nvSpPr>
          <p:cNvPr id="21" name="Rounded Rectangle 20"/>
          <p:cNvSpPr/>
          <p:nvPr/>
        </p:nvSpPr>
        <p:spPr>
          <a:xfrm>
            <a:off x="3108960" y="2633472"/>
            <a:ext cx="958176" cy="274320"/>
          </a:xfrm>
          <a:prstGeom prst="roundRect">
            <a:avLst>
              <a:gd name="adj" fmla="val 24000"/>
            </a:avLst>
          </a:prstGeom>
          <a:solidFill>
            <a:srgbClr val="103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00" b="1" i="0">
                <a:solidFill>
                  <a:srgbClr val="FFFFFF"/>
                </a:solidFill>
                <a:latin typeface="Segoe UI"/>
              </a:rPr>
              <a:t/>
            </a:r>
          </a:p>
        </p:txBody>
      </p:sp>
      <p:sp>
        <p:nvSpPr>
          <p:cNvPr id="22" name="TextBox 21"/>
          <p:cNvSpPr txBox="1"/>
          <p:nvPr/>
        </p:nvSpPr>
        <p:spPr>
          <a:xfrm>
            <a:off x="694944" y="2999232"/>
            <a:ext cx="2240280" cy="274320"/>
          </a:xfrm>
          <a:prstGeom prst="rect">
            <a:avLst/>
          </a:prstGeom>
          <a:noFill/>
        </p:spPr>
        <p:txBody>
          <a:bodyPr wrap="square" lIns="0" rIns="0" tIns="0" bIns="0">
            <a:spAutoFit/>
          </a:bodyPr>
          <a:lstStyle/>
          <a:p>
            <a:pPr algn="r">
              <a:lnSpc>
                <a:spcPct val="122000"/>
              </a:lnSpc>
              <a:spcBef>
                <a:spcPts val="0"/>
              </a:spcBef>
              <a:spcAft>
                <a:spcPts val="0"/>
              </a:spcAft>
            </a:pPr>
            <a:r>
              <a:rPr sz="1100" b="1" i="0">
                <a:solidFill>
                  <a:srgbClr val="28383E"/>
                </a:solidFill>
                <a:latin typeface="Segoe UI"/>
              </a:rPr>
              <a:t>Tenancy</a:t>
            </a:r>
          </a:p>
        </p:txBody>
      </p:sp>
      <p:sp>
        <p:nvSpPr>
          <p:cNvPr id="23" name="Rounded Rectangle 22"/>
          <p:cNvSpPr/>
          <p:nvPr/>
        </p:nvSpPr>
        <p:spPr>
          <a:xfrm>
            <a:off x="3108960" y="2953512"/>
            <a:ext cx="2026081" cy="274320"/>
          </a:xfrm>
          <a:prstGeom prst="roundRect">
            <a:avLst>
              <a:gd name="adj" fmla="val 24000"/>
            </a:avLst>
          </a:prstGeom>
          <a:solidFill>
            <a:srgbClr val="103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00" b="1" i="0">
                <a:solidFill>
                  <a:srgbClr val="FFFFFF"/>
                </a:solidFill>
                <a:latin typeface="Segoe UI"/>
              </a:rPr>
              <a:t>Tenant isolation</a:t>
            </a:r>
          </a:p>
        </p:txBody>
      </p:sp>
      <p:sp>
        <p:nvSpPr>
          <p:cNvPr id="24" name="TextBox 23"/>
          <p:cNvSpPr txBox="1"/>
          <p:nvPr/>
        </p:nvSpPr>
        <p:spPr>
          <a:xfrm>
            <a:off x="694944" y="3319272"/>
            <a:ext cx="2240280" cy="274320"/>
          </a:xfrm>
          <a:prstGeom prst="rect">
            <a:avLst/>
          </a:prstGeom>
          <a:noFill/>
        </p:spPr>
        <p:txBody>
          <a:bodyPr wrap="square" lIns="0" rIns="0" tIns="0" bIns="0">
            <a:spAutoFit/>
          </a:bodyPr>
          <a:lstStyle/>
          <a:p>
            <a:pPr algn="r">
              <a:lnSpc>
                <a:spcPct val="122000"/>
              </a:lnSpc>
              <a:spcBef>
                <a:spcPts val="0"/>
              </a:spcBef>
              <a:spcAft>
                <a:spcPts val="0"/>
              </a:spcAft>
            </a:pPr>
            <a:r>
              <a:rPr sz="1100" b="1" i="0">
                <a:solidFill>
                  <a:srgbClr val="28383E"/>
                </a:solidFill>
                <a:latin typeface="Segoe UI"/>
              </a:rPr>
              <a:t>Offline</a:t>
            </a:r>
          </a:p>
        </p:txBody>
      </p:sp>
      <p:sp>
        <p:nvSpPr>
          <p:cNvPr id="25" name="Rounded Rectangle 24"/>
          <p:cNvSpPr/>
          <p:nvPr/>
        </p:nvSpPr>
        <p:spPr>
          <a:xfrm>
            <a:off x="4176864" y="3273552"/>
            <a:ext cx="958176" cy="274320"/>
          </a:xfrm>
          <a:prstGeom prst="roundRect">
            <a:avLst>
              <a:gd name="adj" fmla="val 24000"/>
            </a:avLst>
          </a:prstGeom>
          <a:solidFill>
            <a:srgbClr val="1033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00" b="1" i="0">
                <a:solidFill>
                  <a:srgbClr val="FFFFFF"/>
                </a:solidFill>
                <a:latin typeface="Segoe UI"/>
              </a:rPr>
              <a:t>Offline</a:t>
            </a:r>
          </a:p>
        </p:txBody>
      </p:sp>
      <p:sp>
        <p:nvSpPr>
          <p:cNvPr id="26" name="Rectangle 25"/>
          <p:cNvSpPr/>
          <p:nvPr/>
        </p:nvSpPr>
        <p:spPr>
          <a:xfrm>
            <a:off x="566928" y="3739896"/>
            <a:ext cx="11057839" cy="1645920"/>
          </a:xfrm>
          <a:prstGeom prst="rect">
            <a:avLst/>
          </a:prstGeom>
          <a:solidFill>
            <a:srgbClr val="EC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p>
        </p:txBody>
      </p:sp>
      <p:sp>
        <p:nvSpPr>
          <p:cNvPr id="27" name="TextBox 26"/>
          <p:cNvSpPr txBox="1"/>
          <p:nvPr/>
        </p:nvSpPr>
        <p:spPr>
          <a:xfrm>
            <a:off x="713232" y="3794759"/>
            <a:ext cx="5486400" cy="256032"/>
          </a:xfrm>
          <a:prstGeom prst="rect">
            <a:avLst/>
          </a:prstGeom>
          <a:noFill/>
        </p:spPr>
        <p:txBody>
          <a:bodyPr wrap="square" lIns="0" rIns="0" tIns="0" bIns="0">
            <a:spAutoFit/>
          </a:bodyPr>
          <a:lstStyle/>
          <a:p>
            <a:pPr>
              <a:lnSpc>
                <a:spcPct val="122000"/>
              </a:lnSpc>
              <a:spcBef>
                <a:spcPts val="0"/>
              </a:spcBef>
              <a:spcAft>
                <a:spcPts val="0"/>
              </a:spcAft>
            </a:pPr>
            <a:r>
              <a:rPr sz="1150" b="1" i="0">
                <a:solidFill>
                  <a:srgbClr val="0E9E76"/>
                </a:solidFill>
                <a:latin typeface="Segoe UI"/>
              </a:rPr>
              <a:t>THE SCHOOL DAY</a:t>
            </a:r>
          </a:p>
        </p:txBody>
      </p:sp>
      <p:sp>
        <p:nvSpPr>
          <p:cNvPr id="28" name="TextBox 27"/>
          <p:cNvSpPr txBox="1"/>
          <p:nvPr/>
        </p:nvSpPr>
        <p:spPr>
          <a:xfrm>
            <a:off x="694944" y="4114800"/>
            <a:ext cx="2240280" cy="274320"/>
          </a:xfrm>
          <a:prstGeom prst="rect">
            <a:avLst/>
          </a:prstGeom>
          <a:noFill/>
        </p:spPr>
        <p:txBody>
          <a:bodyPr wrap="square" lIns="0" rIns="0" tIns="0" bIns="0">
            <a:spAutoFit/>
          </a:bodyPr>
          <a:lstStyle/>
          <a:p>
            <a:pPr algn="r">
              <a:lnSpc>
                <a:spcPct val="122000"/>
              </a:lnSpc>
              <a:spcBef>
                <a:spcPts val="0"/>
              </a:spcBef>
              <a:spcAft>
                <a:spcPts val="0"/>
              </a:spcAft>
            </a:pPr>
            <a:r>
              <a:rPr sz="1100" b="1" i="0">
                <a:solidFill>
                  <a:srgbClr val="28383E"/>
                </a:solidFill>
                <a:latin typeface="Segoe UI"/>
              </a:rPr>
              <a:t>Students &amp; admissions</a:t>
            </a:r>
          </a:p>
        </p:txBody>
      </p:sp>
      <p:sp>
        <p:nvSpPr>
          <p:cNvPr id="29" name="Rounded Rectangle 28"/>
          <p:cNvSpPr/>
          <p:nvPr/>
        </p:nvSpPr>
        <p:spPr>
          <a:xfrm>
            <a:off x="3108960" y="4069080"/>
            <a:ext cx="2026081" cy="274320"/>
          </a:xfrm>
          <a:prstGeom prst="roundRect">
            <a:avLst>
              <a:gd name="adj" fmla="val 24000"/>
            </a:avLst>
          </a:prstGeom>
          <a:solidFill>
            <a:srgbClr val="0E9E7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00" b="1" i="0">
                <a:solidFill>
                  <a:srgbClr val="FFFFFF"/>
                </a:solidFill>
                <a:latin typeface="Segoe UI"/>
              </a:rPr>
              <a:t>Students &amp; admissions</a:t>
            </a:r>
          </a:p>
        </p:txBody>
      </p:sp>
      <p:sp>
        <p:nvSpPr>
          <p:cNvPr id="30" name="TextBox 29"/>
          <p:cNvSpPr txBox="1"/>
          <p:nvPr/>
        </p:nvSpPr>
        <p:spPr>
          <a:xfrm>
            <a:off x="694944" y="4434840"/>
            <a:ext cx="2240280" cy="274320"/>
          </a:xfrm>
          <a:prstGeom prst="rect">
            <a:avLst/>
          </a:prstGeom>
          <a:noFill/>
        </p:spPr>
        <p:txBody>
          <a:bodyPr wrap="square" lIns="0" rIns="0" tIns="0" bIns="0">
            <a:spAutoFit/>
          </a:bodyPr>
          <a:lstStyle/>
          <a:p>
            <a:pPr algn="r">
              <a:lnSpc>
                <a:spcPct val="122000"/>
              </a:lnSpc>
              <a:spcBef>
                <a:spcPts val="0"/>
              </a:spcBef>
              <a:spcAft>
                <a:spcPts val="0"/>
              </a:spcAft>
            </a:pPr>
            <a:r>
              <a:rPr sz="1100" b="1" i="0">
                <a:solidFill>
                  <a:srgbClr val="28383E"/>
                </a:solidFill>
                <a:latin typeface="Segoe UI"/>
              </a:rPr>
              <a:t>Classes &amp; timetable</a:t>
            </a:r>
          </a:p>
        </p:txBody>
      </p:sp>
      <p:sp>
        <p:nvSpPr>
          <p:cNvPr id="31" name="Rounded Rectangle 30"/>
          <p:cNvSpPr/>
          <p:nvPr/>
        </p:nvSpPr>
        <p:spPr>
          <a:xfrm>
            <a:off x="4176864" y="4389120"/>
            <a:ext cx="958176" cy="274320"/>
          </a:xfrm>
          <a:prstGeom prst="roundRect">
            <a:avLst>
              <a:gd name="adj" fmla="val 24000"/>
            </a:avLst>
          </a:prstGeom>
          <a:solidFill>
            <a:srgbClr val="0E9E7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00" b="1" i="0">
                <a:solidFill>
                  <a:srgbClr val="FFFFFF"/>
                </a:solidFill>
                <a:latin typeface="Segoe UI"/>
              </a:rPr>
              <a:t/>
            </a:r>
          </a:p>
        </p:txBody>
      </p:sp>
      <p:sp>
        <p:nvSpPr>
          <p:cNvPr id="32" name="TextBox 31"/>
          <p:cNvSpPr txBox="1"/>
          <p:nvPr/>
        </p:nvSpPr>
        <p:spPr>
          <a:xfrm>
            <a:off x="694944" y="4754879"/>
            <a:ext cx="2240280" cy="274320"/>
          </a:xfrm>
          <a:prstGeom prst="rect">
            <a:avLst/>
          </a:prstGeom>
          <a:noFill/>
        </p:spPr>
        <p:txBody>
          <a:bodyPr wrap="square" lIns="0" rIns="0" tIns="0" bIns="0">
            <a:spAutoFit/>
          </a:bodyPr>
          <a:lstStyle/>
          <a:p>
            <a:pPr algn="r">
              <a:lnSpc>
                <a:spcPct val="122000"/>
              </a:lnSpc>
              <a:spcBef>
                <a:spcPts val="0"/>
              </a:spcBef>
              <a:spcAft>
                <a:spcPts val="0"/>
              </a:spcAft>
            </a:pPr>
            <a:r>
              <a:rPr sz="1100" b="1" i="0">
                <a:solidFill>
                  <a:srgbClr val="28383E"/>
                </a:solidFill>
                <a:latin typeface="Segoe UI"/>
              </a:rPr>
              <a:t>Attendance</a:t>
            </a:r>
          </a:p>
        </p:txBody>
      </p:sp>
      <p:sp>
        <p:nvSpPr>
          <p:cNvPr id="33" name="Rounded Rectangle 32"/>
          <p:cNvSpPr/>
          <p:nvPr/>
        </p:nvSpPr>
        <p:spPr>
          <a:xfrm>
            <a:off x="4176864" y="4709159"/>
            <a:ext cx="2026081" cy="274320"/>
          </a:xfrm>
          <a:prstGeom prst="roundRect">
            <a:avLst>
              <a:gd name="adj" fmla="val 24000"/>
            </a:avLst>
          </a:prstGeom>
          <a:solidFill>
            <a:srgbClr val="0E9E7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00" b="1" i="0">
                <a:solidFill>
                  <a:srgbClr val="FFFFFF"/>
                </a:solidFill>
                <a:latin typeface="Segoe UI"/>
              </a:rPr>
              <a:t>Attendance register</a:t>
            </a:r>
          </a:p>
        </p:txBody>
      </p:sp>
      <p:sp>
        <p:nvSpPr>
          <p:cNvPr id="34" name="TextBox 33"/>
          <p:cNvSpPr txBox="1"/>
          <p:nvPr/>
        </p:nvSpPr>
        <p:spPr>
          <a:xfrm>
            <a:off x="694944" y="5074919"/>
            <a:ext cx="2240280" cy="274320"/>
          </a:xfrm>
          <a:prstGeom prst="rect">
            <a:avLst/>
          </a:prstGeom>
          <a:noFill/>
        </p:spPr>
        <p:txBody>
          <a:bodyPr wrap="square" lIns="0" rIns="0" tIns="0" bIns="0">
            <a:spAutoFit/>
          </a:bodyPr>
          <a:lstStyle/>
          <a:p>
            <a:pPr algn="r">
              <a:lnSpc>
                <a:spcPct val="122000"/>
              </a:lnSpc>
              <a:spcBef>
                <a:spcPts val="0"/>
              </a:spcBef>
              <a:spcAft>
                <a:spcPts val="0"/>
              </a:spcAft>
            </a:pPr>
            <a:r>
              <a:rPr sz="1100" b="1" i="0">
                <a:solidFill>
                  <a:srgbClr val="28383E"/>
                </a:solidFill>
                <a:latin typeface="Segoe UI"/>
              </a:rPr>
              <a:t>Results</a:t>
            </a:r>
          </a:p>
        </p:txBody>
      </p:sp>
      <p:sp>
        <p:nvSpPr>
          <p:cNvPr id="35" name="Rounded Rectangle 34"/>
          <p:cNvSpPr/>
          <p:nvPr/>
        </p:nvSpPr>
        <p:spPr>
          <a:xfrm>
            <a:off x="5244769" y="5029199"/>
            <a:ext cx="2026081" cy="274320"/>
          </a:xfrm>
          <a:prstGeom prst="roundRect">
            <a:avLst>
              <a:gd name="adj" fmla="val 24000"/>
            </a:avLst>
          </a:prstGeom>
          <a:solidFill>
            <a:srgbClr val="0E9E7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00" b="1" i="0">
                <a:solidFill>
                  <a:srgbClr val="FFFFFF"/>
                </a:solidFill>
                <a:latin typeface="Segoe UI"/>
              </a:rPr>
              <a:t>Results &amp; report cards</a:t>
            </a:r>
          </a:p>
        </p:txBody>
      </p:sp>
      <p:sp>
        <p:nvSpPr>
          <p:cNvPr id="36" name="TextBox 35"/>
          <p:cNvSpPr txBox="1"/>
          <p:nvPr/>
        </p:nvSpPr>
        <p:spPr>
          <a:xfrm>
            <a:off x="566928" y="5550407"/>
            <a:ext cx="11057839" cy="365760"/>
          </a:xfrm>
          <a:prstGeom prst="rect">
            <a:avLst/>
          </a:prstGeom>
          <a:noFill/>
        </p:spPr>
        <p:txBody>
          <a:bodyPr wrap="square" lIns="0" rIns="0" tIns="0" bIns="0">
            <a:spAutoFit/>
          </a:bodyPr>
          <a:lstStyle/>
          <a:p>
            <a:pPr>
              <a:lnSpc>
                <a:spcPct val="122000"/>
              </a:lnSpc>
              <a:spcBef>
                <a:spcPts val="0"/>
              </a:spcBef>
              <a:spcAft>
                <a:spcPts val="500"/>
              </a:spcAft>
            </a:pPr>
            <a:r>
              <a:rPr sz="1150" b="0" i="1">
                <a:solidFill>
                  <a:srgbClr val="4F6167"/>
                </a:solidFill>
                <a:latin typeface="Segoe UI"/>
              </a:rPr>
              <a:t>Each bar is the working window for one action. Names sit on the left.</a:t>
            </a:r>
          </a:p>
        </p:txBody>
      </p:sp>
      <p:sp>
        <p:nvSpPr>
          <p:cNvPr id="37" name="TextBox 36"/>
          <p:cNvSpPr txBox="1"/>
          <p:nvPr/>
        </p:nvSpPr>
        <p:spPr>
          <a:xfrm>
            <a:off x="8698687" y="6355080"/>
            <a:ext cx="2926080" cy="310896"/>
          </a:xfrm>
          <a:prstGeom prst="rect">
            <a:avLst/>
          </a:prstGeom>
          <a:noFill/>
        </p:spPr>
        <p:txBody>
          <a:bodyPr wrap="square" lIns="0" rIns="0" tIns="0" bIns="0">
            <a:spAutoFit/>
          </a:bodyPr>
          <a:lstStyle/>
          <a:p>
            <a:pPr algn="r">
              <a:lnSpc>
                <a:spcPct val="122000"/>
              </a:lnSpc>
              <a:spcBef>
                <a:spcPts val="0"/>
              </a:spcBef>
              <a:spcAft>
                <a:spcPts val="500"/>
              </a:spcAft>
            </a:pPr>
            <a:r>
              <a:rPr sz="1050" b="1" i="0">
                <a:solidFill>
                  <a:srgbClr val="4F6167"/>
                </a:solidFill>
                <a:latin typeface="Segoe UI"/>
              </a:rPr>
              <a:t>Roadmap detail  1 of 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384048"/>
            <a:ext cx="8778240" cy="548640"/>
          </a:xfrm>
          <a:prstGeom prst="rect">
            <a:avLst/>
          </a:prstGeom>
          <a:noFill/>
        </p:spPr>
        <p:txBody>
          <a:bodyPr wrap="square" lIns="0" rIns="0" tIns="0" bIns="0">
            <a:spAutoFit/>
          </a:bodyPr>
          <a:lstStyle/>
          <a:p>
            <a:pPr>
              <a:lnSpc>
                <a:spcPct val="122000"/>
              </a:lnSpc>
              <a:spcBef>
                <a:spcPts val="0"/>
              </a:spcBef>
              <a:spcAft>
                <a:spcPts val="0"/>
              </a:spcAft>
            </a:pPr>
            <a:r>
              <a:rPr sz="3200" b="0" i="0">
                <a:solidFill>
                  <a:srgbClr val="102730"/>
                </a:solidFill>
                <a:latin typeface="Segoe UI"/>
              </a:rPr>
              <a:t>Eight-week roadmap</a:t>
            </a:r>
          </a:p>
        </p:txBody>
      </p:sp>
      <p:sp>
        <p:nvSpPr>
          <p:cNvPr id="5" name="Rectangle 4"/>
          <p:cNvSpPr/>
          <p:nvPr/>
        </p:nvSpPr>
        <p:spPr>
          <a:xfrm>
            <a:off x="3081528" y="1033272"/>
            <a:ext cx="4235043" cy="329184"/>
          </a:xfrm>
          <a:prstGeom prst="rect">
            <a:avLst/>
          </a:prstGeom>
          <a:solidFill>
            <a:srgbClr val="0A6B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0"/>
              </a:spcAft>
            </a:pPr>
            <a:r>
              <a:rPr sz="1150" b="1" i="0">
                <a:solidFill>
                  <a:srgbClr val="FFFFFF"/>
                </a:solidFill>
                <a:latin typeface="Segoe UI"/>
              </a:rPr>
              <a:t>PHASE 1  ·  A SCHOOL CAN RUN ON IT</a:t>
            </a:r>
          </a:p>
        </p:txBody>
      </p:sp>
      <p:sp>
        <p:nvSpPr>
          <p:cNvPr id="6" name="Rectangle 5"/>
          <p:cNvSpPr/>
          <p:nvPr/>
        </p:nvSpPr>
        <p:spPr>
          <a:xfrm>
            <a:off x="7353147" y="1033272"/>
            <a:ext cx="4235043" cy="329184"/>
          </a:xfrm>
          <a:prstGeom prst="rect">
            <a:avLst/>
          </a:prstGeom>
          <a:solidFill>
            <a:srgbClr val="3D6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0"/>
              </a:spcAft>
            </a:pPr>
            <a:r>
              <a:rPr sz="1150" b="1" i="0">
                <a:solidFill>
                  <a:srgbClr val="FFFFFF"/>
                </a:solidFill>
                <a:latin typeface="Segoe UI"/>
              </a:rPr>
              <a:t>PHASE 2  ·  THE APPS, AND WHAT COMES NEXT</a:t>
            </a:r>
          </a:p>
        </p:txBody>
      </p:sp>
      <p:sp>
        <p:nvSpPr>
          <p:cNvPr id="7" name="Rectangle 6"/>
          <p:cNvSpPr/>
          <p:nvPr/>
        </p:nvSpPr>
        <p:spPr>
          <a:xfrm>
            <a:off x="566928" y="1417320"/>
            <a:ext cx="2514600" cy="402336"/>
          </a:xfrm>
          <a:prstGeom prst="rect">
            <a:avLst/>
          </a:prstGeom>
          <a:solidFill>
            <a:srgbClr val="1A1B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0"/>
              </a:spcAft>
            </a:pPr>
            <a:r>
              <a:rPr sz="1250" b="1" i="0">
                <a:solidFill>
                  <a:srgbClr val="FFFFFF"/>
                </a:solidFill>
                <a:latin typeface="Segoe UI"/>
              </a:rPr>
              <a:t>3 Aug - 25 Sep 2026</a:t>
            </a:r>
          </a:p>
        </p:txBody>
      </p:sp>
      <p:sp>
        <p:nvSpPr>
          <p:cNvPr id="8" name="Rectangle 7"/>
          <p:cNvSpPr/>
          <p:nvPr/>
        </p:nvSpPr>
        <p:spPr>
          <a:xfrm>
            <a:off x="3081528"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1</a:t>
            </a:r>
          </a:p>
          <a:p>
            <a:pPr algn="ctr">
              <a:lnSpc>
                <a:spcPct val="105000"/>
              </a:lnSpc>
              <a:spcBef>
                <a:spcPts val="0"/>
              </a:spcBef>
              <a:spcAft>
                <a:spcPts val="0"/>
              </a:spcAft>
            </a:pPr>
            <a:r>
              <a:rPr sz="1050" b="0" i="0">
                <a:solidFill>
                  <a:srgbClr val="4F6167"/>
                </a:solidFill>
                <a:latin typeface="Segoe UI"/>
              </a:rPr>
              <a:t>3 Aug</a:t>
            </a:r>
          </a:p>
        </p:txBody>
      </p:sp>
      <p:sp>
        <p:nvSpPr>
          <p:cNvPr id="9" name="Rectangle 8"/>
          <p:cNvSpPr/>
          <p:nvPr/>
        </p:nvSpPr>
        <p:spPr>
          <a:xfrm>
            <a:off x="4149432"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2</a:t>
            </a:r>
          </a:p>
          <a:p>
            <a:pPr algn="ctr">
              <a:lnSpc>
                <a:spcPct val="105000"/>
              </a:lnSpc>
              <a:spcBef>
                <a:spcPts val="0"/>
              </a:spcBef>
              <a:spcAft>
                <a:spcPts val="0"/>
              </a:spcAft>
            </a:pPr>
            <a:r>
              <a:rPr sz="1050" b="0" i="0">
                <a:solidFill>
                  <a:srgbClr val="4F6167"/>
                </a:solidFill>
                <a:latin typeface="Segoe UI"/>
              </a:rPr>
              <a:t>10 Aug</a:t>
            </a:r>
          </a:p>
        </p:txBody>
      </p:sp>
      <p:sp>
        <p:nvSpPr>
          <p:cNvPr id="10" name="Rectangle 9"/>
          <p:cNvSpPr/>
          <p:nvPr/>
        </p:nvSpPr>
        <p:spPr>
          <a:xfrm>
            <a:off x="5217337"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3</a:t>
            </a:r>
          </a:p>
          <a:p>
            <a:pPr algn="ctr">
              <a:lnSpc>
                <a:spcPct val="105000"/>
              </a:lnSpc>
              <a:spcBef>
                <a:spcPts val="0"/>
              </a:spcBef>
              <a:spcAft>
                <a:spcPts val="0"/>
              </a:spcAft>
            </a:pPr>
            <a:r>
              <a:rPr sz="1050" b="0" i="0">
                <a:solidFill>
                  <a:srgbClr val="4F6167"/>
                </a:solidFill>
                <a:latin typeface="Segoe UI"/>
              </a:rPr>
              <a:t>17 Aug</a:t>
            </a:r>
          </a:p>
        </p:txBody>
      </p:sp>
      <p:sp>
        <p:nvSpPr>
          <p:cNvPr id="11" name="Rectangle 10"/>
          <p:cNvSpPr/>
          <p:nvPr/>
        </p:nvSpPr>
        <p:spPr>
          <a:xfrm>
            <a:off x="6285242"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4</a:t>
            </a:r>
          </a:p>
          <a:p>
            <a:pPr algn="ctr">
              <a:lnSpc>
                <a:spcPct val="105000"/>
              </a:lnSpc>
              <a:spcBef>
                <a:spcPts val="0"/>
              </a:spcBef>
              <a:spcAft>
                <a:spcPts val="0"/>
              </a:spcAft>
            </a:pPr>
            <a:r>
              <a:rPr sz="1050" b="0" i="0">
                <a:solidFill>
                  <a:srgbClr val="4F6167"/>
                </a:solidFill>
                <a:latin typeface="Segoe UI"/>
              </a:rPr>
              <a:t>24 Aug</a:t>
            </a:r>
          </a:p>
        </p:txBody>
      </p:sp>
      <p:sp>
        <p:nvSpPr>
          <p:cNvPr id="12" name="Rectangle 11"/>
          <p:cNvSpPr/>
          <p:nvPr/>
        </p:nvSpPr>
        <p:spPr>
          <a:xfrm>
            <a:off x="7353147"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5</a:t>
            </a:r>
          </a:p>
          <a:p>
            <a:pPr algn="ctr">
              <a:lnSpc>
                <a:spcPct val="105000"/>
              </a:lnSpc>
              <a:spcBef>
                <a:spcPts val="0"/>
              </a:spcBef>
              <a:spcAft>
                <a:spcPts val="0"/>
              </a:spcAft>
            </a:pPr>
            <a:r>
              <a:rPr sz="1050" b="0" i="0">
                <a:solidFill>
                  <a:srgbClr val="4F6167"/>
                </a:solidFill>
                <a:latin typeface="Segoe UI"/>
              </a:rPr>
              <a:t>31 Aug</a:t>
            </a:r>
          </a:p>
        </p:txBody>
      </p:sp>
      <p:sp>
        <p:nvSpPr>
          <p:cNvPr id="13" name="Rectangle 12"/>
          <p:cNvSpPr/>
          <p:nvPr/>
        </p:nvSpPr>
        <p:spPr>
          <a:xfrm>
            <a:off x="8421052"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6</a:t>
            </a:r>
          </a:p>
          <a:p>
            <a:pPr algn="ctr">
              <a:lnSpc>
                <a:spcPct val="105000"/>
              </a:lnSpc>
              <a:spcBef>
                <a:spcPts val="0"/>
              </a:spcBef>
              <a:spcAft>
                <a:spcPts val="0"/>
              </a:spcAft>
            </a:pPr>
            <a:r>
              <a:rPr sz="1050" b="0" i="0">
                <a:solidFill>
                  <a:srgbClr val="4F6167"/>
                </a:solidFill>
                <a:latin typeface="Segoe UI"/>
              </a:rPr>
              <a:t>7 Sep</a:t>
            </a:r>
          </a:p>
        </p:txBody>
      </p:sp>
      <p:sp>
        <p:nvSpPr>
          <p:cNvPr id="14" name="Rectangle 13"/>
          <p:cNvSpPr/>
          <p:nvPr/>
        </p:nvSpPr>
        <p:spPr>
          <a:xfrm>
            <a:off x="9488957"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7</a:t>
            </a:r>
          </a:p>
          <a:p>
            <a:pPr algn="ctr">
              <a:lnSpc>
                <a:spcPct val="105000"/>
              </a:lnSpc>
              <a:spcBef>
                <a:spcPts val="0"/>
              </a:spcBef>
              <a:spcAft>
                <a:spcPts val="0"/>
              </a:spcAft>
            </a:pPr>
            <a:r>
              <a:rPr sz="1050" b="0" i="0">
                <a:solidFill>
                  <a:srgbClr val="4F6167"/>
                </a:solidFill>
                <a:latin typeface="Segoe UI"/>
              </a:rPr>
              <a:t>14 Sep</a:t>
            </a:r>
          </a:p>
        </p:txBody>
      </p:sp>
      <p:sp>
        <p:nvSpPr>
          <p:cNvPr id="15" name="Rectangle 14"/>
          <p:cNvSpPr/>
          <p:nvPr/>
        </p:nvSpPr>
        <p:spPr>
          <a:xfrm>
            <a:off x="10556862"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8</a:t>
            </a:r>
          </a:p>
          <a:p>
            <a:pPr algn="ctr">
              <a:lnSpc>
                <a:spcPct val="105000"/>
              </a:lnSpc>
              <a:spcBef>
                <a:spcPts val="0"/>
              </a:spcBef>
              <a:spcAft>
                <a:spcPts val="0"/>
              </a:spcAft>
            </a:pPr>
            <a:r>
              <a:rPr sz="1050" b="0" i="0">
                <a:solidFill>
                  <a:srgbClr val="4F6167"/>
                </a:solidFill>
                <a:latin typeface="Segoe UI"/>
              </a:rPr>
              <a:t>21 Sep</a:t>
            </a:r>
          </a:p>
        </p:txBody>
      </p:sp>
      <p:sp>
        <p:nvSpPr>
          <p:cNvPr id="16" name="Rectangle 15"/>
          <p:cNvSpPr/>
          <p:nvPr/>
        </p:nvSpPr>
        <p:spPr>
          <a:xfrm>
            <a:off x="566928" y="1984248"/>
            <a:ext cx="11057839" cy="1645920"/>
          </a:xfrm>
          <a:prstGeom prst="rect">
            <a:avLst/>
          </a:prstGeom>
          <a:solidFill>
            <a:srgbClr val="EC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p>
        </p:txBody>
      </p:sp>
      <p:sp>
        <p:nvSpPr>
          <p:cNvPr id="17" name="TextBox 16"/>
          <p:cNvSpPr txBox="1"/>
          <p:nvPr/>
        </p:nvSpPr>
        <p:spPr>
          <a:xfrm>
            <a:off x="713232" y="2039112"/>
            <a:ext cx="5486400" cy="256032"/>
          </a:xfrm>
          <a:prstGeom prst="rect">
            <a:avLst/>
          </a:prstGeom>
          <a:noFill/>
        </p:spPr>
        <p:txBody>
          <a:bodyPr wrap="square" lIns="0" rIns="0" tIns="0" bIns="0">
            <a:spAutoFit/>
          </a:bodyPr>
          <a:lstStyle/>
          <a:p>
            <a:pPr>
              <a:lnSpc>
                <a:spcPct val="122000"/>
              </a:lnSpc>
              <a:spcBef>
                <a:spcPts val="0"/>
              </a:spcBef>
              <a:spcAft>
                <a:spcPts val="0"/>
              </a:spcAft>
            </a:pPr>
            <a:r>
              <a:rPr sz="1150" b="1" i="0">
                <a:solidFill>
                  <a:srgbClr val="C2622B"/>
                </a:solidFill>
                <a:latin typeface="Segoe UI"/>
              </a:rPr>
              <a:t>FEES AND PAYMENTS</a:t>
            </a:r>
          </a:p>
        </p:txBody>
      </p:sp>
      <p:sp>
        <p:nvSpPr>
          <p:cNvPr id="18" name="TextBox 17"/>
          <p:cNvSpPr txBox="1"/>
          <p:nvPr/>
        </p:nvSpPr>
        <p:spPr>
          <a:xfrm>
            <a:off x="694944" y="2359151"/>
            <a:ext cx="2240280" cy="274320"/>
          </a:xfrm>
          <a:prstGeom prst="rect">
            <a:avLst/>
          </a:prstGeom>
          <a:noFill/>
        </p:spPr>
        <p:txBody>
          <a:bodyPr wrap="square" lIns="0" rIns="0" tIns="0" bIns="0">
            <a:spAutoFit/>
          </a:bodyPr>
          <a:lstStyle/>
          <a:p>
            <a:pPr algn="r">
              <a:lnSpc>
                <a:spcPct val="122000"/>
              </a:lnSpc>
              <a:spcBef>
                <a:spcPts val="0"/>
              </a:spcBef>
              <a:spcAft>
                <a:spcPts val="0"/>
              </a:spcAft>
            </a:pPr>
            <a:r>
              <a:rPr sz="1100" b="1" i="0">
                <a:solidFill>
                  <a:srgbClr val="28383E"/>
                </a:solidFill>
                <a:latin typeface="Segoe UI"/>
              </a:rPr>
              <a:t>Fees &amp; ledger</a:t>
            </a:r>
          </a:p>
        </p:txBody>
      </p:sp>
      <p:sp>
        <p:nvSpPr>
          <p:cNvPr id="19" name="Rounded Rectangle 18"/>
          <p:cNvSpPr/>
          <p:nvPr/>
        </p:nvSpPr>
        <p:spPr>
          <a:xfrm>
            <a:off x="4176864" y="2313432"/>
            <a:ext cx="2026081" cy="274320"/>
          </a:xfrm>
          <a:prstGeom prst="roundRect">
            <a:avLst>
              <a:gd name="adj" fmla="val 24000"/>
            </a:avLst>
          </a:prstGeom>
          <a:solidFill>
            <a:srgbClr val="C26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00" b="1" i="0">
                <a:solidFill>
                  <a:srgbClr val="FFFFFF"/>
                </a:solidFill>
                <a:latin typeface="Segoe UI"/>
              </a:rPr>
              <a:t>Fees, invoices &amp; ledger</a:t>
            </a:r>
          </a:p>
        </p:txBody>
      </p:sp>
      <p:sp>
        <p:nvSpPr>
          <p:cNvPr id="20" name="TextBox 19"/>
          <p:cNvSpPr txBox="1"/>
          <p:nvPr/>
        </p:nvSpPr>
        <p:spPr>
          <a:xfrm>
            <a:off x="694944" y="2679191"/>
            <a:ext cx="2240280" cy="274320"/>
          </a:xfrm>
          <a:prstGeom prst="rect">
            <a:avLst/>
          </a:prstGeom>
          <a:noFill/>
        </p:spPr>
        <p:txBody>
          <a:bodyPr wrap="square" lIns="0" rIns="0" tIns="0" bIns="0">
            <a:spAutoFit/>
          </a:bodyPr>
          <a:lstStyle/>
          <a:p>
            <a:pPr algn="r">
              <a:lnSpc>
                <a:spcPct val="122000"/>
              </a:lnSpc>
              <a:spcBef>
                <a:spcPts val="0"/>
              </a:spcBef>
              <a:spcAft>
                <a:spcPts val="0"/>
              </a:spcAft>
            </a:pPr>
            <a:r>
              <a:rPr sz="1100" b="1" i="0">
                <a:solidFill>
                  <a:srgbClr val="28383E"/>
                </a:solidFill>
                <a:latin typeface="Segoe UI"/>
              </a:rPr>
              <a:t>Payments</a:t>
            </a:r>
          </a:p>
        </p:txBody>
      </p:sp>
      <p:sp>
        <p:nvSpPr>
          <p:cNvPr id="21" name="Rounded Rectangle 20"/>
          <p:cNvSpPr/>
          <p:nvPr/>
        </p:nvSpPr>
        <p:spPr>
          <a:xfrm>
            <a:off x="5244769" y="2633472"/>
            <a:ext cx="2026081" cy="274320"/>
          </a:xfrm>
          <a:prstGeom prst="roundRect">
            <a:avLst>
              <a:gd name="adj" fmla="val 24000"/>
            </a:avLst>
          </a:prstGeom>
          <a:solidFill>
            <a:srgbClr val="C26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00" b="1" i="0">
                <a:solidFill>
                  <a:srgbClr val="FFFFFF"/>
                </a:solidFill>
                <a:latin typeface="Segoe UI"/>
              </a:rPr>
              <a:t>Payments &amp; receipts</a:t>
            </a:r>
          </a:p>
        </p:txBody>
      </p:sp>
      <p:sp>
        <p:nvSpPr>
          <p:cNvPr id="22" name="TextBox 21"/>
          <p:cNvSpPr txBox="1"/>
          <p:nvPr/>
        </p:nvSpPr>
        <p:spPr>
          <a:xfrm>
            <a:off x="694944" y="2999232"/>
            <a:ext cx="2240280" cy="274320"/>
          </a:xfrm>
          <a:prstGeom prst="rect">
            <a:avLst/>
          </a:prstGeom>
          <a:noFill/>
        </p:spPr>
        <p:txBody>
          <a:bodyPr wrap="square" lIns="0" rIns="0" tIns="0" bIns="0">
            <a:spAutoFit/>
          </a:bodyPr>
          <a:lstStyle/>
          <a:p>
            <a:pPr algn="r">
              <a:lnSpc>
                <a:spcPct val="122000"/>
              </a:lnSpc>
              <a:spcBef>
                <a:spcPts val="0"/>
              </a:spcBef>
              <a:spcAft>
                <a:spcPts val="0"/>
              </a:spcAft>
            </a:pPr>
            <a:r>
              <a:rPr sz="1100" b="1" i="0">
                <a:solidFill>
                  <a:srgbClr val="28383E"/>
                </a:solidFill>
                <a:latin typeface="Segoe UI"/>
              </a:rPr>
              <a:t>Reconciliation</a:t>
            </a:r>
          </a:p>
        </p:txBody>
      </p:sp>
      <p:sp>
        <p:nvSpPr>
          <p:cNvPr id="23" name="Rounded Rectangle 22"/>
          <p:cNvSpPr/>
          <p:nvPr/>
        </p:nvSpPr>
        <p:spPr>
          <a:xfrm>
            <a:off x="6312674" y="2953512"/>
            <a:ext cx="958176" cy="274320"/>
          </a:xfrm>
          <a:prstGeom prst="roundRect">
            <a:avLst>
              <a:gd name="adj" fmla="val 24000"/>
            </a:avLst>
          </a:prstGeom>
          <a:solidFill>
            <a:srgbClr val="C26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00" b="1" i="0">
                <a:solidFill>
                  <a:srgbClr val="FFFFFF"/>
                </a:solidFill>
                <a:latin typeface="Segoe UI"/>
              </a:rPr>
              <a:t/>
            </a:r>
          </a:p>
        </p:txBody>
      </p:sp>
      <p:sp>
        <p:nvSpPr>
          <p:cNvPr id="24" name="TextBox 23"/>
          <p:cNvSpPr txBox="1"/>
          <p:nvPr/>
        </p:nvSpPr>
        <p:spPr>
          <a:xfrm>
            <a:off x="694944" y="3319272"/>
            <a:ext cx="2240280" cy="274320"/>
          </a:xfrm>
          <a:prstGeom prst="rect">
            <a:avLst/>
          </a:prstGeom>
          <a:noFill/>
        </p:spPr>
        <p:txBody>
          <a:bodyPr wrap="square" lIns="0" rIns="0" tIns="0" bIns="0">
            <a:spAutoFit/>
          </a:bodyPr>
          <a:lstStyle/>
          <a:p>
            <a:pPr algn="r">
              <a:lnSpc>
                <a:spcPct val="122000"/>
              </a:lnSpc>
              <a:spcBef>
                <a:spcPts val="0"/>
              </a:spcBef>
              <a:spcAft>
                <a:spcPts val="0"/>
              </a:spcAft>
            </a:pPr>
            <a:r>
              <a:rPr sz="1100" b="1" i="0">
                <a:solidFill>
                  <a:srgbClr val="28383E"/>
                </a:solidFill>
                <a:latin typeface="Segoe UI"/>
              </a:rPr>
              <a:t>CASPAA billing</a:t>
            </a:r>
          </a:p>
        </p:txBody>
      </p:sp>
      <p:sp>
        <p:nvSpPr>
          <p:cNvPr id="25" name="Rounded Rectangle 24"/>
          <p:cNvSpPr/>
          <p:nvPr/>
        </p:nvSpPr>
        <p:spPr>
          <a:xfrm>
            <a:off x="6312674" y="3273552"/>
            <a:ext cx="958176" cy="274320"/>
          </a:xfrm>
          <a:prstGeom prst="roundRect">
            <a:avLst>
              <a:gd name="adj" fmla="val 24000"/>
            </a:avLst>
          </a:prstGeom>
          <a:solidFill>
            <a:srgbClr val="C26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00" b="1" i="0">
                <a:solidFill>
                  <a:srgbClr val="FFFFFF"/>
                </a:solidFill>
                <a:latin typeface="Segoe UI"/>
              </a:rPr>
              <a:t/>
            </a:r>
          </a:p>
        </p:txBody>
      </p:sp>
      <p:sp>
        <p:nvSpPr>
          <p:cNvPr id="26" name="Rectangle 25"/>
          <p:cNvSpPr/>
          <p:nvPr/>
        </p:nvSpPr>
        <p:spPr>
          <a:xfrm>
            <a:off x="566928" y="3739896"/>
            <a:ext cx="11057839" cy="1325880"/>
          </a:xfrm>
          <a:prstGeom prst="rect">
            <a:avLst/>
          </a:prstGeom>
          <a:solidFill>
            <a:srgbClr val="EC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p>
        </p:txBody>
      </p:sp>
      <p:sp>
        <p:nvSpPr>
          <p:cNvPr id="27" name="TextBox 26"/>
          <p:cNvSpPr txBox="1"/>
          <p:nvPr/>
        </p:nvSpPr>
        <p:spPr>
          <a:xfrm>
            <a:off x="713232" y="3794759"/>
            <a:ext cx="5486400" cy="256032"/>
          </a:xfrm>
          <a:prstGeom prst="rect">
            <a:avLst/>
          </a:prstGeom>
          <a:noFill/>
        </p:spPr>
        <p:txBody>
          <a:bodyPr wrap="square" lIns="0" rIns="0" tIns="0" bIns="0">
            <a:spAutoFit/>
          </a:bodyPr>
          <a:lstStyle/>
          <a:p>
            <a:pPr>
              <a:lnSpc>
                <a:spcPct val="122000"/>
              </a:lnSpc>
              <a:spcBef>
                <a:spcPts val="0"/>
              </a:spcBef>
              <a:spcAft>
                <a:spcPts val="0"/>
              </a:spcAft>
            </a:pPr>
            <a:r>
              <a:rPr sz="1150" b="1" i="0">
                <a:solidFill>
                  <a:srgbClr val="0A6B50"/>
                </a:solidFill>
                <a:latin typeface="Segoe UI"/>
              </a:rPr>
              <a:t>REACHING PARENTS</a:t>
            </a:r>
          </a:p>
        </p:txBody>
      </p:sp>
      <p:sp>
        <p:nvSpPr>
          <p:cNvPr id="28" name="TextBox 27"/>
          <p:cNvSpPr txBox="1"/>
          <p:nvPr/>
        </p:nvSpPr>
        <p:spPr>
          <a:xfrm>
            <a:off x="694944" y="4114800"/>
            <a:ext cx="2240280" cy="274320"/>
          </a:xfrm>
          <a:prstGeom prst="rect">
            <a:avLst/>
          </a:prstGeom>
          <a:noFill/>
        </p:spPr>
        <p:txBody>
          <a:bodyPr wrap="square" lIns="0" rIns="0" tIns="0" bIns="0">
            <a:spAutoFit/>
          </a:bodyPr>
          <a:lstStyle/>
          <a:p>
            <a:pPr algn="r">
              <a:lnSpc>
                <a:spcPct val="122000"/>
              </a:lnSpc>
              <a:spcBef>
                <a:spcPts val="0"/>
              </a:spcBef>
              <a:spcAft>
                <a:spcPts val="0"/>
              </a:spcAft>
            </a:pPr>
            <a:r>
              <a:rPr sz="1100" b="1" i="0">
                <a:solidFill>
                  <a:srgbClr val="28383E"/>
                </a:solidFill>
                <a:latin typeface="Segoe UI"/>
              </a:rPr>
              <a:t>Parent portal</a:t>
            </a:r>
          </a:p>
        </p:txBody>
      </p:sp>
      <p:sp>
        <p:nvSpPr>
          <p:cNvPr id="29" name="Rounded Rectangle 28"/>
          <p:cNvSpPr/>
          <p:nvPr/>
        </p:nvSpPr>
        <p:spPr>
          <a:xfrm>
            <a:off x="5244769" y="4069080"/>
            <a:ext cx="958176" cy="274320"/>
          </a:xfrm>
          <a:prstGeom prst="roundRect">
            <a:avLst>
              <a:gd name="adj" fmla="val 24000"/>
            </a:avLst>
          </a:prstGeom>
          <a:solidFill>
            <a:srgbClr val="0A6B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00" b="1" i="0">
                <a:solidFill>
                  <a:srgbClr val="FFFFFF"/>
                </a:solidFill>
                <a:latin typeface="Segoe UI"/>
              </a:rPr>
              <a:t/>
            </a:r>
          </a:p>
        </p:txBody>
      </p:sp>
      <p:sp>
        <p:nvSpPr>
          <p:cNvPr id="30" name="TextBox 29"/>
          <p:cNvSpPr txBox="1"/>
          <p:nvPr/>
        </p:nvSpPr>
        <p:spPr>
          <a:xfrm>
            <a:off x="694944" y="4434840"/>
            <a:ext cx="2240280" cy="274320"/>
          </a:xfrm>
          <a:prstGeom prst="rect">
            <a:avLst/>
          </a:prstGeom>
          <a:noFill/>
        </p:spPr>
        <p:txBody>
          <a:bodyPr wrap="square" lIns="0" rIns="0" tIns="0" bIns="0">
            <a:spAutoFit/>
          </a:bodyPr>
          <a:lstStyle/>
          <a:p>
            <a:pPr algn="r">
              <a:lnSpc>
                <a:spcPct val="122000"/>
              </a:lnSpc>
              <a:spcBef>
                <a:spcPts val="0"/>
              </a:spcBef>
              <a:spcAft>
                <a:spcPts val="0"/>
              </a:spcAft>
            </a:pPr>
            <a:r>
              <a:rPr sz="1100" b="1" i="0">
                <a:solidFill>
                  <a:srgbClr val="28383E"/>
                </a:solidFill>
                <a:latin typeface="Segoe UI"/>
              </a:rPr>
              <a:t>Announcements &amp; consent</a:t>
            </a:r>
          </a:p>
        </p:txBody>
      </p:sp>
      <p:sp>
        <p:nvSpPr>
          <p:cNvPr id="31" name="Rounded Rectangle 30"/>
          <p:cNvSpPr/>
          <p:nvPr/>
        </p:nvSpPr>
        <p:spPr>
          <a:xfrm>
            <a:off x="5244769" y="4389120"/>
            <a:ext cx="2026081" cy="274320"/>
          </a:xfrm>
          <a:prstGeom prst="roundRect">
            <a:avLst>
              <a:gd name="adj" fmla="val 24000"/>
            </a:avLst>
          </a:prstGeom>
          <a:solidFill>
            <a:srgbClr val="0A6B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00" b="1" i="0">
                <a:solidFill>
                  <a:srgbClr val="FFFFFF"/>
                </a:solidFill>
                <a:latin typeface="Segoe UI"/>
              </a:rPr>
              <a:t>Announcements &amp; consent</a:t>
            </a:r>
          </a:p>
        </p:txBody>
      </p:sp>
      <p:sp>
        <p:nvSpPr>
          <p:cNvPr id="32" name="TextBox 31"/>
          <p:cNvSpPr txBox="1"/>
          <p:nvPr/>
        </p:nvSpPr>
        <p:spPr>
          <a:xfrm>
            <a:off x="694944" y="4754879"/>
            <a:ext cx="2240280" cy="274320"/>
          </a:xfrm>
          <a:prstGeom prst="rect">
            <a:avLst/>
          </a:prstGeom>
          <a:noFill/>
        </p:spPr>
        <p:txBody>
          <a:bodyPr wrap="square" lIns="0" rIns="0" tIns="0" bIns="0">
            <a:spAutoFit/>
          </a:bodyPr>
          <a:lstStyle/>
          <a:p>
            <a:pPr algn="r">
              <a:lnSpc>
                <a:spcPct val="122000"/>
              </a:lnSpc>
              <a:spcBef>
                <a:spcPts val="0"/>
              </a:spcBef>
              <a:spcAft>
                <a:spcPts val="0"/>
              </a:spcAft>
            </a:pPr>
            <a:r>
              <a:rPr sz="1100" b="1" i="0">
                <a:solidFill>
                  <a:srgbClr val="28383E"/>
                </a:solidFill>
                <a:latin typeface="Segoe UI"/>
              </a:rPr>
              <a:t>WhatsApp &amp; email</a:t>
            </a:r>
          </a:p>
        </p:txBody>
      </p:sp>
      <p:sp>
        <p:nvSpPr>
          <p:cNvPr id="33" name="Rounded Rectangle 32"/>
          <p:cNvSpPr/>
          <p:nvPr/>
        </p:nvSpPr>
        <p:spPr>
          <a:xfrm>
            <a:off x="6312674" y="4709159"/>
            <a:ext cx="958176" cy="274320"/>
          </a:xfrm>
          <a:prstGeom prst="roundRect">
            <a:avLst>
              <a:gd name="adj" fmla="val 24000"/>
            </a:avLst>
          </a:prstGeom>
          <a:solidFill>
            <a:srgbClr val="0A6B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00" b="1" i="0">
                <a:solidFill>
                  <a:srgbClr val="FFFFFF"/>
                </a:solidFill>
                <a:latin typeface="Segoe UI"/>
              </a:rPr>
              <a:t/>
            </a:r>
          </a:p>
        </p:txBody>
      </p:sp>
      <p:sp>
        <p:nvSpPr>
          <p:cNvPr id="34" name="TextBox 33"/>
          <p:cNvSpPr txBox="1"/>
          <p:nvPr/>
        </p:nvSpPr>
        <p:spPr>
          <a:xfrm>
            <a:off x="566928" y="5230368"/>
            <a:ext cx="11057839" cy="365760"/>
          </a:xfrm>
          <a:prstGeom prst="rect">
            <a:avLst/>
          </a:prstGeom>
          <a:noFill/>
        </p:spPr>
        <p:txBody>
          <a:bodyPr wrap="square" lIns="0" rIns="0" tIns="0" bIns="0">
            <a:spAutoFit/>
          </a:bodyPr>
          <a:lstStyle/>
          <a:p>
            <a:pPr>
              <a:lnSpc>
                <a:spcPct val="122000"/>
              </a:lnSpc>
              <a:spcBef>
                <a:spcPts val="0"/>
              </a:spcBef>
              <a:spcAft>
                <a:spcPts val="500"/>
              </a:spcAft>
            </a:pPr>
            <a:r>
              <a:rPr sz="1150" b="0" i="1">
                <a:solidFill>
                  <a:srgbClr val="4F6167"/>
                </a:solidFill>
                <a:latin typeface="Segoe UI"/>
              </a:rPr>
              <a:t>Each bar is the working window for one action. Names sit on the left.</a:t>
            </a:r>
          </a:p>
        </p:txBody>
      </p:sp>
      <p:sp>
        <p:nvSpPr>
          <p:cNvPr id="35" name="TextBox 34"/>
          <p:cNvSpPr txBox="1"/>
          <p:nvPr/>
        </p:nvSpPr>
        <p:spPr>
          <a:xfrm>
            <a:off x="8698687" y="6355080"/>
            <a:ext cx="2926080" cy="310896"/>
          </a:xfrm>
          <a:prstGeom prst="rect">
            <a:avLst/>
          </a:prstGeom>
          <a:noFill/>
        </p:spPr>
        <p:txBody>
          <a:bodyPr wrap="square" lIns="0" rIns="0" tIns="0" bIns="0">
            <a:spAutoFit/>
          </a:bodyPr>
          <a:lstStyle/>
          <a:p>
            <a:pPr algn="r">
              <a:lnSpc>
                <a:spcPct val="122000"/>
              </a:lnSpc>
              <a:spcBef>
                <a:spcPts val="0"/>
              </a:spcBef>
              <a:spcAft>
                <a:spcPts val="500"/>
              </a:spcAft>
            </a:pPr>
            <a:r>
              <a:rPr sz="1050" b="1" i="0">
                <a:solidFill>
                  <a:srgbClr val="4F6167"/>
                </a:solidFill>
                <a:latin typeface="Segoe UI"/>
              </a:rPr>
              <a:t>Roadmap detail  2 of 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384048"/>
            <a:ext cx="8778240" cy="548640"/>
          </a:xfrm>
          <a:prstGeom prst="rect">
            <a:avLst/>
          </a:prstGeom>
          <a:noFill/>
        </p:spPr>
        <p:txBody>
          <a:bodyPr wrap="square" lIns="0" rIns="0" tIns="0" bIns="0">
            <a:spAutoFit/>
          </a:bodyPr>
          <a:lstStyle/>
          <a:p>
            <a:pPr>
              <a:lnSpc>
                <a:spcPct val="122000"/>
              </a:lnSpc>
              <a:spcBef>
                <a:spcPts val="0"/>
              </a:spcBef>
              <a:spcAft>
                <a:spcPts val="0"/>
              </a:spcAft>
            </a:pPr>
            <a:r>
              <a:rPr sz="3200" b="0" i="0">
                <a:solidFill>
                  <a:srgbClr val="102730"/>
                </a:solidFill>
                <a:latin typeface="Segoe UI"/>
              </a:rPr>
              <a:t>Eight-week roadmap</a:t>
            </a:r>
          </a:p>
        </p:txBody>
      </p:sp>
      <p:sp>
        <p:nvSpPr>
          <p:cNvPr id="5" name="Rectangle 4"/>
          <p:cNvSpPr/>
          <p:nvPr/>
        </p:nvSpPr>
        <p:spPr>
          <a:xfrm>
            <a:off x="3081528" y="1033272"/>
            <a:ext cx="4235043" cy="329184"/>
          </a:xfrm>
          <a:prstGeom prst="rect">
            <a:avLst/>
          </a:prstGeom>
          <a:solidFill>
            <a:srgbClr val="0A6B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0"/>
              </a:spcAft>
            </a:pPr>
            <a:r>
              <a:rPr sz="1150" b="1" i="0">
                <a:solidFill>
                  <a:srgbClr val="FFFFFF"/>
                </a:solidFill>
                <a:latin typeface="Segoe UI"/>
              </a:rPr>
              <a:t>PHASE 1  ·  A SCHOOL CAN RUN ON IT</a:t>
            </a:r>
          </a:p>
        </p:txBody>
      </p:sp>
      <p:sp>
        <p:nvSpPr>
          <p:cNvPr id="6" name="Rectangle 5"/>
          <p:cNvSpPr/>
          <p:nvPr/>
        </p:nvSpPr>
        <p:spPr>
          <a:xfrm>
            <a:off x="7353147" y="1033272"/>
            <a:ext cx="4235043" cy="329184"/>
          </a:xfrm>
          <a:prstGeom prst="rect">
            <a:avLst/>
          </a:prstGeom>
          <a:solidFill>
            <a:srgbClr val="3D6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0"/>
              </a:spcAft>
            </a:pPr>
            <a:r>
              <a:rPr sz="1150" b="1" i="0">
                <a:solidFill>
                  <a:srgbClr val="FFFFFF"/>
                </a:solidFill>
                <a:latin typeface="Segoe UI"/>
              </a:rPr>
              <a:t>PHASE 2  ·  THE APPS, AND WHAT COMES NEXT</a:t>
            </a:r>
          </a:p>
        </p:txBody>
      </p:sp>
      <p:sp>
        <p:nvSpPr>
          <p:cNvPr id="7" name="Rectangle 6"/>
          <p:cNvSpPr/>
          <p:nvPr/>
        </p:nvSpPr>
        <p:spPr>
          <a:xfrm>
            <a:off x="566928" y="1417320"/>
            <a:ext cx="2514600" cy="402336"/>
          </a:xfrm>
          <a:prstGeom prst="rect">
            <a:avLst/>
          </a:prstGeom>
          <a:solidFill>
            <a:srgbClr val="1A1B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0"/>
              </a:spcAft>
            </a:pPr>
            <a:r>
              <a:rPr sz="1250" b="1" i="0">
                <a:solidFill>
                  <a:srgbClr val="FFFFFF"/>
                </a:solidFill>
                <a:latin typeface="Segoe UI"/>
              </a:rPr>
              <a:t>3 Aug - 25 Sep 2026</a:t>
            </a:r>
          </a:p>
        </p:txBody>
      </p:sp>
      <p:sp>
        <p:nvSpPr>
          <p:cNvPr id="8" name="Rectangle 7"/>
          <p:cNvSpPr/>
          <p:nvPr/>
        </p:nvSpPr>
        <p:spPr>
          <a:xfrm>
            <a:off x="3081528"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1</a:t>
            </a:r>
          </a:p>
          <a:p>
            <a:pPr algn="ctr">
              <a:lnSpc>
                <a:spcPct val="105000"/>
              </a:lnSpc>
              <a:spcBef>
                <a:spcPts val="0"/>
              </a:spcBef>
              <a:spcAft>
                <a:spcPts val="0"/>
              </a:spcAft>
            </a:pPr>
            <a:r>
              <a:rPr sz="1050" b="0" i="0">
                <a:solidFill>
                  <a:srgbClr val="4F6167"/>
                </a:solidFill>
                <a:latin typeface="Segoe UI"/>
              </a:rPr>
              <a:t>3 Aug</a:t>
            </a:r>
          </a:p>
        </p:txBody>
      </p:sp>
      <p:sp>
        <p:nvSpPr>
          <p:cNvPr id="9" name="Rectangle 8"/>
          <p:cNvSpPr/>
          <p:nvPr/>
        </p:nvSpPr>
        <p:spPr>
          <a:xfrm>
            <a:off x="4149432"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2</a:t>
            </a:r>
          </a:p>
          <a:p>
            <a:pPr algn="ctr">
              <a:lnSpc>
                <a:spcPct val="105000"/>
              </a:lnSpc>
              <a:spcBef>
                <a:spcPts val="0"/>
              </a:spcBef>
              <a:spcAft>
                <a:spcPts val="0"/>
              </a:spcAft>
            </a:pPr>
            <a:r>
              <a:rPr sz="1050" b="0" i="0">
                <a:solidFill>
                  <a:srgbClr val="4F6167"/>
                </a:solidFill>
                <a:latin typeface="Segoe UI"/>
              </a:rPr>
              <a:t>10 Aug</a:t>
            </a:r>
          </a:p>
        </p:txBody>
      </p:sp>
      <p:sp>
        <p:nvSpPr>
          <p:cNvPr id="10" name="Rectangle 9"/>
          <p:cNvSpPr/>
          <p:nvPr/>
        </p:nvSpPr>
        <p:spPr>
          <a:xfrm>
            <a:off x="5217337"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3</a:t>
            </a:r>
          </a:p>
          <a:p>
            <a:pPr algn="ctr">
              <a:lnSpc>
                <a:spcPct val="105000"/>
              </a:lnSpc>
              <a:spcBef>
                <a:spcPts val="0"/>
              </a:spcBef>
              <a:spcAft>
                <a:spcPts val="0"/>
              </a:spcAft>
            </a:pPr>
            <a:r>
              <a:rPr sz="1050" b="0" i="0">
                <a:solidFill>
                  <a:srgbClr val="4F6167"/>
                </a:solidFill>
                <a:latin typeface="Segoe UI"/>
              </a:rPr>
              <a:t>17 Aug</a:t>
            </a:r>
          </a:p>
        </p:txBody>
      </p:sp>
      <p:sp>
        <p:nvSpPr>
          <p:cNvPr id="11" name="Rectangle 10"/>
          <p:cNvSpPr/>
          <p:nvPr/>
        </p:nvSpPr>
        <p:spPr>
          <a:xfrm>
            <a:off x="6285242"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4</a:t>
            </a:r>
          </a:p>
          <a:p>
            <a:pPr algn="ctr">
              <a:lnSpc>
                <a:spcPct val="105000"/>
              </a:lnSpc>
              <a:spcBef>
                <a:spcPts val="0"/>
              </a:spcBef>
              <a:spcAft>
                <a:spcPts val="0"/>
              </a:spcAft>
            </a:pPr>
            <a:r>
              <a:rPr sz="1050" b="0" i="0">
                <a:solidFill>
                  <a:srgbClr val="4F6167"/>
                </a:solidFill>
                <a:latin typeface="Segoe UI"/>
              </a:rPr>
              <a:t>24 Aug</a:t>
            </a:r>
          </a:p>
        </p:txBody>
      </p:sp>
      <p:sp>
        <p:nvSpPr>
          <p:cNvPr id="12" name="Rectangle 11"/>
          <p:cNvSpPr/>
          <p:nvPr/>
        </p:nvSpPr>
        <p:spPr>
          <a:xfrm>
            <a:off x="7353147"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5</a:t>
            </a:r>
          </a:p>
          <a:p>
            <a:pPr algn="ctr">
              <a:lnSpc>
                <a:spcPct val="105000"/>
              </a:lnSpc>
              <a:spcBef>
                <a:spcPts val="0"/>
              </a:spcBef>
              <a:spcAft>
                <a:spcPts val="0"/>
              </a:spcAft>
            </a:pPr>
            <a:r>
              <a:rPr sz="1050" b="0" i="0">
                <a:solidFill>
                  <a:srgbClr val="4F6167"/>
                </a:solidFill>
                <a:latin typeface="Segoe UI"/>
              </a:rPr>
              <a:t>31 Aug</a:t>
            </a:r>
          </a:p>
        </p:txBody>
      </p:sp>
      <p:sp>
        <p:nvSpPr>
          <p:cNvPr id="13" name="Rectangle 12"/>
          <p:cNvSpPr/>
          <p:nvPr/>
        </p:nvSpPr>
        <p:spPr>
          <a:xfrm>
            <a:off x="8421052"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6</a:t>
            </a:r>
          </a:p>
          <a:p>
            <a:pPr algn="ctr">
              <a:lnSpc>
                <a:spcPct val="105000"/>
              </a:lnSpc>
              <a:spcBef>
                <a:spcPts val="0"/>
              </a:spcBef>
              <a:spcAft>
                <a:spcPts val="0"/>
              </a:spcAft>
            </a:pPr>
            <a:r>
              <a:rPr sz="1050" b="0" i="0">
                <a:solidFill>
                  <a:srgbClr val="4F6167"/>
                </a:solidFill>
                <a:latin typeface="Segoe UI"/>
              </a:rPr>
              <a:t>7 Sep</a:t>
            </a:r>
          </a:p>
        </p:txBody>
      </p:sp>
      <p:sp>
        <p:nvSpPr>
          <p:cNvPr id="14" name="Rectangle 13"/>
          <p:cNvSpPr/>
          <p:nvPr/>
        </p:nvSpPr>
        <p:spPr>
          <a:xfrm>
            <a:off x="9488957"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7</a:t>
            </a:r>
          </a:p>
          <a:p>
            <a:pPr algn="ctr">
              <a:lnSpc>
                <a:spcPct val="105000"/>
              </a:lnSpc>
              <a:spcBef>
                <a:spcPts val="0"/>
              </a:spcBef>
              <a:spcAft>
                <a:spcPts val="0"/>
              </a:spcAft>
            </a:pPr>
            <a:r>
              <a:rPr sz="1050" b="0" i="0">
                <a:solidFill>
                  <a:srgbClr val="4F6167"/>
                </a:solidFill>
                <a:latin typeface="Segoe UI"/>
              </a:rPr>
              <a:t>14 Sep</a:t>
            </a:r>
          </a:p>
        </p:txBody>
      </p:sp>
      <p:sp>
        <p:nvSpPr>
          <p:cNvPr id="15" name="Rectangle 14"/>
          <p:cNvSpPr/>
          <p:nvPr/>
        </p:nvSpPr>
        <p:spPr>
          <a:xfrm>
            <a:off x="10556862"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8</a:t>
            </a:r>
          </a:p>
          <a:p>
            <a:pPr algn="ctr">
              <a:lnSpc>
                <a:spcPct val="105000"/>
              </a:lnSpc>
              <a:spcBef>
                <a:spcPts val="0"/>
              </a:spcBef>
              <a:spcAft>
                <a:spcPts val="0"/>
              </a:spcAft>
            </a:pPr>
            <a:r>
              <a:rPr sz="1050" b="0" i="0">
                <a:solidFill>
                  <a:srgbClr val="4F6167"/>
                </a:solidFill>
                <a:latin typeface="Segoe UI"/>
              </a:rPr>
              <a:t>21 Sep</a:t>
            </a:r>
          </a:p>
        </p:txBody>
      </p:sp>
      <p:sp>
        <p:nvSpPr>
          <p:cNvPr id="16" name="Rectangle 15"/>
          <p:cNvSpPr/>
          <p:nvPr/>
        </p:nvSpPr>
        <p:spPr>
          <a:xfrm>
            <a:off x="566928" y="1984248"/>
            <a:ext cx="11057839" cy="1645920"/>
          </a:xfrm>
          <a:prstGeom prst="rect">
            <a:avLst/>
          </a:prstGeom>
          <a:solidFill>
            <a:srgbClr val="EC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p>
        </p:txBody>
      </p:sp>
      <p:sp>
        <p:nvSpPr>
          <p:cNvPr id="17" name="TextBox 16"/>
          <p:cNvSpPr txBox="1"/>
          <p:nvPr/>
        </p:nvSpPr>
        <p:spPr>
          <a:xfrm>
            <a:off x="713232" y="2039112"/>
            <a:ext cx="5486400" cy="256032"/>
          </a:xfrm>
          <a:prstGeom prst="rect">
            <a:avLst/>
          </a:prstGeom>
          <a:noFill/>
        </p:spPr>
        <p:txBody>
          <a:bodyPr wrap="square" lIns="0" rIns="0" tIns="0" bIns="0">
            <a:spAutoFit/>
          </a:bodyPr>
          <a:lstStyle/>
          <a:p>
            <a:pPr>
              <a:lnSpc>
                <a:spcPct val="122000"/>
              </a:lnSpc>
              <a:spcBef>
                <a:spcPts val="0"/>
              </a:spcBef>
              <a:spcAft>
                <a:spcPts val="0"/>
              </a:spcAft>
            </a:pPr>
            <a:r>
              <a:rPr sz="1150" b="1" i="0">
                <a:solidFill>
                  <a:srgbClr val="3D6EA8"/>
                </a:solidFill>
                <a:latin typeface="Segoe UI"/>
              </a:rPr>
              <a:t>THE APPS</a:t>
            </a:r>
          </a:p>
        </p:txBody>
      </p:sp>
      <p:sp>
        <p:nvSpPr>
          <p:cNvPr id="18" name="TextBox 17"/>
          <p:cNvSpPr txBox="1"/>
          <p:nvPr/>
        </p:nvSpPr>
        <p:spPr>
          <a:xfrm>
            <a:off x="694944" y="2359151"/>
            <a:ext cx="2240280" cy="274320"/>
          </a:xfrm>
          <a:prstGeom prst="rect">
            <a:avLst/>
          </a:prstGeom>
          <a:noFill/>
        </p:spPr>
        <p:txBody>
          <a:bodyPr wrap="square" lIns="0" rIns="0" tIns="0" bIns="0">
            <a:spAutoFit/>
          </a:bodyPr>
          <a:lstStyle/>
          <a:p>
            <a:pPr algn="r">
              <a:lnSpc>
                <a:spcPct val="122000"/>
              </a:lnSpc>
              <a:spcBef>
                <a:spcPts val="0"/>
              </a:spcBef>
              <a:spcAft>
                <a:spcPts val="0"/>
              </a:spcAft>
            </a:pPr>
            <a:r>
              <a:rPr sz="1100" b="1" i="0">
                <a:solidFill>
                  <a:srgbClr val="28383E"/>
                </a:solidFill>
                <a:latin typeface="Segoe UI"/>
              </a:rPr>
              <a:t>App shell &amp; sync</a:t>
            </a:r>
          </a:p>
        </p:txBody>
      </p:sp>
      <p:sp>
        <p:nvSpPr>
          <p:cNvPr id="19" name="Rounded Rectangle 18"/>
          <p:cNvSpPr/>
          <p:nvPr/>
        </p:nvSpPr>
        <p:spPr>
          <a:xfrm>
            <a:off x="7380579" y="2313432"/>
            <a:ext cx="2026081" cy="274320"/>
          </a:xfrm>
          <a:prstGeom prst="roundRect">
            <a:avLst>
              <a:gd name="adj" fmla="val 24000"/>
            </a:avLst>
          </a:prstGeom>
          <a:solidFill>
            <a:srgbClr val="3D6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00" b="1" i="0">
                <a:solidFill>
                  <a:srgbClr val="FFFFFF"/>
                </a:solidFill>
                <a:latin typeface="Segoe UI"/>
              </a:rPr>
              <a:t>Shell, auth &amp; sync</a:t>
            </a:r>
          </a:p>
        </p:txBody>
      </p:sp>
      <p:sp>
        <p:nvSpPr>
          <p:cNvPr id="20" name="TextBox 19"/>
          <p:cNvSpPr txBox="1"/>
          <p:nvPr/>
        </p:nvSpPr>
        <p:spPr>
          <a:xfrm>
            <a:off x="694944" y="2679191"/>
            <a:ext cx="2240280" cy="274320"/>
          </a:xfrm>
          <a:prstGeom prst="rect">
            <a:avLst/>
          </a:prstGeom>
          <a:noFill/>
        </p:spPr>
        <p:txBody>
          <a:bodyPr wrap="square" lIns="0" rIns="0" tIns="0" bIns="0">
            <a:spAutoFit/>
          </a:bodyPr>
          <a:lstStyle/>
          <a:p>
            <a:pPr algn="r">
              <a:lnSpc>
                <a:spcPct val="122000"/>
              </a:lnSpc>
              <a:spcBef>
                <a:spcPts val="0"/>
              </a:spcBef>
              <a:spcAft>
                <a:spcPts val="0"/>
              </a:spcAft>
            </a:pPr>
            <a:r>
              <a:rPr sz="1100" b="1" i="0">
                <a:solidFill>
                  <a:srgbClr val="28383E"/>
                </a:solidFill>
                <a:latin typeface="Segoe UI"/>
              </a:rPr>
              <a:t>Parent app</a:t>
            </a:r>
          </a:p>
        </p:txBody>
      </p:sp>
      <p:sp>
        <p:nvSpPr>
          <p:cNvPr id="21" name="Rounded Rectangle 20"/>
          <p:cNvSpPr/>
          <p:nvPr/>
        </p:nvSpPr>
        <p:spPr>
          <a:xfrm>
            <a:off x="8448484" y="2633472"/>
            <a:ext cx="2026081" cy="274320"/>
          </a:xfrm>
          <a:prstGeom prst="roundRect">
            <a:avLst>
              <a:gd name="adj" fmla="val 24000"/>
            </a:avLst>
          </a:prstGeom>
          <a:solidFill>
            <a:srgbClr val="3D6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00" b="1" i="0">
                <a:solidFill>
                  <a:srgbClr val="FFFFFF"/>
                </a:solidFill>
                <a:latin typeface="Segoe UI"/>
              </a:rPr>
              <a:t>Parent app</a:t>
            </a:r>
          </a:p>
        </p:txBody>
      </p:sp>
      <p:sp>
        <p:nvSpPr>
          <p:cNvPr id="22" name="TextBox 21"/>
          <p:cNvSpPr txBox="1"/>
          <p:nvPr/>
        </p:nvSpPr>
        <p:spPr>
          <a:xfrm>
            <a:off x="694944" y="2999232"/>
            <a:ext cx="2240280" cy="274320"/>
          </a:xfrm>
          <a:prstGeom prst="rect">
            <a:avLst/>
          </a:prstGeom>
          <a:noFill/>
        </p:spPr>
        <p:txBody>
          <a:bodyPr wrap="square" lIns="0" rIns="0" tIns="0" bIns="0">
            <a:spAutoFit/>
          </a:bodyPr>
          <a:lstStyle/>
          <a:p>
            <a:pPr algn="r">
              <a:lnSpc>
                <a:spcPct val="122000"/>
              </a:lnSpc>
              <a:spcBef>
                <a:spcPts val="0"/>
              </a:spcBef>
              <a:spcAft>
                <a:spcPts val="0"/>
              </a:spcAft>
            </a:pPr>
            <a:r>
              <a:rPr sz="1100" b="1" i="0">
                <a:solidFill>
                  <a:srgbClr val="28383E"/>
                </a:solidFill>
                <a:latin typeface="Segoe UI"/>
              </a:rPr>
              <a:t>Teacher app</a:t>
            </a:r>
          </a:p>
        </p:txBody>
      </p:sp>
      <p:sp>
        <p:nvSpPr>
          <p:cNvPr id="23" name="Rounded Rectangle 22"/>
          <p:cNvSpPr/>
          <p:nvPr/>
        </p:nvSpPr>
        <p:spPr>
          <a:xfrm>
            <a:off x="8448484" y="2953512"/>
            <a:ext cx="2026081" cy="274320"/>
          </a:xfrm>
          <a:prstGeom prst="roundRect">
            <a:avLst>
              <a:gd name="adj" fmla="val 24000"/>
            </a:avLst>
          </a:prstGeom>
          <a:solidFill>
            <a:srgbClr val="3D6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00" b="1" i="0">
                <a:solidFill>
                  <a:srgbClr val="FFFFFF"/>
                </a:solidFill>
                <a:latin typeface="Segoe UI"/>
              </a:rPr>
              <a:t>Teacher app</a:t>
            </a:r>
          </a:p>
        </p:txBody>
      </p:sp>
      <p:sp>
        <p:nvSpPr>
          <p:cNvPr id="24" name="TextBox 23"/>
          <p:cNvSpPr txBox="1"/>
          <p:nvPr/>
        </p:nvSpPr>
        <p:spPr>
          <a:xfrm>
            <a:off x="694944" y="3319272"/>
            <a:ext cx="2240280" cy="274320"/>
          </a:xfrm>
          <a:prstGeom prst="rect">
            <a:avLst/>
          </a:prstGeom>
          <a:noFill/>
        </p:spPr>
        <p:txBody>
          <a:bodyPr wrap="square" lIns="0" rIns="0" tIns="0" bIns="0">
            <a:spAutoFit/>
          </a:bodyPr>
          <a:lstStyle/>
          <a:p>
            <a:pPr algn="r">
              <a:lnSpc>
                <a:spcPct val="122000"/>
              </a:lnSpc>
              <a:spcBef>
                <a:spcPts val="0"/>
              </a:spcBef>
              <a:spcAft>
                <a:spcPts val="0"/>
              </a:spcAft>
            </a:pPr>
            <a:r>
              <a:rPr sz="1100" b="1" i="0">
                <a:solidFill>
                  <a:srgbClr val="28383E"/>
                </a:solidFill>
                <a:latin typeface="Segoe UI"/>
              </a:rPr>
              <a:t>Student app &amp; release</a:t>
            </a:r>
          </a:p>
        </p:txBody>
      </p:sp>
      <p:sp>
        <p:nvSpPr>
          <p:cNvPr id="25" name="Rounded Rectangle 24"/>
          <p:cNvSpPr/>
          <p:nvPr/>
        </p:nvSpPr>
        <p:spPr>
          <a:xfrm>
            <a:off x="9516389" y="3273552"/>
            <a:ext cx="2026081" cy="274320"/>
          </a:xfrm>
          <a:prstGeom prst="roundRect">
            <a:avLst>
              <a:gd name="adj" fmla="val 24000"/>
            </a:avLst>
          </a:prstGeom>
          <a:solidFill>
            <a:srgbClr val="3D6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00" b="1" i="0">
                <a:solidFill>
                  <a:srgbClr val="FFFFFF"/>
                </a:solidFill>
                <a:latin typeface="Segoe UI"/>
              </a:rPr>
              <a:t>Student app &amp; release</a:t>
            </a:r>
          </a:p>
        </p:txBody>
      </p:sp>
      <p:sp>
        <p:nvSpPr>
          <p:cNvPr id="26" name="Rectangle 25"/>
          <p:cNvSpPr/>
          <p:nvPr/>
        </p:nvSpPr>
        <p:spPr>
          <a:xfrm>
            <a:off x="566928" y="3739896"/>
            <a:ext cx="11057839" cy="1325880"/>
          </a:xfrm>
          <a:prstGeom prst="rect">
            <a:avLst/>
          </a:prstGeom>
          <a:solidFill>
            <a:srgbClr val="EC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p>
        </p:txBody>
      </p:sp>
      <p:sp>
        <p:nvSpPr>
          <p:cNvPr id="27" name="TextBox 26"/>
          <p:cNvSpPr txBox="1"/>
          <p:nvPr/>
        </p:nvSpPr>
        <p:spPr>
          <a:xfrm>
            <a:off x="713232" y="3794759"/>
            <a:ext cx="5486400" cy="256032"/>
          </a:xfrm>
          <a:prstGeom prst="rect">
            <a:avLst/>
          </a:prstGeom>
          <a:noFill/>
        </p:spPr>
        <p:txBody>
          <a:bodyPr wrap="square" lIns="0" rIns="0" tIns="0" bIns="0">
            <a:spAutoFit/>
          </a:bodyPr>
          <a:lstStyle/>
          <a:p>
            <a:pPr>
              <a:lnSpc>
                <a:spcPct val="122000"/>
              </a:lnSpc>
              <a:spcBef>
                <a:spcPts val="0"/>
              </a:spcBef>
              <a:spcAft>
                <a:spcPts val="0"/>
              </a:spcAft>
            </a:pPr>
            <a:r>
              <a:rPr sz="1150" b="1" i="0">
                <a:solidFill>
                  <a:srgbClr val="7A5EA8"/>
                </a:solidFill>
                <a:latin typeface="Segoe UI"/>
              </a:rPr>
              <a:t>TEACHING AND LEARNING</a:t>
            </a:r>
          </a:p>
        </p:txBody>
      </p:sp>
      <p:sp>
        <p:nvSpPr>
          <p:cNvPr id="28" name="TextBox 27"/>
          <p:cNvSpPr txBox="1"/>
          <p:nvPr/>
        </p:nvSpPr>
        <p:spPr>
          <a:xfrm>
            <a:off x="694944" y="4114800"/>
            <a:ext cx="2240280" cy="274320"/>
          </a:xfrm>
          <a:prstGeom prst="rect">
            <a:avLst/>
          </a:prstGeom>
          <a:noFill/>
        </p:spPr>
        <p:txBody>
          <a:bodyPr wrap="square" lIns="0" rIns="0" tIns="0" bIns="0">
            <a:spAutoFit/>
          </a:bodyPr>
          <a:lstStyle/>
          <a:p>
            <a:pPr algn="r">
              <a:lnSpc>
                <a:spcPct val="122000"/>
              </a:lnSpc>
              <a:spcBef>
                <a:spcPts val="0"/>
              </a:spcBef>
              <a:spcAft>
                <a:spcPts val="0"/>
              </a:spcAft>
            </a:pPr>
            <a:r>
              <a:rPr sz="1100" b="1" i="0">
                <a:solidFill>
                  <a:srgbClr val="28383E"/>
                </a:solidFill>
                <a:latin typeface="Segoe UI"/>
              </a:rPr>
              <a:t>Assignments &amp; CBT</a:t>
            </a:r>
          </a:p>
        </p:txBody>
      </p:sp>
      <p:sp>
        <p:nvSpPr>
          <p:cNvPr id="29" name="Rounded Rectangle 28"/>
          <p:cNvSpPr/>
          <p:nvPr/>
        </p:nvSpPr>
        <p:spPr>
          <a:xfrm>
            <a:off x="7380579" y="4069080"/>
            <a:ext cx="2026081" cy="274320"/>
          </a:xfrm>
          <a:prstGeom prst="roundRect">
            <a:avLst>
              <a:gd name="adj" fmla="val 24000"/>
            </a:avLst>
          </a:prstGeom>
          <a:solidFill>
            <a:srgbClr val="7A5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00" b="1" i="0">
                <a:solidFill>
                  <a:srgbClr val="FFFFFF"/>
                </a:solidFill>
                <a:latin typeface="Segoe UI"/>
              </a:rPr>
              <a:t>Assignments &amp; CBT</a:t>
            </a:r>
          </a:p>
        </p:txBody>
      </p:sp>
      <p:sp>
        <p:nvSpPr>
          <p:cNvPr id="30" name="TextBox 29"/>
          <p:cNvSpPr txBox="1"/>
          <p:nvPr/>
        </p:nvSpPr>
        <p:spPr>
          <a:xfrm>
            <a:off x="694944" y="4434840"/>
            <a:ext cx="2240280" cy="274320"/>
          </a:xfrm>
          <a:prstGeom prst="rect">
            <a:avLst/>
          </a:prstGeom>
          <a:noFill/>
        </p:spPr>
        <p:txBody>
          <a:bodyPr wrap="square" lIns="0" rIns="0" tIns="0" bIns="0">
            <a:spAutoFit/>
          </a:bodyPr>
          <a:lstStyle/>
          <a:p>
            <a:pPr algn="r">
              <a:lnSpc>
                <a:spcPct val="122000"/>
              </a:lnSpc>
              <a:spcBef>
                <a:spcPts val="0"/>
              </a:spcBef>
              <a:spcAft>
                <a:spcPts val="0"/>
              </a:spcAft>
            </a:pPr>
            <a:r>
              <a:rPr sz="1100" b="1" i="0">
                <a:solidFill>
                  <a:srgbClr val="28383E"/>
                </a:solidFill>
                <a:latin typeface="Segoe UI"/>
              </a:rPr>
              <a:t>Lessons &amp; materials</a:t>
            </a:r>
          </a:p>
        </p:txBody>
      </p:sp>
      <p:sp>
        <p:nvSpPr>
          <p:cNvPr id="31" name="Rounded Rectangle 30"/>
          <p:cNvSpPr/>
          <p:nvPr/>
        </p:nvSpPr>
        <p:spPr>
          <a:xfrm>
            <a:off x="8448484" y="4389120"/>
            <a:ext cx="2026081" cy="274320"/>
          </a:xfrm>
          <a:prstGeom prst="roundRect">
            <a:avLst>
              <a:gd name="adj" fmla="val 24000"/>
            </a:avLst>
          </a:prstGeom>
          <a:solidFill>
            <a:srgbClr val="7A5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00" b="1" i="0">
                <a:solidFill>
                  <a:srgbClr val="FFFFFF"/>
                </a:solidFill>
                <a:latin typeface="Segoe UI"/>
              </a:rPr>
              <a:t>Lesson plans &amp; materials</a:t>
            </a:r>
          </a:p>
        </p:txBody>
      </p:sp>
      <p:sp>
        <p:nvSpPr>
          <p:cNvPr id="32" name="TextBox 31"/>
          <p:cNvSpPr txBox="1"/>
          <p:nvPr/>
        </p:nvSpPr>
        <p:spPr>
          <a:xfrm>
            <a:off x="694944" y="4754879"/>
            <a:ext cx="2240280" cy="274320"/>
          </a:xfrm>
          <a:prstGeom prst="rect">
            <a:avLst/>
          </a:prstGeom>
          <a:noFill/>
        </p:spPr>
        <p:txBody>
          <a:bodyPr wrap="square" lIns="0" rIns="0" tIns="0" bIns="0">
            <a:spAutoFit/>
          </a:bodyPr>
          <a:lstStyle/>
          <a:p>
            <a:pPr algn="r">
              <a:lnSpc>
                <a:spcPct val="122000"/>
              </a:lnSpc>
              <a:spcBef>
                <a:spcPts val="0"/>
              </a:spcBef>
              <a:spcAft>
                <a:spcPts val="0"/>
              </a:spcAft>
            </a:pPr>
            <a:r>
              <a:rPr sz="1100" b="1" i="0">
                <a:solidFill>
                  <a:srgbClr val="28383E"/>
                </a:solidFill>
                <a:latin typeface="Segoe UI"/>
              </a:rPr>
              <a:t>Behaviour &amp; alumni</a:t>
            </a:r>
          </a:p>
        </p:txBody>
      </p:sp>
      <p:sp>
        <p:nvSpPr>
          <p:cNvPr id="33" name="Rounded Rectangle 32"/>
          <p:cNvSpPr/>
          <p:nvPr/>
        </p:nvSpPr>
        <p:spPr>
          <a:xfrm>
            <a:off x="9516389" y="4709159"/>
            <a:ext cx="958176" cy="274320"/>
          </a:xfrm>
          <a:prstGeom prst="roundRect">
            <a:avLst>
              <a:gd name="adj" fmla="val 24000"/>
            </a:avLst>
          </a:prstGeom>
          <a:solidFill>
            <a:srgbClr val="7A5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00" b="1" i="0">
                <a:solidFill>
                  <a:srgbClr val="FFFFFF"/>
                </a:solidFill>
                <a:latin typeface="Segoe UI"/>
              </a:rPr>
              <a:t/>
            </a:r>
          </a:p>
        </p:txBody>
      </p:sp>
      <p:sp>
        <p:nvSpPr>
          <p:cNvPr id="34" name="TextBox 33"/>
          <p:cNvSpPr txBox="1"/>
          <p:nvPr/>
        </p:nvSpPr>
        <p:spPr>
          <a:xfrm>
            <a:off x="566928" y="5230368"/>
            <a:ext cx="11057839" cy="365760"/>
          </a:xfrm>
          <a:prstGeom prst="rect">
            <a:avLst/>
          </a:prstGeom>
          <a:noFill/>
        </p:spPr>
        <p:txBody>
          <a:bodyPr wrap="square" lIns="0" rIns="0" tIns="0" bIns="0">
            <a:spAutoFit/>
          </a:bodyPr>
          <a:lstStyle/>
          <a:p>
            <a:pPr>
              <a:lnSpc>
                <a:spcPct val="122000"/>
              </a:lnSpc>
              <a:spcBef>
                <a:spcPts val="0"/>
              </a:spcBef>
              <a:spcAft>
                <a:spcPts val="500"/>
              </a:spcAft>
            </a:pPr>
            <a:r>
              <a:rPr sz="1150" b="0" i="1">
                <a:solidFill>
                  <a:srgbClr val="4F6167"/>
                </a:solidFill>
                <a:latin typeface="Segoe UI"/>
              </a:rPr>
              <a:t>Each bar is the working window for one action. Names sit on the left.</a:t>
            </a:r>
          </a:p>
        </p:txBody>
      </p:sp>
      <p:sp>
        <p:nvSpPr>
          <p:cNvPr id="35" name="TextBox 34"/>
          <p:cNvSpPr txBox="1"/>
          <p:nvPr/>
        </p:nvSpPr>
        <p:spPr>
          <a:xfrm>
            <a:off x="8698687" y="6355080"/>
            <a:ext cx="2926080" cy="310896"/>
          </a:xfrm>
          <a:prstGeom prst="rect">
            <a:avLst/>
          </a:prstGeom>
          <a:noFill/>
        </p:spPr>
        <p:txBody>
          <a:bodyPr wrap="square" lIns="0" rIns="0" tIns="0" bIns="0">
            <a:spAutoFit/>
          </a:bodyPr>
          <a:lstStyle/>
          <a:p>
            <a:pPr algn="r">
              <a:lnSpc>
                <a:spcPct val="122000"/>
              </a:lnSpc>
              <a:spcBef>
                <a:spcPts val="0"/>
              </a:spcBef>
              <a:spcAft>
                <a:spcPts val="500"/>
              </a:spcAft>
            </a:pPr>
            <a:r>
              <a:rPr sz="1050" b="1" i="0">
                <a:solidFill>
                  <a:srgbClr val="4F6167"/>
                </a:solidFill>
                <a:latin typeface="Segoe UI"/>
              </a:rPr>
              <a:t>Roadmap detail  3 of 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384048"/>
            <a:ext cx="8778240" cy="548640"/>
          </a:xfrm>
          <a:prstGeom prst="rect">
            <a:avLst/>
          </a:prstGeom>
          <a:noFill/>
        </p:spPr>
        <p:txBody>
          <a:bodyPr wrap="square" lIns="0" rIns="0" tIns="0" bIns="0">
            <a:spAutoFit/>
          </a:bodyPr>
          <a:lstStyle/>
          <a:p>
            <a:pPr>
              <a:lnSpc>
                <a:spcPct val="122000"/>
              </a:lnSpc>
              <a:spcBef>
                <a:spcPts val="0"/>
              </a:spcBef>
              <a:spcAft>
                <a:spcPts val="0"/>
              </a:spcAft>
            </a:pPr>
            <a:r>
              <a:rPr sz="3200" b="0" i="0">
                <a:solidFill>
                  <a:srgbClr val="102730"/>
                </a:solidFill>
                <a:latin typeface="Segoe UI"/>
              </a:rPr>
              <a:t>Eight-week roadmap</a:t>
            </a:r>
          </a:p>
        </p:txBody>
      </p:sp>
      <p:sp>
        <p:nvSpPr>
          <p:cNvPr id="5" name="Rectangle 4"/>
          <p:cNvSpPr/>
          <p:nvPr/>
        </p:nvSpPr>
        <p:spPr>
          <a:xfrm>
            <a:off x="3081528" y="1033272"/>
            <a:ext cx="4235043" cy="329184"/>
          </a:xfrm>
          <a:prstGeom prst="rect">
            <a:avLst/>
          </a:prstGeom>
          <a:solidFill>
            <a:srgbClr val="0A6B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0"/>
              </a:spcAft>
            </a:pPr>
            <a:r>
              <a:rPr sz="1150" b="1" i="0">
                <a:solidFill>
                  <a:srgbClr val="FFFFFF"/>
                </a:solidFill>
                <a:latin typeface="Segoe UI"/>
              </a:rPr>
              <a:t>PHASE 1  ·  A SCHOOL CAN RUN ON IT</a:t>
            </a:r>
          </a:p>
        </p:txBody>
      </p:sp>
      <p:sp>
        <p:nvSpPr>
          <p:cNvPr id="6" name="Rectangle 5"/>
          <p:cNvSpPr/>
          <p:nvPr/>
        </p:nvSpPr>
        <p:spPr>
          <a:xfrm>
            <a:off x="7353147" y="1033272"/>
            <a:ext cx="4235043" cy="329184"/>
          </a:xfrm>
          <a:prstGeom prst="rect">
            <a:avLst/>
          </a:prstGeom>
          <a:solidFill>
            <a:srgbClr val="3D6E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0"/>
              </a:spcAft>
            </a:pPr>
            <a:r>
              <a:rPr sz="1150" b="1" i="0">
                <a:solidFill>
                  <a:srgbClr val="FFFFFF"/>
                </a:solidFill>
                <a:latin typeface="Segoe UI"/>
              </a:rPr>
              <a:t>PHASE 2  ·  THE APPS, AND WHAT COMES NEXT</a:t>
            </a:r>
          </a:p>
        </p:txBody>
      </p:sp>
      <p:sp>
        <p:nvSpPr>
          <p:cNvPr id="7" name="Rectangle 6"/>
          <p:cNvSpPr/>
          <p:nvPr/>
        </p:nvSpPr>
        <p:spPr>
          <a:xfrm>
            <a:off x="566928" y="1417320"/>
            <a:ext cx="2514600" cy="402336"/>
          </a:xfrm>
          <a:prstGeom prst="rect">
            <a:avLst/>
          </a:prstGeom>
          <a:solidFill>
            <a:srgbClr val="1A1B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0"/>
              </a:spcAft>
            </a:pPr>
            <a:r>
              <a:rPr sz="1250" b="1" i="0">
                <a:solidFill>
                  <a:srgbClr val="FFFFFF"/>
                </a:solidFill>
                <a:latin typeface="Segoe UI"/>
              </a:rPr>
              <a:t>3 Aug - 25 Sep 2026</a:t>
            </a:r>
          </a:p>
        </p:txBody>
      </p:sp>
      <p:sp>
        <p:nvSpPr>
          <p:cNvPr id="8" name="Rectangle 7"/>
          <p:cNvSpPr/>
          <p:nvPr/>
        </p:nvSpPr>
        <p:spPr>
          <a:xfrm>
            <a:off x="3081528"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1</a:t>
            </a:r>
          </a:p>
          <a:p>
            <a:pPr algn="ctr">
              <a:lnSpc>
                <a:spcPct val="105000"/>
              </a:lnSpc>
              <a:spcBef>
                <a:spcPts val="0"/>
              </a:spcBef>
              <a:spcAft>
                <a:spcPts val="0"/>
              </a:spcAft>
            </a:pPr>
            <a:r>
              <a:rPr sz="1050" b="0" i="0">
                <a:solidFill>
                  <a:srgbClr val="4F6167"/>
                </a:solidFill>
                <a:latin typeface="Segoe UI"/>
              </a:rPr>
              <a:t>3 Aug</a:t>
            </a:r>
          </a:p>
        </p:txBody>
      </p:sp>
      <p:sp>
        <p:nvSpPr>
          <p:cNvPr id="9" name="Rectangle 8"/>
          <p:cNvSpPr/>
          <p:nvPr/>
        </p:nvSpPr>
        <p:spPr>
          <a:xfrm>
            <a:off x="4149432"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2</a:t>
            </a:r>
          </a:p>
          <a:p>
            <a:pPr algn="ctr">
              <a:lnSpc>
                <a:spcPct val="105000"/>
              </a:lnSpc>
              <a:spcBef>
                <a:spcPts val="0"/>
              </a:spcBef>
              <a:spcAft>
                <a:spcPts val="0"/>
              </a:spcAft>
            </a:pPr>
            <a:r>
              <a:rPr sz="1050" b="0" i="0">
                <a:solidFill>
                  <a:srgbClr val="4F6167"/>
                </a:solidFill>
                <a:latin typeface="Segoe UI"/>
              </a:rPr>
              <a:t>10 Aug</a:t>
            </a:r>
          </a:p>
        </p:txBody>
      </p:sp>
      <p:sp>
        <p:nvSpPr>
          <p:cNvPr id="10" name="Rectangle 9"/>
          <p:cNvSpPr/>
          <p:nvPr/>
        </p:nvSpPr>
        <p:spPr>
          <a:xfrm>
            <a:off x="5217337"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3</a:t>
            </a:r>
          </a:p>
          <a:p>
            <a:pPr algn="ctr">
              <a:lnSpc>
                <a:spcPct val="105000"/>
              </a:lnSpc>
              <a:spcBef>
                <a:spcPts val="0"/>
              </a:spcBef>
              <a:spcAft>
                <a:spcPts val="0"/>
              </a:spcAft>
            </a:pPr>
            <a:r>
              <a:rPr sz="1050" b="0" i="0">
                <a:solidFill>
                  <a:srgbClr val="4F6167"/>
                </a:solidFill>
                <a:latin typeface="Segoe UI"/>
              </a:rPr>
              <a:t>17 Aug</a:t>
            </a:r>
          </a:p>
        </p:txBody>
      </p:sp>
      <p:sp>
        <p:nvSpPr>
          <p:cNvPr id="11" name="Rectangle 10"/>
          <p:cNvSpPr/>
          <p:nvPr/>
        </p:nvSpPr>
        <p:spPr>
          <a:xfrm>
            <a:off x="6285242"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4</a:t>
            </a:r>
          </a:p>
          <a:p>
            <a:pPr algn="ctr">
              <a:lnSpc>
                <a:spcPct val="105000"/>
              </a:lnSpc>
              <a:spcBef>
                <a:spcPts val="0"/>
              </a:spcBef>
              <a:spcAft>
                <a:spcPts val="0"/>
              </a:spcAft>
            </a:pPr>
            <a:r>
              <a:rPr sz="1050" b="0" i="0">
                <a:solidFill>
                  <a:srgbClr val="4F6167"/>
                </a:solidFill>
                <a:latin typeface="Segoe UI"/>
              </a:rPr>
              <a:t>24 Aug</a:t>
            </a:r>
          </a:p>
        </p:txBody>
      </p:sp>
      <p:sp>
        <p:nvSpPr>
          <p:cNvPr id="12" name="Rectangle 11"/>
          <p:cNvSpPr/>
          <p:nvPr/>
        </p:nvSpPr>
        <p:spPr>
          <a:xfrm>
            <a:off x="7353147"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5</a:t>
            </a:r>
          </a:p>
          <a:p>
            <a:pPr algn="ctr">
              <a:lnSpc>
                <a:spcPct val="105000"/>
              </a:lnSpc>
              <a:spcBef>
                <a:spcPts val="0"/>
              </a:spcBef>
              <a:spcAft>
                <a:spcPts val="0"/>
              </a:spcAft>
            </a:pPr>
            <a:r>
              <a:rPr sz="1050" b="0" i="0">
                <a:solidFill>
                  <a:srgbClr val="4F6167"/>
                </a:solidFill>
                <a:latin typeface="Segoe UI"/>
              </a:rPr>
              <a:t>31 Aug</a:t>
            </a:r>
          </a:p>
        </p:txBody>
      </p:sp>
      <p:sp>
        <p:nvSpPr>
          <p:cNvPr id="13" name="Rectangle 12"/>
          <p:cNvSpPr/>
          <p:nvPr/>
        </p:nvSpPr>
        <p:spPr>
          <a:xfrm>
            <a:off x="8421052"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6</a:t>
            </a:r>
          </a:p>
          <a:p>
            <a:pPr algn="ctr">
              <a:lnSpc>
                <a:spcPct val="105000"/>
              </a:lnSpc>
              <a:spcBef>
                <a:spcPts val="0"/>
              </a:spcBef>
              <a:spcAft>
                <a:spcPts val="0"/>
              </a:spcAft>
            </a:pPr>
            <a:r>
              <a:rPr sz="1050" b="0" i="0">
                <a:solidFill>
                  <a:srgbClr val="4F6167"/>
                </a:solidFill>
                <a:latin typeface="Segoe UI"/>
              </a:rPr>
              <a:t>7 Sep</a:t>
            </a:r>
          </a:p>
        </p:txBody>
      </p:sp>
      <p:sp>
        <p:nvSpPr>
          <p:cNvPr id="14" name="Rectangle 13"/>
          <p:cNvSpPr/>
          <p:nvPr/>
        </p:nvSpPr>
        <p:spPr>
          <a:xfrm>
            <a:off x="9488957"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7</a:t>
            </a:r>
          </a:p>
          <a:p>
            <a:pPr algn="ctr">
              <a:lnSpc>
                <a:spcPct val="105000"/>
              </a:lnSpc>
              <a:spcBef>
                <a:spcPts val="0"/>
              </a:spcBef>
              <a:spcAft>
                <a:spcPts val="0"/>
              </a:spcAft>
            </a:pPr>
            <a:r>
              <a:rPr sz="1050" b="0" i="0">
                <a:solidFill>
                  <a:srgbClr val="4F6167"/>
                </a:solidFill>
                <a:latin typeface="Segoe UI"/>
              </a:rPr>
              <a:t>14 Sep</a:t>
            </a:r>
          </a:p>
        </p:txBody>
      </p:sp>
      <p:sp>
        <p:nvSpPr>
          <p:cNvPr id="15" name="Rectangle 14"/>
          <p:cNvSpPr/>
          <p:nvPr/>
        </p:nvSpPr>
        <p:spPr>
          <a:xfrm>
            <a:off x="10556862" y="1417320"/>
            <a:ext cx="1031328" cy="402336"/>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05000"/>
              </a:lnSpc>
              <a:spcBef>
                <a:spcPts val="0"/>
              </a:spcBef>
              <a:spcAft>
                <a:spcPts val="0"/>
              </a:spcAft>
            </a:pPr>
            <a:r>
              <a:rPr sz="1200" b="1" i="0">
                <a:solidFill>
                  <a:srgbClr val="102730"/>
                </a:solidFill>
                <a:latin typeface="Segoe UI"/>
              </a:rPr>
              <a:t>Wk 8</a:t>
            </a:r>
          </a:p>
          <a:p>
            <a:pPr algn="ctr">
              <a:lnSpc>
                <a:spcPct val="105000"/>
              </a:lnSpc>
              <a:spcBef>
                <a:spcPts val="0"/>
              </a:spcBef>
              <a:spcAft>
                <a:spcPts val="0"/>
              </a:spcAft>
            </a:pPr>
            <a:r>
              <a:rPr sz="1050" b="0" i="0">
                <a:solidFill>
                  <a:srgbClr val="4F6167"/>
                </a:solidFill>
                <a:latin typeface="Segoe UI"/>
              </a:rPr>
              <a:t>21 Sep</a:t>
            </a:r>
          </a:p>
        </p:txBody>
      </p:sp>
      <p:sp>
        <p:nvSpPr>
          <p:cNvPr id="16" name="Rectangle 15"/>
          <p:cNvSpPr/>
          <p:nvPr/>
        </p:nvSpPr>
        <p:spPr>
          <a:xfrm>
            <a:off x="566928" y="1984248"/>
            <a:ext cx="11057839" cy="1965960"/>
          </a:xfrm>
          <a:prstGeom prst="rect">
            <a:avLst/>
          </a:prstGeom>
          <a:solidFill>
            <a:srgbClr val="ECF1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p>
        </p:txBody>
      </p:sp>
      <p:sp>
        <p:nvSpPr>
          <p:cNvPr id="17" name="TextBox 16"/>
          <p:cNvSpPr txBox="1"/>
          <p:nvPr/>
        </p:nvSpPr>
        <p:spPr>
          <a:xfrm>
            <a:off x="713232" y="2039112"/>
            <a:ext cx="5486400" cy="256032"/>
          </a:xfrm>
          <a:prstGeom prst="rect">
            <a:avLst/>
          </a:prstGeom>
          <a:noFill/>
        </p:spPr>
        <p:txBody>
          <a:bodyPr wrap="square" lIns="0" rIns="0" tIns="0" bIns="0">
            <a:spAutoFit/>
          </a:bodyPr>
          <a:lstStyle/>
          <a:p>
            <a:pPr>
              <a:lnSpc>
                <a:spcPct val="122000"/>
              </a:lnSpc>
              <a:spcBef>
                <a:spcPts val="0"/>
              </a:spcBef>
              <a:spcAft>
                <a:spcPts val="0"/>
              </a:spcAft>
            </a:pPr>
            <a:r>
              <a:rPr sz="1150" b="1" i="0">
                <a:solidFill>
                  <a:srgbClr val="B88A1E"/>
                </a:solidFill>
                <a:latin typeface="Segoe UI"/>
              </a:rPr>
              <a:t>STAFF, MONEY AND SCALE</a:t>
            </a:r>
          </a:p>
        </p:txBody>
      </p:sp>
      <p:sp>
        <p:nvSpPr>
          <p:cNvPr id="18" name="TextBox 17"/>
          <p:cNvSpPr txBox="1"/>
          <p:nvPr/>
        </p:nvSpPr>
        <p:spPr>
          <a:xfrm>
            <a:off x="694944" y="2359151"/>
            <a:ext cx="2240280" cy="274320"/>
          </a:xfrm>
          <a:prstGeom prst="rect">
            <a:avLst/>
          </a:prstGeom>
          <a:noFill/>
        </p:spPr>
        <p:txBody>
          <a:bodyPr wrap="square" lIns="0" rIns="0" tIns="0" bIns="0">
            <a:spAutoFit/>
          </a:bodyPr>
          <a:lstStyle/>
          <a:p>
            <a:pPr algn="r">
              <a:lnSpc>
                <a:spcPct val="122000"/>
              </a:lnSpc>
              <a:spcBef>
                <a:spcPts val="0"/>
              </a:spcBef>
              <a:spcAft>
                <a:spcPts val="0"/>
              </a:spcAft>
            </a:pPr>
            <a:r>
              <a:rPr sz="1100" b="1" i="0">
                <a:solidFill>
                  <a:srgbClr val="28383E"/>
                </a:solidFill>
                <a:latin typeface="Segoe UI"/>
              </a:rPr>
              <a:t>Payroll &amp; HR</a:t>
            </a:r>
          </a:p>
        </p:txBody>
      </p:sp>
      <p:sp>
        <p:nvSpPr>
          <p:cNvPr id="19" name="Rounded Rectangle 18"/>
          <p:cNvSpPr/>
          <p:nvPr/>
        </p:nvSpPr>
        <p:spPr>
          <a:xfrm>
            <a:off x="7380579" y="2313432"/>
            <a:ext cx="2026081" cy="274320"/>
          </a:xfrm>
          <a:prstGeom prst="roundRect">
            <a:avLst>
              <a:gd name="adj" fmla="val 24000"/>
            </a:avLst>
          </a:prstGeom>
          <a:solidFill>
            <a:srgbClr val="B88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00" b="1" i="0">
                <a:solidFill>
                  <a:srgbClr val="FFFFFF"/>
                </a:solidFill>
                <a:latin typeface="Segoe UI"/>
              </a:rPr>
              <a:t>Payroll, HR &amp; advances</a:t>
            </a:r>
          </a:p>
        </p:txBody>
      </p:sp>
      <p:sp>
        <p:nvSpPr>
          <p:cNvPr id="20" name="TextBox 19"/>
          <p:cNvSpPr txBox="1"/>
          <p:nvPr/>
        </p:nvSpPr>
        <p:spPr>
          <a:xfrm>
            <a:off x="694944" y="2679191"/>
            <a:ext cx="2240280" cy="274320"/>
          </a:xfrm>
          <a:prstGeom prst="rect">
            <a:avLst/>
          </a:prstGeom>
          <a:noFill/>
        </p:spPr>
        <p:txBody>
          <a:bodyPr wrap="square" lIns="0" rIns="0" tIns="0" bIns="0">
            <a:spAutoFit/>
          </a:bodyPr>
          <a:lstStyle/>
          <a:p>
            <a:pPr algn="r">
              <a:lnSpc>
                <a:spcPct val="122000"/>
              </a:lnSpc>
              <a:spcBef>
                <a:spcPts val="0"/>
              </a:spcBef>
              <a:spcAft>
                <a:spcPts val="0"/>
              </a:spcAft>
            </a:pPr>
            <a:r>
              <a:rPr sz="1100" b="1" i="0">
                <a:solidFill>
                  <a:srgbClr val="28383E"/>
                </a:solidFill>
                <a:latin typeface="Segoe UI"/>
              </a:rPr>
              <a:t>Accounting</a:t>
            </a:r>
          </a:p>
        </p:txBody>
      </p:sp>
      <p:sp>
        <p:nvSpPr>
          <p:cNvPr id="21" name="Rounded Rectangle 20"/>
          <p:cNvSpPr/>
          <p:nvPr/>
        </p:nvSpPr>
        <p:spPr>
          <a:xfrm>
            <a:off x="8448484" y="2633472"/>
            <a:ext cx="2026081" cy="274320"/>
          </a:xfrm>
          <a:prstGeom prst="roundRect">
            <a:avLst>
              <a:gd name="adj" fmla="val 24000"/>
            </a:avLst>
          </a:prstGeom>
          <a:solidFill>
            <a:srgbClr val="B88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00" b="1" i="0">
                <a:solidFill>
                  <a:srgbClr val="FFFFFF"/>
                </a:solidFill>
                <a:latin typeface="Segoe UI"/>
              </a:rPr>
              <a:t>Accounting package</a:t>
            </a:r>
          </a:p>
        </p:txBody>
      </p:sp>
      <p:sp>
        <p:nvSpPr>
          <p:cNvPr id="22" name="TextBox 21"/>
          <p:cNvSpPr txBox="1"/>
          <p:nvPr/>
        </p:nvSpPr>
        <p:spPr>
          <a:xfrm>
            <a:off x="694944" y="2999232"/>
            <a:ext cx="2240280" cy="274320"/>
          </a:xfrm>
          <a:prstGeom prst="rect">
            <a:avLst/>
          </a:prstGeom>
          <a:noFill/>
        </p:spPr>
        <p:txBody>
          <a:bodyPr wrap="square" lIns="0" rIns="0" tIns="0" bIns="0">
            <a:spAutoFit/>
          </a:bodyPr>
          <a:lstStyle/>
          <a:p>
            <a:pPr algn="r">
              <a:lnSpc>
                <a:spcPct val="122000"/>
              </a:lnSpc>
              <a:spcBef>
                <a:spcPts val="0"/>
              </a:spcBef>
              <a:spcAft>
                <a:spcPts val="0"/>
              </a:spcAft>
            </a:pPr>
            <a:r>
              <a:rPr sz="1100" b="1" i="0">
                <a:solidFill>
                  <a:srgbClr val="28383E"/>
                </a:solidFill>
                <a:latin typeface="Segoe UI"/>
              </a:rPr>
              <a:t>Transport</a:t>
            </a:r>
          </a:p>
        </p:txBody>
      </p:sp>
      <p:sp>
        <p:nvSpPr>
          <p:cNvPr id="23" name="Rounded Rectangle 22"/>
          <p:cNvSpPr/>
          <p:nvPr/>
        </p:nvSpPr>
        <p:spPr>
          <a:xfrm>
            <a:off x="8448484" y="2953512"/>
            <a:ext cx="2026081" cy="274320"/>
          </a:xfrm>
          <a:prstGeom prst="roundRect">
            <a:avLst>
              <a:gd name="adj" fmla="val 24000"/>
            </a:avLst>
          </a:prstGeom>
          <a:solidFill>
            <a:srgbClr val="B88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00" b="1" i="0">
                <a:solidFill>
                  <a:srgbClr val="FFFFFF"/>
                </a:solidFill>
                <a:latin typeface="Segoe UI"/>
              </a:rPr>
              <a:t>Transport &amp; pickup</a:t>
            </a:r>
          </a:p>
        </p:txBody>
      </p:sp>
      <p:sp>
        <p:nvSpPr>
          <p:cNvPr id="24" name="TextBox 23"/>
          <p:cNvSpPr txBox="1"/>
          <p:nvPr/>
        </p:nvSpPr>
        <p:spPr>
          <a:xfrm>
            <a:off x="694944" y="3319272"/>
            <a:ext cx="2240280" cy="274320"/>
          </a:xfrm>
          <a:prstGeom prst="rect">
            <a:avLst/>
          </a:prstGeom>
          <a:noFill/>
        </p:spPr>
        <p:txBody>
          <a:bodyPr wrap="square" lIns="0" rIns="0" tIns="0" bIns="0">
            <a:spAutoFit/>
          </a:bodyPr>
          <a:lstStyle/>
          <a:p>
            <a:pPr algn="r">
              <a:lnSpc>
                <a:spcPct val="122000"/>
              </a:lnSpc>
              <a:spcBef>
                <a:spcPts val="0"/>
              </a:spcBef>
              <a:spcAft>
                <a:spcPts val="0"/>
              </a:spcAft>
            </a:pPr>
            <a:r>
              <a:rPr sz="1100" b="1" i="0">
                <a:solidFill>
                  <a:srgbClr val="28383E"/>
                </a:solidFill>
                <a:latin typeface="Segoe UI"/>
              </a:rPr>
              <a:t>Operations</a:t>
            </a:r>
          </a:p>
        </p:txBody>
      </p:sp>
      <p:sp>
        <p:nvSpPr>
          <p:cNvPr id="25" name="Rounded Rectangle 24"/>
          <p:cNvSpPr/>
          <p:nvPr/>
        </p:nvSpPr>
        <p:spPr>
          <a:xfrm>
            <a:off x="9516389" y="3273552"/>
            <a:ext cx="2026081" cy="274320"/>
          </a:xfrm>
          <a:prstGeom prst="roundRect">
            <a:avLst>
              <a:gd name="adj" fmla="val 24000"/>
            </a:avLst>
          </a:prstGeom>
          <a:solidFill>
            <a:srgbClr val="B88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00" b="1" i="0">
                <a:solidFill>
                  <a:srgbClr val="FFFFFF"/>
                </a:solidFill>
                <a:latin typeface="Segoe UI"/>
              </a:rPr>
              <a:t>Operations</a:t>
            </a:r>
          </a:p>
        </p:txBody>
      </p:sp>
      <p:sp>
        <p:nvSpPr>
          <p:cNvPr id="26" name="TextBox 25"/>
          <p:cNvSpPr txBox="1"/>
          <p:nvPr/>
        </p:nvSpPr>
        <p:spPr>
          <a:xfrm>
            <a:off x="694944" y="3639312"/>
            <a:ext cx="2240280" cy="274320"/>
          </a:xfrm>
          <a:prstGeom prst="rect">
            <a:avLst/>
          </a:prstGeom>
          <a:noFill/>
        </p:spPr>
        <p:txBody>
          <a:bodyPr wrap="square" lIns="0" rIns="0" tIns="0" bIns="0">
            <a:spAutoFit/>
          </a:bodyPr>
          <a:lstStyle/>
          <a:p>
            <a:pPr algn="r">
              <a:lnSpc>
                <a:spcPct val="122000"/>
              </a:lnSpc>
              <a:spcBef>
                <a:spcPts val="0"/>
              </a:spcBef>
              <a:spcAft>
                <a:spcPts val="0"/>
              </a:spcAft>
            </a:pPr>
            <a:r>
              <a:rPr sz="1100" b="1" i="0">
                <a:solidFill>
                  <a:srgbClr val="28383E"/>
                </a:solidFill>
                <a:latin typeface="Segoe UI"/>
              </a:rPr>
              <a:t>Multi-branch</a:t>
            </a:r>
          </a:p>
        </p:txBody>
      </p:sp>
      <p:sp>
        <p:nvSpPr>
          <p:cNvPr id="27" name="Rounded Rectangle 26"/>
          <p:cNvSpPr/>
          <p:nvPr/>
        </p:nvSpPr>
        <p:spPr>
          <a:xfrm>
            <a:off x="10584294" y="3593592"/>
            <a:ext cx="958176" cy="274320"/>
          </a:xfrm>
          <a:prstGeom prst="roundRect">
            <a:avLst>
              <a:gd name="adj" fmla="val 24000"/>
            </a:avLst>
          </a:prstGeom>
          <a:solidFill>
            <a:srgbClr val="B88A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lnSpc>
                <a:spcPct val="122000"/>
              </a:lnSpc>
              <a:spcBef>
                <a:spcPts val="0"/>
              </a:spcBef>
              <a:spcAft>
                <a:spcPts val="0"/>
              </a:spcAft>
            </a:pPr>
            <a:r>
              <a:rPr sz="1100" b="1" i="0">
                <a:solidFill>
                  <a:srgbClr val="FFFFFF"/>
                </a:solidFill>
                <a:latin typeface="Segoe UI"/>
              </a:rPr>
              <a:t/>
            </a:r>
          </a:p>
        </p:txBody>
      </p:sp>
      <p:sp>
        <p:nvSpPr>
          <p:cNvPr id="28" name="TextBox 27"/>
          <p:cNvSpPr txBox="1"/>
          <p:nvPr/>
        </p:nvSpPr>
        <p:spPr>
          <a:xfrm>
            <a:off x="566928" y="4114799"/>
            <a:ext cx="11057839" cy="365760"/>
          </a:xfrm>
          <a:prstGeom prst="rect">
            <a:avLst/>
          </a:prstGeom>
          <a:noFill/>
        </p:spPr>
        <p:txBody>
          <a:bodyPr wrap="square" lIns="0" rIns="0" tIns="0" bIns="0">
            <a:spAutoFit/>
          </a:bodyPr>
          <a:lstStyle/>
          <a:p>
            <a:pPr>
              <a:lnSpc>
                <a:spcPct val="122000"/>
              </a:lnSpc>
              <a:spcBef>
                <a:spcPts val="0"/>
              </a:spcBef>
              <a:spcAft>
                <a:spcPts val="500"/>
              </a:spcAft>
            </a:pPr>
            <a:r>
              <a:rPr sz="1150" b="0" i="1">
                <a:solidFill>
                  <a:srgbClr val="4F6167"/>
                </a:solidFill>
                <a:latin typeface="Segoe UI"/>
              </a:rPr>
              <a:t>Each bar is the working window for one action. Names sit on the left.</a:t>
            </a:r>
          </a:p>
        </p:txBody>
      </p:sp>
      <p:sp>
        <p:nvSpPr>
          <p:cNvPr id="29" name="TextBox 28"/>
          <p:cNvSpPr txBox="1"/>
          <p:nvPr/>
        </p:nvSpPr>
        <p:spPr>
          <a:xfrm>
            <a:off x="8698687" y="6355080"/>
            <a:ext cx="2926080" cy="310896"/>
          </a:xfrm>
          <a:prstGeom prst="rect">
            <a:avLst/>
          </a:prstGeom>
          <a:noFill/>
        </p:spPr>
        <p:txBody>
          <a:bodyPr wrap="square" lIns="0" rIns="0" tIns="0" bIns="0">
            <a:spAutoFit/>
          </a:bodyPr>
          <a:lstStyle/>
          <a:p>
            <a:pPr algn="r">
              <a:lnSpc>
                <a:spcPct val="122000"/>
              </a:lnSpc>
              <a:spcBef>
                <a:spcPts val="0"/>
              </a:spcBef>
              <a:spcAft>
                <a:spcPts val="500"/>
              </a:spcAft>
            </a:pPr>
            <a:r>
              <a:rPr sz="1050" b="1" i="0">
                <a:solidFill>
                  <a:srgbClr val="4F6167"/>
                </a:solidFill>
                <a:latin typeface="Segoe UI"/>
              </a:rPr>
              <a:t>Roadmap detail  4 of 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457200"/>
            <a:ext cx="8503920" cy="731520"/>
          </a:xfrm>
          <a:prstGeom prst="rect">
            <a:avLst/>
          </a:prstGeom>
          <a:noFill/>
        </p:spPr>
        <p:txBody>
          <a:bodyPr wrap="square" lIns="0" rIns="0" tIns="0" bIns="0">
            <a:spAutoFit/>
          </a:bodyPr>
          <a:lstStyle/>
          <a:p>
            <a:pPr>
              <a:lnSpc>
                <a:spcPct val="122000"/>
              </a:lnSpc>
              <a:spcBef>
                <a:spcPts val="0"/>
              </a:spcBef>
              <a:spcAft>
                <a:spcPts val="0"/>
              </a:spcAft>
            </a:pPr>
            <a:r>
              <a:rPr sz="3600" b="0" i="0">
                <a:solidFill>
                  <a:srgbClr val="102730"/>
                </a:solidFill>
                <a:latin typeface="Segoe UI"/>
              </a:rPr>
              <a:t>What we are not building</a:t>
            </a:r>
          </a:p>
        </p:txBody>
      </p:sp>
      <p:sp>
        <p:nvSpPr>
          <p:cNvPr id="5" name="TextBox 4"/>
          <p:cNvSpPr txBox="1"/>
          <p:nvPr/>
        </p:nvSpPr>
        <p:spPr>
          <a:xfrm>
            <a:off x="566928" y="1275172"/>
            <a:ext cx="9509760" cy="731520"/>
          </a:xfrm>
          <a:prstGeom prst="rect">
            <a:avLst/>
          </a:prstGeom>
          <a:noFill/>
        </p:spPr>
        <p:txBody>
          <a:bodyPr wrap="square" lIns="0" rIns="0" tIns="0" bIns="0">
            <a:spAutoFit/>
          </a:bodyPr>
          <a:lstStyle/>
          <a:p>
            <a:pPr>
              <a:lnSpc>
                <a:spcPct val="125000"/>
              </a:lnSpc>
              <a:spcBef>
                <a:spcPts val="0"/>
              </a:spcBef>
              <a:spcAft>
                <a:spcPts val="500"/>
              </a:spcAft>
            </a:pPr>
            <a:r>
              <a:rPr sz="1500" b="0" i="1">
                <a:solidFill>
                  <a:srgbClr val="4F6167"/>
                </a:solidFill>
                <a:latin typeface="Segoe UI"/>
              </a:rPr>
              <a:t>Worth stating plainly, because each of these has been asked for at least once.</a:t>
            </a:r>
          </a:p>
        </p:txBody>
      </p:sp>
      <p:sp>
        <p:nvSpPr>
          <p:cNvPr id="6" name="Rectangle 5"/>
          <p:cNvSpPr/>
          <p:nvPr/>
        </p:nvSpPr>
        <p:spPr>
          <a:xfrm>
            <a:off x="566928" y="2079844"/>
            <a:ext cx="3533546" cy="2606040"/>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1000"/>
              </a:spcAft>
            </a:pPr>
            <a:r>
              <a:rPr sz="1600" b="1" i="0">
                <a:solidFill>
                  <a:srgbClr val="8E4E5C"/>
                </a:solidFill>
                <a:latin typeface="Segoe UI"/>
              </a:rPr>
              <a:t>Held by decision</a:t>
            </a:r>
          </a:p>
          <a:p>
            <a:pPr>
              <a:lnSpc>
                <a:spcPct val="125000"/>
              </a:lnSpc>
              <a:spcBef>
                <a:spcPts val="0"/>
              </a:spcBef>
              <a:spcAft>
                <a:spcPts val="800"/>
              </a:spcAft>
            </a:pPr>
            <a:r>
              <a:rPr sz="1400" b="0" i="0">
                <a:solidFill>
                  <a:srgbClr val="28383E"/>
                </a:solidFill>
                <a:latin typeface="Segoe UI"/>
              </a:rPr>
              <a:t/>
            </a:r>
            <a:r>
              <a:rPr sz="1350" b="1" i="0">
                <a:solidFill>
                  <a:srgbClr val="8E4E5C"/>
                </a:solidFill>
                <a:latin typeface="Segoe UI"/>
              </a:rPr>
              <a:t>·  </a:t>
            </a:r>
            <a:r>
              <a:rPr sz="1350" b="0" i="0">
                <a:solidFill>
                  <a:srgbClr val="28383E"/>
                </a:solidFill>
                <a:latin typeface="Segoe UI"/>
              </a:rPr>
              <a:t>Fee lending: applications, credit scoring, approval, disbursement, repayment</a:t>
            </a:r>
          </a:p>
          <a:p>
            <a:pPr>
              <a:lnSpc>
                <a:spcPct val="125000"/>
              </a:lnSpc>
              <a:spcBef>
                <a:spcPts val="0"/>
              </a:spcBef>
              <a:spcAft>
                <a:spcPts val="800"/>
              </a:spcAft>
            </a:pPr>
            <a:r>
              <a:rPr sz="1400" b="0" i="0">
                <a:solidFill>
                  <a:srgbClr val="28383E"/>
                </a:solidFill>
                <a:latin typeface="Segoe UI"/>
              </a:rPr>
              <a:t/>
            </a:r>
            <a:r>
              <a:rPr sz="1350" b="1" i="0">
                <a:solidFill>
                  <a:srgbClr val="8E4E5C"/>
                </a:solidFill>
                <a:latin typeface="Segoe UI"/>
              </a:rPr>
              <a:t>·  </a:t>
            </a:r>
            <a:r>
              <a:rPr sz="1350" b="0" i="0">
                <a:solidFill>
                  <a:srgbClr val="28383E"/>
                </a:solidFill>
                <a:latin typeface="Segoe UI"/>
              </a:rPr>
              <a:t>It ships gated off and stays documented so it can resume without a rewrite</a:t>
            </a:r>
          </a:p>
        </p:txBody>
      </p:sp>
      <p:sp>
        <p:nvSpPr>
          <p:cNvPr id="7" name="Rectangle 6"/>
          <p:cNvSpPr/>
          <p:nvPr/>
        </p:nvSpPr>
        <p:spPr>
          <a:xfrm>
            <a:off x="4329074" y="2079844"/>
            <a:ext cx="3533546" cy="2606040"/>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1000"/>
              </a:spcAft>
            </a:pPr>
            <a:r>
              <a:rPr sz="1600" b="1" i="0">
                <a:solidFill>
                  <a:srgbClr val="4F6167"/>
                </a:solidFill>
                <a:latin typeface="Segoe UI"/>
              </a:rPr>
              <a:t>Not in these eight weeks</a:t>
            </a:r>
          </a:p>
          <a:p>
            <a:pPr>
              <a:lnSpc>
                <a:spcPct val="125000"/>
              </a:lnSpc>
              <a:spcBef>
                <a:spcPts val="0"/>
              </a:spcBef>
              <a:spcAft>
                <a:spcPts val="800"/>
              </a:spcAft>
            </a:pPr>
            <a:r>
              <a:rPr sz="1400" b="0" i="0">
                <a:solidFill>
                  <a:srgbClr val="28383E"/>
                </a:solidFill>
                <a:latin typeface="Segoe UI"/>
              </a:rPr>
              <a:t/>
            </a:r>
            <a:r>
              <a:rPr sz="1350" b="1" i="0">
                <a:solidFill>
                  <a:srgbClr val="4F6167"/>
                </a:solidFill>
                <a:latin typeface="Segoe UI"/>
              </a:rPr>
              <a:t>·  </a:t>
            </a:r>
            <a:r>
              <a:rPr sz="1350" b="0" i="0">
                <a:solidFill>
                  <a:srgbClr val="28383E"/>
                </a:solidFill>
                <a:latin typeface="Segoe UI"/>
              </a:rPr>
              <a:t>An admin or finance app. That work is desk work and stays on the web</a:t>
            </a:r>
          </a:p>
          <a:p>
            <a:pPr>
              <a:lnSpc>
                <a:spcPct val="125000"/>
              </a:lnSpc>
              <a:spcBef>
                <a:spcPts val="0"/>
              </a:spcBef>
              <a:spcAft>
                <a:spcPts val="800"/>
              </a:spcAft>
            </a:pPr>
            <a:r>
              <a:rPr sz="1400" b="0" i="0">
                <a:solidFill>
                  <a:srgbClr val="28383E"/>
                </a:solidFill>
                <a:latin typeface="Segoe UI"/>
              </a:rPr>
              <a:t/>
            </a:r>
            <a:r>
              <a:rPr sz="1350" b="1" i="0">
                <a:solidFill>
                  <a:srgbClr val="4F6167"/>
                </a:solidFill>
                <a:latin typeface="Segoe UI"/>
              </a:rPr>
              <a:t>·  </a:t>
            </a:r>
            <a:r>
              <a:rPr sz="1350" b="0" i="0">
                <a:solidFill>
                  <a:srgbClr val="28383E"/>
                </a:solidFill>
                <a:latin typeface="Segoe UI"/>
              </a:rPr>
              <a:t>AI report comments and academic insights</a:t>
            </a:r>
          </a:p>
          <a:p>
            <a:pPr>
              <a:lnSpc>
                <a:spcPct val="125000"/>
              </a:lnSpc>
              <a:spcBef>
                <a:spcPts val="0"/>
              </a:spcBef>
              <a:spcAft>
                <a:spcPts val="800"/>
              </a:spcAft>
            </a:pPr>
            <a:r>
              <a:rPr sz="1400" b="0" i="0">
                <a:solidFill>
                  <a:srgbClr val="28383E"/>
                </a:solidFill>
                <a:latin typeface="Segoe UI"/>
              </a:rPr>
              <a:t/>
            </a:r>
            <a:r>
              <a:rPr sz="1350" b="1" i="0">
                <a:solidFill>
                  <a:srgbClr val="4F6167"/>
                </a:solidFill>
                <a:latin typeface="Segoe UI"/>
              </a:rPr>
              <a:t>·  </a:t>
            </a:r>
            <a:r>
              <a:rPr sz="1350" b="0" i="0">
                <a:solidFill>
                  <a:srgbClr val="28383E"/>
                </a:solidFill>
                <a:latin typeface="Segoe UI"/>
              </a:rPr>
              <a:t>Advanced analytics and scheduled reports for the operations portal</a:t>
            </a:r>
          </a:p>
        </p:txBody>
      </p:sp>
      <p:sp>
        <p:nvSpPr>
          <p:cNvPr id="8" name="Rectangle 7"/>
          <p:cNvSpPr/>
          <p:nvPr/>
        </p:nvSpPr>
        <p:spPr>
          <a:xfrm>
            <a:off x="8091220" y="2079844"/>
            <a:ext cx="3533546" cy="2606040"/>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1000"/>
              </a:spcAft>
            </a:pPr>
            <a:r>
              <a:rPr sz="1600" b="1" i="0">
                <a:solidFill>
                  <a:srgbClr val="4F6167"/>
                </a:solidFill>
                <a:latin typeface="Segoe UI"/>
              </a:rPr>
              <a:t>Later, if the data supports it</a:t>
            </a:r>
          </a:p>
          <a:p>
            <a:pPr>
              <a:lnSpc>
                <a:spcPct val="125000"/>
              </a:lnSpc>
              <a:spcBef>
                <a:spcPts val="0"/>
              </a:spcBef>
              <a:spcAft>
                <a:spcPts val="800"/>
              </a:spcAft>
            </a:pPr>
            <a:r>
              <a:rPr sz="1400" b="0" i="0">
                <a:solidFill>
                  <a:srgbClr val="28383E"/>
                </a:solidFill>
                <a:latin typeface="Segoe UI"/>
              </a:rPr>
              <a:t/>
            </a:r>
            <a:r>
              <a:rPr sz="1350" b="1" i="0">
                <a:solidFill>
                  <a:srgbClr val="4F6167"/>
                </a:solidFill>
                <a:latin typeface="Segoe UI"/>
              </a:rPr>
              <a:t>·  </a:t>
            </a:r>
            <a:r>
              <a:rPr sz="1350" b="0" i="0">
                <a:solidFill>
                  <a:srgbClr val="28383E"/>
                </a:solidFill>
                <a:latin typeface="Segoe UI"/>
              </a:rPr>
              <a:t>Bulk disbursement and NIBSS direct settlement</a:t>
            </a:r>
          </a:p>
          <a:p>
            <a:pPr>
              <a:lnSpc>
                <a:spcPct val="125000"/>
              </a:lnSpc>
              <a:spcBef>
                <a:spcPts val="0"/>
              </a:spcBef>
              <a:spcAft>
                <a:spcPts val="800"/>
              </a:spcAft>
            </a:pPr>
            <a:r>
              <a:rPr sz="1400" b="0" i="0">
                <a:solidFill>
                  <a:srgbClr val="28383E"/>
                </a:solidFill>
                <a:latin typeface="Segoe UI"/>
              </a:rPr>
              <a:t/>
            </a:r>
            <a:r>
              <a:rPr sz="1350" b="1" i="0">
                <a:solidFill>
                  <a:srgbClr val="4F6167"/>
                </a:solidFill>
                <a:latin typeface="Segoe UI"/>
              </a:rPr>
              <a:t>·  </a:t>
            </a:r>
            <a:r>
              <a:rPr sz="1350" b="0" i="0">
                <a:solidFill>
                  <a:srgbClr val="28383E"/>
                </a:solidFill>
                <a:latin typeface="Segoe UI"/>
              </a:rPr>
              <a:t>Savings and investment products, which need a licence we do not hold</a:t>
            </a:r>
          </a:p>
          <a:p>
            <a:pPr>
              <a:lnSpc>
                <a:spcPct val="125000"/>
              </a:lnSpc>
              <a:spcBef>
                <a:spcPts val="0"/>
              </a:spcBef>
              <a:spcAft>
                <a:spcPts val="800"/>
              </a:spcAft>
            </a:pPr>
            <a:r>
              <a:rPr sz="1400" b="0" i="0">
                <a:solidFill>
                  <a:srgbClr val="28383E"/>
                </a:solidFill>
                <a:latin typeface="Segoe UI"/>
              </a:rPr>
              <a:t/>
            </a:r>
            <a:r>
              <a:rPr sz="1350" b="1" i="0">
                <a:solidFill>
                  <a:srgbClr val="4F6167"/>
                </a:solidFill>
                <a:latin typeface="Segoe UI"/>
              </a:rPr>
              <a:t>·  </a:t>
            </a:r>
            <a:r>
              <a:rPr sz="1350" b="0" i="0">
                <a:solidFill>
                  <a:srgbClr val="28383E"/>
                </a:solidFill>
                <a:latin typeface="Segoe UI"/>
              </a:rPr>
              <a:t>AI underwriting, which needs a far larger dataset than we will have this year</a:t>
            </a:r>
          </a:p>
        </p:txBody>
      </p:sp>
      <p:sp>
        <p:nvSpPr>
          <p:cNvPr id="9" name="Rectangle 8"/>
          <p:cNvSpPr/>
          <p:nvPr/>
        </p:nvSpPr>
        <p:spPr>
          <a:xfrm>
            <a:off x="566928" y="4914484"/>
            <a:ext cx="11057839" cy="777240"/>
          </a:xfrm>
          <a:prstGeom prst="rect">
            <a:avLst/>
          </a:prstGeom>
          <a:solidFill>
            <a:srgbClr val="ED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4000"/>
              </a:lnSpc>
              <a:spcBef>
                <a:spcPts val="0"/>
              </a:spcBef>
              <a:spcAft>
                <a:spcPts val="500"/>
              </a:spcAft>
            </a:pPr>
            <a:r>
              <a:rPr sz="1400" b="0" i="0">
                <a:solidFill>
                  <a:srgbClr val="28383E"/>
                </a:solidFill>
                <a:latin typeface="Segoe UI"/>
              </a:rPr>
              <a:t/>
            </a:r>
            <a:r>
              <a:rPr sz="1400" b="1" i="0">
                <a:solidFill>
                  <a:srgbClr val="102730"/>
                </a:solidFill>
                <a:latin typeface="Segoe UI"/>
              </a:rPr>
              <a:t>Phase 2 is reviewed at the week-4 gate. </a:t>
            </a:r>
            <a:r>
              <a:rPr sz="1400" b="0" i="0">
                <a:solidFill>
                  <a:srgbClr val="28383E"/>
                </a:solidFill>
                <a:latin typeface="Segoe UI"/>
              </a:rPr>
              <a:t>Its order is set against what the first live schools are reaching for, which we will know by then and do not know now.</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515807" y="292608"/>
            <a:ext cx="3108960" cy="457200"/>
          </a:xfrm>
          <a:prstGeom prst="rect">
            <a:avLst/>
          </a:prstGeom>
          <a:noFill/>
        </p:spPr>
        <p:txBody>
          <a:bodyPr wrap="square" lIns="0" rIns="0" tIns="0" bIns="0">
            <a:spAutoFit/>
          </a:bodyPr>
          <a:lstStyle/>
          <a:p>
            <a:pPr algn="r">
              <a:lnSpc>
                <a:spcPct val="122000"/>
              </a:lnSpc>
              <a:spcBef>
                <a:spcPts val="0"/>
              </a:spcBef>
              <a:spcAft>
                <a:spcPts val="0"/>
              </a:spcAft>
            </a:pPr>
            <a:r>
              <a:rPr sz="1800" b="1" i="0">
                <a:solidFill>
                  <a:srgbClr val="102730"/>
                </a:solidFill>
                <a:latin typeface="Segoe UI"/>
              </a:rPr>
              <a:t>CASPAA</a:t>
            </a:r>
          </a:p>
        </p:txBody>
      </p:sp>
      <p:sp>
        <p:nvSpPr>
          <p:cNvPr id="3" name="TextBox 2"/>
          <p:cNvSpPr txBox="1"/>
          <p:nvPr/>
        </p:nvSpPr>
        <p:spPr>
          <a:xfrm>
            <a:off x="8515807" y="621792"/>
            <a:ext cx="3108960" cy="274320"/>
          </a:xfrm>
          <a:prstGeom prst="rect">
            <a:avLst/>
          </a:prstGeom>
          <a:noFill/>
        </p:spPr>
        <p:txBody>
          <a:bodyPr wrap="square" lIns="0" rIns="0" tIns="0" bIns="0">
            <a:spAutoFit/>
          </a:bodyPr>
          <a:lstStyle/>
          <a:p>
            <a:pPr algn="r">
              <a:lnSpc>
                <a:spcPct val="122000"/>
              </a:lnSpc>
              <a:spcBef>
                <a:spcPts val="0"/>
              </a:spcBef>
              <a:spcAft>
                <a:spcPts val="500"/>
              </a:spcAft>
            </a:pPr>
            <a:r>
              <a:rPr sz="1100" b="1" i="0">
                <a:solidFill>
                  <a:srgbClr val="0A6B50"/>
                </a:solidFill>
                <a:latin typeface="Segoe UI"/>
              </a:rPr>
              <a:t>SCHOOL OPERATING SYSTEM</a:t>
            </a:r>
          </a:p>
        </p:txBody>
      </p:sp>
      <p:sp>
        <p:nvSpPr>
          <p:cNvPr id="4" name="TextBox 3"/>
          <p:cNvSpPr txBox="1"/>
          <p:nvPr/>
        </p:nvSpPr>
        <p:spPr>
          <a:xfrm>
            <a:off x="566928" y="457200"/>
            <a:ext cx="8503920" cy="731520"/>
          </a:xfrm>
          <a:prstGeom prst="rect">
            <a:avLst/>
          </a:prstGeom>
          <a:noFill/>
        </p:spPr>
        <p:txBody>
          <a:bodyPr wrap="square" lIns="0" rIns="0" tIns="0" bIns="0">
            <a:spAutoFit/>
          </a:bodyPr>
          <a:lstStyle/>
          <a:p>
            <a:pPr>
              <a:lnSpc>
                <a:spcPct val="122000"/>
              </a:lnSpc>
              <a:spcBef>
                <a:spcPts val="0"/>
              </a:spcBef>
              <a:spcAft>
                <a:spcPts val="0"/>
              </a:spcAft>
            </a:pPr>
            <a:r>
              <a:rPr sz="3600" b="0" i="0">
                <a:solidFill>
                  <a:srgbClr val="102730"/>
                </a:solidFill>
                <a:latin typeface="Segoe UI"/>
              </a:rPr>
              <a:t>What has to hold, and what would move the date</a:t>
            </a:r>
          </a:p>
        </p:txBody>
      </p:sp>
      <p:sp>
        <p:nvSpPr>
          <p:cNvPr id="5" name="TextBox 4"/>
          <p:cNvSpPr txBox="1"/>
          <p:nvPr/>
        </p:nvSpPr>
        <p:spPr>
          <a:xfrm>
            <a:off x="566928" y="1476340"/>
            <a:ext cx="5346039" cy="292608"/>
          </a:xfrm>
          <a:prstGeom prst="rect">
            <a:avLst/>
          </a:prstGeom>
          <a:noFill/>
        </p:spPr>
        <p:txBody>
          <a:bodyPr wrap="square" lIns="0" rIns="0" tIns="0" bIns="0">
            <a:spAutoFit/>
          </a:bodyPr>
          <a:lstStyle/>
          <a:p>
            <a:pPr>
              <a:lnSpc>
                <a:spcPct val="122000"/>
              </a:lnSpc>
              <a:spcBef>
                <a:spcPts val="0"/>
              </a:spcBef>
              <a:spcAft>
                <a:spcPts val="500"/>
              </a:spcAft>
            </a:pPr>
            <a:r>
              <a:rPr sz="1150" b="1" i="0">
                <a:solidFill>
                  <a:srgbClr val="0A6B50"/>
                </a:solidFill>
                <a:latin typeface="Segoe UI"/>
              </a:rPr>
              <a:t>ASSUMPTIONS</a:t>
            </a:r>
          </a:p>
        </p:txBody>
      </p:sp>
      <p:sp>
        <p:nvSpPr>
          <p:cNvPr id="6" name="TextBox 5"/>
          <p:cNvSpPr txBox="1"/>
          <p:nvPr/>
        </p:nvSpPr>
        <p:spPr>
          <a:xfrm>
            <a:off x="6278727" y="1476340"/>
            <a:ext cx="5346039" cy="292608"/>
          </a:xfrm>
          <a:prstGeom prst="rect">
            <a:avLst/>
          </a:prstGeom>
          <a:noFill/>
        </p:spPr>
        <p:txBody>
          <a:bodyPr wrap="square" lIns="0" rIns="0" tIns="0" bIns="0">
            <a:spAutoFit/>
          </a:bodyPr>
          <a:lstStyle/>
          <a:p>
            <a:pPr>
              <a:lnSpc>
                <a:spcPct val="122000"/>
              </a:lnSpc>
              <a:spcBef>
                <a:spcPts val="0"/>
              </a:spcBef>
              <a:spcAft>
                <a:spcPts val="500"/>
              </a:spcAft>
            </a:pPr>
            <a:r>
              <a:rPr sz="1150" b="1" i="0">
                <a:solidFill>
                  <a:srgbClr val="8E4E5C"/>
                </a:solidFill>
                <a:latin typeface="Segoe UI"/>
              </a:rPr>
              <a:t>RISKS</a:t>
            </a:r>
          </a:p>
        </p:txBody>
      </p:sp>
      <p:sp>
        <p:nvSpPr>
          <p:cNvPr id="7" name="Rectangle 6"/>
          <p:cNvSpPr/>
          <p:nvPr/>
        </p:nvSpPr>
        <p:spPr>
          <a:xfrm>
            <a:off x="566928" y="1842100"/>
            <a:ext cx="5346039" cy="1207008"/>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600"/>
              </a:spcAft>
            </a:pPr>
            <a:r>
              <a:rPr sz="1500" b="1" i="0">
                <a:solidFill>
                  <a:srgbClr val="0A6B50"/>
                </a:solidFill>
                <a:latin typeface="Segoe UI"/>
              </a:rPr>
              <a:t>Three squads from week 3</a:t>
            </a:r>
          </a:p>
          <a:p>
            <a:pPr>
              <a:lnSpc>
                <a:spcPct val="125000"/>
              </a:lnSpc>
              <a:spcBef>
                <a:spcPts val="0"/>
              </a:spcBef>
              <a:spcAft>
                <a:spcPts val="500"/>
              </a:spcAft>
            </a:pPr>
            <a:r>
              <a:rPr sz="1300" b="0" i="0">
                <a:solidFill>
                  <a:srgbClr val="28383E"/>
                </a:solidFill>
                <a:latin typeface="Segoe UI"/>
              </a:rPr>
              <a:t>The school day, fees and parent-facing work have no hard dependency on each other once the spine is done.</a:t>
            </a:r>
          </a:p>
        </p:txBody>
      </p:sp>
      <p:sp>
        <p:nvSpPr>
          <p:cNvPr id="8" name="Rectangle 7"/>
          <p:cNvSpPr/>
          <p:nvPr/>
        </p:nvSpPr>
        <p:spPr>
          <a:xfrm>
            <a:off x="566928" y="3177124"/>
            <a:ext cx="5346039" cy="1207008"/>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600"/>
              </a:spcAft>
            </a:pPr>
            <a:r>
              <a:rPr sz="1500" b="1" i="0">
                <a:solidFill>
                  <a:srgbClr val="0A6B50"/>
                </a:solidFill>
                <a:latin typeface="Segoe UI"/>
              </a:rPr>
              <a:t>One app shell across the three roles</a:t>
            </a:r>
          </a:p>
          <a:p>
            <a:pPr>
              <a:lnSpc>
                <a:spcPct val="125000"/>
              </a:lnSpc>
              <a:spcBef>
                <a:spcPts val="0"/>
              </a:spcBef>
              <a:spcAft>
                <a:spcPts val="500"/>
              </a:spcAft>
            </a:pPr>
            <a:r>
              <a:rPr sz="1300" b="0" i="0">
                <a:solidFill>
                  <a:srgbClr val="28383E"/>
                </a:solidFill>
                <a:latin typeface="Segoe UI"/>
              </a:rPr>
              <a:t>Parent, teacher and student share a shell and differ by role, which is what keeps the app work inside four weeks.</a:t>
            </a:r>
          </a:p>
        </p:txBody>
      </p:sp>
      <p:sp>
        <p:nvSpPr>
          <p:cNvPr id="9" name="Rectangle 8"/>
          <p:cNvSpPr/>
          <p:nvPr/>
        </p:nvSpPr>
        <p:spPr>
          <a:xfrm>
            <a:off x="566928" y="4512148"/>
            <a:ext cx="5346039" cy="1207008"/>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600"/>
              </a:spcAft>
            </a:pPr>
            <a:r>
              <a:rPr sz="1500" b="1" i="0">
                <a:solidFill>
                  <a:srgbClr val="0A6B50"/>
                </a:solidFill>
                <a:latin typeface="Segoe UI"/>
              </a:rPr>
              <a:t>The prototype is the reference, not the foundation</a:t>
            </a:r>
          </a:p>
          <a:p>
            <a:pPr>
              <a:lnSpc>
                <a:spcPct val="125000"/>
              </a:lnSpc>
              <a:spcBef>
                <a:spcPts val="0"/>
              </a:spcBef>
              <a:spcAft>
                <a:spcPts val="500"/>
              </a:spcAft>
            </a:pPr>
            <a:r>
              <a:rPr sz="1300" b="0" i="0">
                <a:solidFill>
                  <a:srgbClr val="28383E"/>
                </a:solidFill>
                <a:latin typeface="Segoe UI"/>
              </a:rPr>
              <a:t>PRD v4 and the working prototype specify the behaviour. These eight weeks build the product new against them, starting from schema and API in week 1.</a:t>
            </a:r>
          </a:p>
        </p:txBody>
      </p:sp>
      <p:sp>
        <p:nvSpPr>
          <p:cNvPr id="10" name="Rectangle 9"/>
          <p:cNvSpPr/>
          <p:nvPr/>
        </p:nvSpPr>
        <p:spPr>
          <a:xfrm>
            <a:off x="6278727" y="1842100"/>
            <a:ext cx="5346039" cy="1207008"/>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600"/>
              </a:spcAft>
            </a:pPr>
            <a:r>
              <a:rPr sz="1500" b="1" i="0">
                <a:solidFill>
                  <a:srgbClr val="8E4E5C"/>
                </a:solidFill>
                <a:latin typeface="Segoe UI"/>
              </a:rPr>
              <a:t>Week 2 slips</a:t>
            </a:r>
          </a:p>
          <a:p>
            <a:pPr>
              <a:lnSpc>
                <a:spcPct val="125000"/>
              </a:lnSpc>
              <a:spcBef>
                <a:spcPts val="0"/>
              </a:spcBef>
              <a:spcAft>
                <a:spcPts val="500"/>
              </a:spcAft>
            </a:pPr>
            <a:r>
              <a:rPr sz="1300" b="0" i="0">
                <a:solidFill>
                  <a:srgbClr val="28383E"/>
                </a:solidFill>
                <a:latin typeface="Segoe UI"/>
              </a:rPr>
              <a:t>The spine is unfinished, nothing else starts cleanly and the apps lose their API. Weeks 1 and 2 carry no other scope so the team can absorb an overrun.</a:t>
            </a:r>
          </a:p>
        </p:txBody>
      </p:sp>
      <p:sp>
        <p:nvSpPr>
          <p:cNvPr id="11" name="Rectangle 10"/>
          <p:cNvSpPr/>
          <p:nvPr/>
        </p:nvSpPr>
        <p:spPr>
          <a:xfrm>
            <a:off x="6278727" y="3177124"/>
            <a:ext cx="5346039" cy="1207008"/>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600"/>
              </a:spcAft>
            </a:pPr>
            <a:r>
              <a:rPr sz="1500" b="1" i="0">
                <a:solidFill>
                  <a:srgbClr val="8E4E5C"/>
                </a:solidFill>
                <a:latin typeface="Segoe UI"/>
              </a:rPr>
              <a:t>Store review eats week 8</a:t>
            </a:r>
          </a:p>
          <a:p>
            <a:pPr>
              <a:lnSpc>
                <a:spcPct val="125000"/>
              </a:lnSpc>
              <a:spcBef>
                <a:spcPts val="0"/>
              </a:spcBef>
              <a:spcAft>
                <a:spcPts val="500"/>
              </a:spcAft>
            </a:pPr>
            <a:r>
              <a:rPr sz="1300" b="0" i="0">
                <a:solidFill>
                  <a:srgbClr val="28383E"/>
                </a:solidFill>
                <a:latin typeface="Segoe UI"/>
              </a:rPr>
              <a:t>Play and App Store review is outside our control and can take days. Submission is planned for week 7, not week 8.</a:t>
            </a:r>
          </a:p>
        </p:txBody>
      </p:sp>
      <p:sp>
        <p:nvSpPr>
          <p:cNvPr id="12" name="Rectangle 11"/>
          <p:cNvSpPr/>
          <p:nvPr/>
        </p:nvSpPr>
        <p:spPr>
          <a:xfrm>
            <a:off x="6278727" y="4512148"/>
            <a:ext cx="5346039" cy="1207008"/>
          </a:xfrm>
          <a:prstGeom prst="rect">
            <a:avLst/>
          </a:prstGeom>
          <a:solidFill>
            <a:srgbClr val="FFFFFF"/>
          </a:solidFill>
          <a:ln w="9525">
            <a:solidFill>
              <a:srgbClr val="C7D2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2000"/>
              </a:lnSpc>
              <a:spcBef>
                <a:spcPts val="0"/>
              </a:spcBef>
              <a:spcAft>
                <a:spcPts val="600"/>
              </a:spcAft>
            </a:pPr>
            <a:r>
              <a:rPr sz="1500" b="1" i="0">
                <a:solidFill>
                  <a:srgbClr val="8E4E5C"/>
                </a:solidFill>
                <a:latin typeface="Segoe UI"/>
              </a:rPr>
              <a:t>Done gets traded for speed</a:t>
            </a:r>
          </a:p>
          <a:p>
            <a:pPr>
              <a:lnSpc>
                <a:spcPct val="125000"/>
              </a:lnSpc>
              <a:spcBef>
                <a:spcPts val="0"/>
              </a:spcBef>
              <a:spcAft>
                <a:spcPts val="500"/>
              </a:spcAft>
            </a:pPr>
            <a:r>
              <a:rPr sz="1300" b="0" i="0">
                <a:solidFill>
                  <a:srgbClr val="28383E"/>
                </a:solidFill>
                <a:latin typeface="Segoe UI"/>
              </a:rPr>
              <a:t>Half-finished work in a live school costs more than a missing feature, so done is enforced at the merge.</a:t>
            </a:r>
          </a:p>
        </p:txBody>
      </p:sp>
      <p:sp>
        <p:nvSpPr>
          <p:cNvPr id="13" name="Rectangle 12"/>
          <p:cNvSpPr/>
          <p:nvPr/>
        </p:nvSpPr>
        <p:spPr>
          <a:xfrm>
            <a:off x="566928" y="5774020"/>
            <a:ext cx="11057839" cy="731520"/>
          </a:xfrm>
          <a:prstGeom prst="rect">
            <a:avLst/>
          </a:prstGeom>
          <a:solidFill>
            <a:srgbClr val="EDF3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ctr">
              <a:lnSpc>
                <a:spcPct val="124000"/>
              </a:lnSpc>
              <a:spcBef>
                <a:spcPts val="0"/>
              </a:spcBef>
              <a:spcAft>
                <a:spcPts val="500"/>
              </a:spcAft>
            </a:pPr>
            <a:r>
              <a:rPr sz="1400" b="0" i="0">
                <a:solidFill>
                  <a:srgbClr val="28383E"/>
                </a:solidFill>
                <a:latin typeface="Segoe UI"/>
              </a:rPr>
              <a:t/>
            </a:r>
            <a:r>
              <a:rPr sz="1400" b="1" i="0">
                <a:solidFill>
                  <a:srgbClr val="102730"/>
                </a:solidFill>
                <a:latin typeface="Segoe UI"/>
              </a:rPr>
              <a:t>Decision needed before week 5: </a:t>
            </a:r>
            <a:r>
              <a:rPr sz="1400" b="0" i="0">
                <a:solidFill>
                  <a:srgbClr val="28383E"/>
                </a:solidFill>
                <a:latin typeface="Segoe UI"/>
              </a:rPr>
              <a:t>package the existing offline web app for the stores, or build the apps native. Packaging is what fits the four weeks in this plan. Native is a larger piece of work and needs its own schedule.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